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7bad96a5-13bb-aa45-9434-db7c0a77fb97}">
          <p14:sldIdLst>
            <p14:sldId id="256"/>
            <p14:sldId id="257"/>
          </p14:sldIdLst>
        </p14:section>
        <p14:section name="5.1 Utilidad" id="{e5b35fbc-2789-0220-99cd-caf2d5bbbdb9}">
          <p14:sldIdLst>
            <p14:sldId id="258"/>
            <p14:sldId id="259"/>
          </p14:sldIdLst>
        </p14:section>
        <p14:section name="5.2 Cualidades" id="{8b8a852f-c222-59bd-f545-1669f224e57a}">
          <p14:sldIdLst>
            <p14:sldId id="260"/>
            <p14:sldId id="261"/>
          </p14:sldIdLst>
        </p14:section>
        <p14:section name="5.3 Estilos" id="{abdd05ba-f646-66be-1eeb-8d59b4295749}">
          <p14:sldIdLst>
            <p14:sldId id="262"/>
            <p14:sldId id="263"/>
          </p14:sldIdLst>
        </p14:section>
        <p14:section name="5.4 Verificación" id="{f50b67a2-0eab-6e57-3890-563fad168c27}">
          <p14:sldIdLst>
            <p14:sldId id="264"/>
          </p14:sldIdLst>
        </p14:section>
        <p14:section name="5.5 Operacionales" id="{e027312e-2364-bf89-490a-03cf82347483}">
          <p14:sldIdLst>
            <p14:sldId id="265"/>
            <p14:sldId id="266"/>
            <p14:sldId id="267"/>
            <p14:sldId id="268"/>
            <p14:sldId id="269"/>
            <p14:sldId id="270"/>
            <p14:sldId id="271"/>
          </p14:sldIdLst>
        </p14:section>
        <p14:section name="5.6 Descriptivas" id="{c48fddc5-b1e6-1ed8-f669-a65e6ed06a04}">
          <p14:sldIdLst>
            <p14:sldId id="272"/>
            <p14:sldId id="273"/>
            <p14:sldId id="274"/>
            <p14:sldId id="275"/>
            <p14:sldId id="276"/>
          </p14:sldIdLst>
        </p14:section>
        <p14:section name="5.7 Práctica" id="{ddc12848-9d3e-8606-3f18-733976796cfd}">
          <p14:sldIdLst>
            <p14:sldId id="277"/>
            <p14:sldId id="278"/>
            <p14:sldId id="279"/>
          </p14:sldIdLst>
        </p14:section>
        <p14:section name="5.8 Basada en modelos" id="{1475a56f-49b9-e47b-218f-f147233d37da}">
          <p14:sldIdLst>
            <p14:sldId id="280"/>
            <p14:sldId id="281"/>
            <p14:sldId id="282"/>
          </p14:sldIdLst>
        </p14:section>
        <p14:section name="5.9 Otros modelos" id="{a8eb8af5-73e2-34c3-50c5-4d093e88afea}">
          <p14:sldIdLst>
            <p14:sldId id="283"/>
          </p14:sldIdLst>
        </p14:section>
        <p14:section name="Cierre" id="{f5d2f9c9-a2b8-ede9-9548-a4485794f67a}">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unidad. Ubicar a la especificación como el puente entre los requisitos (qué) y el diseño (cómo), retomando el principio de rigor y formalidad de la Unidad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Nueve bloques. Los bloques 5.5 y 5.6 (operacionales y descriptivas) concentran las notaciones concretas y llevan más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Remarcar que no hay una única especificación: hay especificaciones en distintos niveles (requisitos, arquitectura, módulo). Cada nivel es la implementación del anterior y la especificación del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Ghezzi enumera estos usos. El último cuadro conecta con el costo creciente de corregir errores en fases tardías (Unidad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Completitud interna vs externa: la interna se puede verificar mirando solo la especificación; la externa requiere compararla con lo que el usuario necesita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los alumnos que voten qué lectura les parece correcta antes de mostrar las fórmulas. Normalmente aparecen las dos. La precedencia entre 'y' y 'o' en lenguaje natural no está definida.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frontera entre operacional y descriptiva no siempre es nítida, pero la distinción ayuda a elegir la notación según el aspecto que interesa describir.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clásico de Ghezzi (la circunferencia). Preguntar: ¿cuál de las dos versiones del ordenamiento sesga más la implementación? La operacional describe un algoritmo concreto (burbuja).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especificación también es un artefacto que puede tener defectos, y conviene detectarlos antes de diseñar. Los dos enfoques son complementarios.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Notación de Ghezzi/DeMarco: burbujas para procesos, flechas para flujos, dos líneas paralelas para almacenes y rectángulos para las entidades externas (entrada/salida). Ejemplo: inscripción a materias.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Ghezzi muestra que un mismo DFD admite varias interpretaciones de control. Por eso se lo considera semiformal, y se lo complementa con MEF o redes de Petri cuando importa el comportamiento.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torniquete es el ejemplo mínimo: dos estados, dos entradas. La tabla de transición y el diagrama son dos vistas de la misma función δ. Preguntar: ¿qué pasa si alguien inserta dos monedas? (la máquina no lo distingue: se pierde la segunda).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explosión de estados es la principal motivación para Statecharts y redes de Petri. Ghezzi lo ilustra componiendo varias MEF de una planta química.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redes de Petri (Carl Adam Petri, 1962) resuelven la falta de concurrencia de las MEF. Destacar que el estado ya no es un único nodo, sino la distribución de tokens (marcado).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la red en el pizarrón moviendo los tokens. Preguntar qué pasa si se quita el token de mutex (bloqueo) o si siempre gana entrar₁ (inanición del proceso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tarjetas en burdeos son lo que las redes de Petri agregan más allá de la notación: la posibilidad de analizar propiedades y las extensiones que Ghezzi presenta para el tiempo y las prioridades.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Notación de Chen. Los alumnos ya conocen E-R de Bases de Datos; aquí interesa verlo como estilo de especificación descriptivo y semiformal, y marcar su límite expresivo.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Notación de tripla de Hoare {Pre} P {Post}. Conectar con Unidad 3: rigor y formalidad. Preguntar qué pasa si n = 0 (no está cubierto por la precondición: quien invoca no debe hacerlo).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clásico de especificación incompleta. Pedir a los alumnos que encuentren el error del primer intento antes de mostrar el problema. permutación(a,b) puede definirse a su vez con cuantificadores sobre la cantidad de apariciones de cada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tope(nueva) y desapilar(nueva) quedan sin definir: son situaciones de error. Distinguir constructores (nueva, apilar) de las demás operaciones: basta con dar un axioma por cada combinación operación–constructor.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en clase: calcular esVacía(desapilar(apilar(nueva, 5))). Respuesta: esVacía(nueva) = verdadero. El ejemplo en C# con xUnit muestra el puente directo entre axioma y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sección 3 concentra las notaciones vistas en la unidad. Ghezzi insiste en que, en la práctica, las especificaciones son mixtas: el problema es elegir dónde vale la pena la formalidad.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resumen para que los alumnos la usen en el ejercitario. No es una regla rígida: es la notación más natural para cada aspecto.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especificación no desaparece en los métodos ágiles: se vuelve incremental y verificable. Mostrar la correspondencia entre Gherkin y las triplas de Hoare vistas en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 fue desarrollado en Oxford (Abrial, Spivey); VDM en IBM Viena. El método B se usó, por ejemplo, en el sistema de control de la línea 14 del metro de París.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el invariante #inscriptos ≤ cupo se preserva: si antes #inscriptos &lt; cupo y se agrega un alumno nuevo, después #inscriptos′ ≤ cupo′. Esto es una prueba sobre la especificación, sin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OCL (Object Constraint Language) es parte del estándar UML del OMG. Es la forma más accesible de especificación basada en modelos en proyectos orientados a objetos.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no profundizar. □ se lee «siempre» y ◇ «alguna vez». La lógica temporal es descriptiva; las álgebras de procesos y Statecharts son operacionales.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el recorrido completo. El punto 5 conecta con el principio de rigor y formalidad de la Unidad 3: formal no siempre, pero riguroso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conceptual, en la misma línea que las unidades anteriores: conectar la bibliografía clásica con prácticas actuales.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primeras son la bibliografía principal del programa de la materia.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Ingeniería de Software 1 · UC  —  Unidad 5: Especificación del software</a:t>
            </a:r>
            <a:endParaRPr lang="en-US" sz="1000" dirty="0"/>
          </a:p>
        </p:txBody>
      </p:sp>
      <p:sp>
        <p:nvSpPr>
          <p:cNvPr id="3" name="Text 1"/>
          <p:cNvSpPr/>
          <p:nvPr>
            <p:ph idx="101" type="body" hasCustomPrompt="1"/>
          </p:nvPr>
        </p:nvSpPr>
        <p:spPr>
          <a:xfrm>
            <a:off x="548640" y="347472"/>
            <a:ext cx="11064240" cy="329184"/>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4" name="Text 1"/>
          <p:cNvSpPr/>
          <p:nvPr>
            <p:ph idx="102" type="title" hasCustomPrompt="1"/>
          </p:nvPr>
        </p:nvSpPr>
        <p:spPr>
          <a:xfrm>
            <a:off x="548640" y="694944"/>
            <a:ext cx="11064240" cy="73152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3.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0" y="1280160"/>
            <a:ext cx="3291840" cy="4389120"/>
          </a:xfrm>
          <a:prstGeom prst="rect">
            <a:avLst/>
          </a:prstGeom>
        </p:spPr>
      </p:pic>
      <p:sp>
        <p:nvSpPr>
          <p:cNvPr id="3" name="Text 0"/>
          <p:cNvSpPr txBox="1"/>
          <p:nvPr/>
        </p:nvSpPr>
        <p:spPr>
          <a:xfrm>
            <a:off x="822960" y="1645920"/>
            <a:ext cx="7315200" cy="457200"/>
          </a:xfrm>
          <a:prstGeom prst="rect">
            <a:avLst/>
          </a:prstGeom>
          <a:noFill/>
          <a:ln/>
        </p:spPr>
        <p:txBody>
          <a:bodyPr wrap="square" lIns="0" tIns="0" rIns="0" bIns="0" rtlCol="0" anchor="t"/>
          <a:lstStyle/>
          <a:p>
            <a:pPr indent="0" marL="0">
              <a:buNone/>
            </a:pPr>
            <a:r>
              <a:rPr lang="en-US" sz="2000" b="1" spc="400" kern="0" dirty="0">
                <a:solidFill>
                  <a:srgbClr val="E8B4B0"/>
                </a:solidFill>
              </a:rPr>
              <a:t>UNIDAD 5</a:t>
            </a:r>
            <a:endParaRPr lang="en-US" sz="2000" dirty="0"/>
          </a:p>
        </p:txBody>
      </p:sp>
      <p:sp>
        <p:nvSpPr>
          <p:cNvPr id="4" name="Text 1"/>
          <p:cNvSpPr txBox="1"/>
          <p:nvPr/>
        </p:nvSpPr>
        <p:spPr>
          <a:xfrm>
            <a:off x="822960" y="2194560"/>
            <a:ext cx="7498080" cy="173736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Especificación del software</a:t>
            </a:r>
            <a:endParaRPr lang="en-US" sz="4800" dirty="0"/>
          </a:p>
        </p:txBody>
      </p:sp>
      <p:sp>
        <p:nvSpPr>
          <p:cNvPr id="5" name="Text 2"/>
          <p:cNvSpPr txBox="1"/>
          <p:nvPr/>
        </p:nvSpPr>
        <p:spPr>
          <a:xfrm>
            <a:off x="822960" y="4114800"/>
            <a:ext cx="7315200" cy="457200"/>
          </a:xfrm>
          <a:prstGeom prst="rect">
            <a:avLst/>
          </a:prstGeom>
          <a:noFill/>
          <a:ln/>
        </p:spPr>
        <p:txBody>
          <a:bodyPr wrap="square" lIns="0" tIns="0" rIns="0" bIns="0" rtlCol="0" anchor="t"/>
          <a:lstStyle/>
          <a:p>
            <a:pPr indent="0" marL="0">
              <a:buNone/>
            </a:pPr>
            <a:r>
              <a:rPr lang="en-US" sz="2200" dirty="0">
                <a:solidFill>
                  <a:schemeClr val="accent3"/>
                </a:solidFill>
              </a:rPr>
              <a:t>Ingeniería de Software 1 · UC</a:t>
            </a:r>
            <a:endParaRPr lang="en-US" sz="2200" dirty="0"/>
          </a:p>
        </p:txBody>
      </p:sp>
      <p:sp>
        <p:nvSpPr>
          <p:cNvPr id="6" name="Text 3"/>
          <p:cNvSpPr txBox="1"/>
          <p:nvPr/>
        </p:nvSpPr>
        <p:spPr>
          <a:xfrm>
            <a:off x="822960" y="5852160"/>
            <a:ext cx="10058400" cy="365760"/>
          </a:xfrm>
          <a:prstGeom prst="rect">
            <a:avLst/>
          </a:prstGeom>
          <a:noFill/>
          <a:ln/>
        </p:spPr>
        <p:txBody>
          <a:bodyPr wrap="square" lIns="0" tIns="0" rIns="0" bIns="0" rtlCol="0" anchor="t"/>
          <a:lstStyle/>
          <a:p>
            <a:pPr indent="0" marL="0">
              <a:buNone/>
            </a:pPr>
            <a:r>
              <a:rPr lang="en-US" sz="1300" i="1" dirty="0">
                <a:solidFill>
                  <a:schemeClr val="accent3"/>
                </a:solidFill>
              </a:rPr>
              <a:t>Bibliografía base: Ghezzi, Jazayeri y Mandrioli, Fundamentals of Software Engineering (2003), cap. 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CONTENIDO DE LA UNIDAD</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Hoja de ruta</a:t>
            </a:r>
            <a:endParaRPr lang="en-US" sz="3400" dirty="0"/>
          </a:p>
        </p:txBody>
      </p:sp>
      <p:sp>
        <p:nvSpPr>
          <p:cNvPr id="4" name="Shape 2"/>
          <p:cNvSpPr/>
          <p:nvPr/>
        </p:nvSpPr>
        <p:spPr>
          <a:xfrm>
            <a:off x="548640" y="1737360"/>
            <a:ext cx="3520440" cy="1234440"/>
          </a:xfrm>
          <a:prstGeom prst="roundRect">
            <a:avLst>
              <a:gd name="adj" fmla="val 5926"/>
            </a:avLst>
          </a:prstGeom>
          <a:solidFill>
            <a:schemeClr val="bg2"/>
          </a:solidFill>
          <a:ln w="12700">
            <a:solidFill>
              <a:schemeClr val="accent3"/>
            </a:solidFill>
            <a:prstDash val="solid"/>
          </a:ln>
        </p:spPr>
      </p:sp>
      <p:sp>
        <p:nvSpPr>
          <p:cNvPr id="5" name="Text 3"/>
          <p:cNvSpPr txBox="1"/>
          <p:nvPr/>
        </p:nvSpPr>
        <p:spPr>
          <a:xfrm>
            <a:off x="777240" y="192024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5.1</a:t>
            </a:r>
            <a:endParaRPr lang="en-US" sz="3000" dirty="0"/>
          </a:p>
        </p:txBody>
      </p:sp>
      <p:sp>
        <p:nvSpPr>
          <p:cNvPr id="6" name="Text 4"/>
          <p:cNvSpPr txBox="1"/>
          <p:nvPr/>
        </p:nvSpPr>
        <p:spPr>
          <a:xfrm>
            <a:off x="1691640" y="187452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Utilidad de las especificaciones</a:t>
            </a:r>
            <a:endParaRPr lang="en-US" sz="1700" dirty="0"/>
          </a:p>
        </p:txBody>
      </p:sp>
      <p:sp>
        <p:nvSpPr>
          <p:cNvPr id="7" name="Shape 5"/>
          <p:cNvSpPr/>
          <p:nvPr/>
        </p:nvSpPr>
        <p:spPr>
          <a:xfrm>
            <a:off x="4297680" y="1737360"/>
            <a:ext cx="3520440" cy="1234440"/>
          </a:xfrm>
          <a:prstGeom prst="roundRect">
            <a:avLst>
              <a:gd name="adj" fmla="val 5926"/>
            </a:avLst>
          </a:prstGeom>
          <a:solidFill>
            <a:schemeClr val="bg2"/>
          </a:solidFill>
          <a:ln w="12700">
            <a:solidFill>
              <a:schemeClr val="accent3"/>
            </a:solidFill>
            <a:prstDash val="solid"/>
          </a:ln>
        </p:spPr>
      </p:sp>
      <p:sp>
        <p:nvSpPr>
          <p:cNvPr id="8" name="Text 6"/>
          <p:cNvSpPr txBox="1"/>
          <p:nvPr/>
        </p:nvSpPr>
        <p:spPr>
          <a:xfrm>
            <a:off x="4526280" y="192024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5.2</a:t>
            </a:r>
            <a:endParaRPr lang="en-US" sz="3000" dirty="0"/>
          </a:p>
        </p:txBody>
      </p:sp>
      <p:sp>
        <p:nvSpPr>
          <p:cNvPr id="9" name="Text 7"/>
          <p:cNvSpPr txBox="1"/>
          <p:nvPr/>
        </p:nvSpPr>
        <p:spPr>
          <a:xfrm>
            <a:off x="5440680" y="187452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Cualidades de una especificación</a:t>
            </a:r>
            <a:endParaRPr lang="en-US" sz="1700" dirty="0"/>
          </a:p>
        </p:txBody>
      </p:sp>
      <p:sp>
        <p:nvSpPr>
          <p:cNvPr id="10" name="Shape 8"/>
          <p:cNvSpPr/>
          <p:nvPr/>
        </p:nvSpPr>
        <p:spPr>
          <a:xfrm>
            <a:off x="8046720" y="1737360"/>
            <a:ext cx="3520440" cy="1234440"/>
          </a:xfrm>
          <a:prstGeom prst="roundRect">
            <a:avLst>
              <a:gd name="adj" fmla="val 5926"/>
            </a:avLst>
          </a:prstGeom>
          <a:solidFill>
            <a:schemeClr val="bg2"/>
          </a:solidFill>
          <a:ln w="12700">
            <a:solidFill>
              <a:schemeClr val="accent3"/>
            </a:solidFill>
            <a:prstDash val="solid"/>
          </a:ln>
        </p:spPr>
      </p:sp>
      <p:sp>
        <p:nvSpPr>
          <p:cNvPr id="11" name="Text 9"/>
          <p:cNvSpPr txBox="1"/>
          <p:nvPr/>
        </p:nvSpPr>
        <p:spPr>
          <a:xfrm>
            <a:off x="8275320" y="192024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5.3</a:t>
            </a:r>
            <a:endParaRPr lang="en-US" sz="3000" dirty="0"/>
          </a:p>
        </p:txBody>
      </p:sp>
      <p:sp>
        <p:nvSpPr>
          <p:cNvPr id="12" name="Text 10"/>
          <p:cNvSpPr txBox="1"/>
          <p:nvPr/>
        </p:nvSpPr>
        <p:spPr>
          <a:xfrm>
            <a:off x="9189720" y="187452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Estilos de especificación</a:t>
            </a:r>
            <a:endParaRPr lang="en-US" sz="1700" dirty="0"/>
          </a:p>
        </p:txBody>
      </p:sp>
      <p:sp>
        <p:nvSpPr>
          <p:cNvPr id="13" name="Shape 11"/>
          <p:cNvSpPr/>
          <p:nvPr/>
        </p:nvSpPr>
        <p:spPr>
          <a:xfrm>
            <a:off x="548640" y="3200400"/>
            <a:ext cx="3520440" cy="1234440"/>
          </a:xfrm>
          <a:prstGeom prst="roundRect">
            <a:avLst>
              <a:gd name="adj" fmla="val 5926"/>
            </a:avLst>
          </a:prstGeom>
          <a:solidFill>
            <a:schemeClr val="bg2"/>
          </a:solidFill>
          <a:ln w="12700">
            <a:solidFill>
              <a:schemeClr val="accent3"/>
            </a:solidFill>
            <a:prstDash val="solid"/>
          </a:ln>
        </p:spPr>
      </p:sp>
      <p:sp>
        <p:nvSpPr>
          <p:cNvPr id="14" name="Text 12"/>
          <p:cNvSpPr txBox="1"/>
          <p:nvPr/>
        </p:nvSpPr>
        <p:spPr>
          <a:xfrm>
            <a:off x="777240" y="338328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5.4</a:t>
            </a:r>
            <a:endParaRPr lang="en-US" sz="3000" dirty="0"/>
          </a:p>
        </p:txBody>
      </p:sp>
      <p:sp>
        <p:nvSpPr>
          <p:cNvPr id="15" name="Text 13"/>
          <p:cNvSpPr txBox="1"/>
          <p:nvPr/>
        </p:nvSpPr>
        <p:spPr>
          <a:xfrm>
            <a:off x="1691640" y="333756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Verificación de las especificaciones</a:t>
            </a:r>
            <a:endParaRPr lang="en-US" sz="1700" dirty="0"/>
          </a:p>
        </p:txBody>
      </p:sp>
      <p:sp>
        <p:nvSpPr>
          <p:cNvPr id="16" name="Shape 14"/>
          <p:cNvSpPr/>
          <p:nvPr/>
        </p:nvSpPr>
        <p:spPr>
          <a:xfrm>
            <a:off x="4297680" y="3200400"/>
            <a:ext cx="3520440" cy="1234440"/>
          </a:xfrm>
          <a:prstGeom prst="roundRect">
            <a:avLst>
              <a:gd name="adj" fmla="val 5926"/>
            </a:avLst>
          </a:prstGeom>
          <a:solidFill>
            <a:schemeClr val="bg2"/>
          </a:solidFill>
          <a:ln w="12700">
            <a:solidFill>
              <a:schemeClr val="accent3"/>
            </a:solidFill>
            <a:prstDash val="solid"/>
          </a:ln>
        </p:spPr>
      </p:sp>
      <p:sp>
        <p:nvSpPr>
          <p:cNvPr id="17" name="Text 15"/>
          <p:cNvSpPr txBox="1"/>
          <p:nvPr/>
        </p:nvSpPr>
        <p:spPr>
          <a:xfrm>
            <a:off x="4526280" y="338328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5.5</a:t>
            </a:r>
            <a:endParaRPr lang="en-US" sz="3000" dirty="0"/>
          </a:p>
        </p:txBody>
      </p:sp>
      <p:sp>
        <p:nvSpPr>
          <p:cNvPr id="18" name="Text 16"/>
          <p:cNvSpPr txBox="1"/>
          <p:nvPr/>
        </p:nvSpPr>
        <p:spPr>
          <a:xfrm>
            <a:off x="5440680" y="333756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Especificaciones operacionales</a:t>
            </a:r>
            <a:endParaRPr lang="en-US" sz="1700" dirty="0"/>
          </a:p>
        </p:txBody>
      </p:sp>
      <p:sp>
        <p:nvSpPr>
          <p:cNvPr id="19" name="Shape 17"/>
          <p:cNvSpPr/>
          <p:nvPr/>
        </p:nvSpPr>
        <p:spPr>
          <a:xfrm>
            <a:off x="8046720" y="3200400"/>
            <a:ext cx="3520440" cy="1234440"/>
          </a:xfrm>
          <a:prstGeom prst="roundRect">
            <a:avLst>
              <a:gd name="adj" fmla="val 5926"/>
            </a:avLst>
          </a:prstGeom>
          <a:solidFill>
            <a:schemeClr val="bg2"/>
          </a:solidFill>
          <a:ln w="12700">
            <a:solidFill>
              <a:schemeClr val="accent3"/>
            </a:solidFill>
            <a:prstDash val="solid"/>
          </a:ln>
        </p:spPr>
      </p:sp>
      <p:sp>
        <p:nvSpPr>
          <p:cNvPr id="20" name="Text 18"/>
          <p:cNvSpPr txBox="1"/>
          <p:nvPr/>
        </p:nvSpPr>
        <p:spPr>
          <a:xfrm>
            <a:off x="8275320" y="338328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5.6</a:t>
            </a:r>
            <a:endParaRPr lang="en-US" sz="3000" dirty="0"/>
          </a:p>
        </p:txBody>
      </p:sp>
      <p:sp>
        <p:nvSpPr>
          <p:cNvPr id="21" name="Text 19"/>
          <p:cNvSpPr txBox="1"/>
          <p:nvPr/>
        </p:nvSpPr>
        <p:spPr>
          <a:xfrm>
            <a:off x="9189720" y="333756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Especificaciones descriptivas</a:t>
            </a:r>
            <a:endParaRPr lang="en-US" sz="1700" dirty="0"/>
          </a:p>
        </p:txBody>
      </p:sp>
      <p:sp>
        <p:nvSpPr>
          <p:cNvPr id="22" name="Shape 20"/>
          <p:cNvSpPr/>
          <p:nvPr/>
        </p:nvSpPr>
        <p:spPr>
          <a:xfrm>
            <a:off x="548640" y="4663440"/>
            <a:ext cx="3520440" cy="1234440"/>
          </a:xfrm>
          <a:prstGeom prst="roundRect">
            <a:avLst>
              <a:gd name="adj" fmla="val 5926"/>
            </a:avLst>
          </a:prstGeom>
          <a:solidFill>
            <a:schemeClr val="bg2"/>
          </a:solidFill>
          <a:ln w="12700">
            <a:solidFill>
              <a:schemeClr val="accent3"/>
            </a:solidFill>
            <a:prstDash val="solid"/>
          </a:ln>
        </p:spPr>
      </p:sp>
      <p:sp>
        <p:nvSpPr>
          <p:cNvPr id="23" name="Text 21"/>
          <p:cNvSpPr txBox="1"/>
          <p:nvPr/>
        </p:nvSpPr>
        <p:spPr>
          <a:xfrm>
            <a:off x="777240" y="484632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5.7</a:t>
            </a:r>
            <a:endParaRPr lang="en-US" sz="3000" dirty="0"/>
          </a:p>
        </p:txBody>
      </p:sp>
      <p:sp>
        <p:nvSpPr>
          <p:cNvPr id="24" name="Text 22"/>
          <p:cNvSpPr txBox="1"/>
          <p:nvPr/>
        </p:nvSpPr>
        <p:spPr>
          <a:xfrm>
            <a:off x="1691640" y="480060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Construcción y uso en la práctica</a:t>
            </a:r>
            <a:endParaRPr lang="en-US" sz="1700" dirty="0"/>
          </a:p>
        </p:txBody>
      </p:sp>
      <p:sp>
        <p:nvSpPr>
          <p:cNvPr id="25" name="Shape 23"/>
          <p:cNvSpPr/>
          <p:nvPr/>
        </p:nvSpPr>
        <p:spPr>
          <a:xfrm>
            <a:off x="4297680" y="4663440"/>
            <a:ext cx="3520440" cy="1234440"/>
          </a:xfrm>
          <a:prstGeom prst="roundRect">
            <a:avLst>
              <a:gd name="adj" fmla="val 5926"/>
            </a:avLst>
          </a:prstGeom>
          <a:solidFill>
            <a:schemeClr val="bg2"/>
          </a:solidFill>
          <a:ln w="12700">
            <a:solidFill>
              <a:schemeClr val="accent3"/>
            </a:solidFill>
            <a:prstDash val="solid"/>
          </a:ln>
        </p:spPr>
      </p:sp>
      <p:sp>
        <p:nvSpPr>
          <p:cNvPr id="26" name="Text 24"/>
          <p:cNvSpPr txBox="1"/>
          <p:nvPr/>
        </p:nvSpPr>
        <p:spPr>
          <a:xfrm>
            <a:off x="4526280" y="484632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5.8</a:t>
            </a:r>
            <a:endParaRPr lang="en-US" sz="3000" dirty="0"/>
          </a:p>
        </p:txBody>
      </p:sp>
      <p:sp>
        <p:nvSpPr>
          <p:cNvPr id="27" name="Text 25"/>
          <p:cNvSpPr txBox="1"/>
          <p:nvPr/>
        </p:nvSpPr>
        <p:spPr>
          <a:xfrm>
            <a:off x="5440680" y="480060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Especificación basada en modelos</a:t>
            </a:r>
            <a:endParaRPr lang="en-US" sz="1700" dirty="0"/>
          </a:p>
        </p:txBody>
      </p:sp>
      <p:sp>
        <p:nvSpPr>
          <p:cNvPr id="28" name="Shape 26"/>
          <p:cNvSpPr/>
          <p:nvPr/>
        </p:nvSpPr>
        <p:spPr>
          <a:xfrm>
            <a:off x="8046720" y="4663440"/>
            <a:ext cx="3520440" cy="1234440"/>
          </a:xfrm>
          <a:prstGeom prst="roundRect">
            <a:avLst>
              <a:gd name="adj" fmla="val 5926"/>
            </a:avLst>
          </a:prstGeom>
          <a:solidFill>
            <a:schemeClr val="bg2"/>
          </a:solidFill>
          <a:ln w="12700">
            <a:solidFill>
              <a:schemeClr val="accent3"/>
            </a:solidFill>
            <a:prstDash val="solid"/>
          </a:ln>
        </p:spPr>
      </p:sp>
      <p:sp>
        <p:nvSpPr>
          <p:cNvPr id="29" name="Text 27"/>
          <p:cNvSpPr txBox="1"/>
          <p:nvPr/>
        </p:nvSpPr>
        <p:spPr>
          <a:xfrm>
            <a:off x="8275320" y="4846320"/>
            <a:ext cx="9144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5.9</a:t>
            </a:r>
            <a:endParaRPr lang="en-US" sz="3000" dirty="0"/>
          </a:p>
        </p:txBody>
      </p:sp>
      <p:sp>
        <p:nvSpPr>
          <p:cNvPr id="30" name="Text 28"/>
          <p:cNvSpPr txBox="1"/>
          <p:nvPr/>
        </p:nvSpPr>
        <p:spPr>
          <a:xfrm>
            <a:off x="9189720" y="4800600"/>
            <a:ext cx="2240280" cy="960120"/>
          </a:xfrm>
          <a:prstGeom prst="rect">
            <a:avLst/>
          </a:prstGeom>
          <a:noFill/>
          <a:ln/>
        </p:spPr>
        <p:txBody>
          <a:bodyPr wrap="square" lIns="0" tIns="0" rIns="0" bIns="0" rtlCol="0" anchor="ctr"/>
          <a:lstStyle/>
          <a:p>
            <a:pPr indent="0" marL="0">
              <a:buNone/>
            </a:pPr>
            <a:r>
              <a:rPr lang="en-US" sz="1700" b="1" dirty="0">
                <a:solidFill>
                  <a:schemeClr val="tx2"/>
                </a:solidFill>
              </a:rPr>
              <a:t>Otros modelos</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5.1 · UTILIDAD DE LAS ESPECIFICACIONES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¿Qué es una especificación?</a:t>
            </a:r>
            <a:endParaRPr lang="en-US" sz="3400" dirty="0"/>
          </a:p>
        </p:txBody>
      </p:sp>
      <p:sp>
        <p:nvSpPr>
          <p:cNvPr id="4" name="Text 2"/>
          <p:cNvSpPr txBox="1"/>
          <p:nvPr/>
        </p:nvSpPr>
        <p:spPr>
          <a:xfrm>
            <a:off x="548640" y="1691640"/>
            <a:ext cx="11064240" cy="914400"/>
          </a:xfrm>
          <a:prstGeom prst="rect">
            <a:avLst/>
          </a:prstGeom>
          <a:noFill/>
          <a:ln/>
        </p:spPr>
        <p:txBody>
          <a:bodyPr wrap="square" lIns="0" tIns="0" rIns="0" bIns="0" rtlCol="0" anchor="t"/>
          <a:lstStyle/>
          <a:p>
            <a:pPr indent="0" marL="0">
              <a:buNone/>
            </a:pPr>
            <a:r>
              <a:rPr lang="en-US" sz="1900" dirty="0">
                <a:solidFill>
                  <a:schemeClr val="tx1"/>
                </a:solidFill>
              </a:rPr>
              <a:t>Una especificación es un enunciado preciso de </a:t>
            </a:r>
            <a:pPr indent="0" marL="0">
              <a:buNone/>
            </a:pPr>
            <a:r>
              <a:rPr lang="en-US" sz="1900" b="1" dirty="0">
                <a:solidFill>
                  <a:schemeClr val="accent1"/>
                </a:solidFill>
              </a:rPr>
              <a:t>qué</a:t>
            </a:r>
            <a:pPr indent="0" marL="0">
              <a:buNone/>
            </a:pPr>
            <a:r>
              <a:rPr lang="en-US" sz="1900" dirty="0">
                <a:solidFill>
                  <a:schemeClr val="tx1"/>
                </a:solidFill>
              </a:rPr>
              <a:t> debe hacer un sistema o una de sus partes, sin fijar necesariamente </a:t>
            </a:r>
            <a:pPr indent="0" marL="0">
              <a:buNone/>
            </a:pPr>
            <a:r>
              <a:rPr lang="en-US" sz="1900" b="1" dirty="0">
                <a:solidFill>
                  <a:schemeClr val="accent1"/>
                </a:solidFill>
              </a:rPr>
              <a:t>cómo</a:t>
            </a:r>
            <a:pPr indent="0" marL="0">
              <a:buNone/>
            </a:pPr>
            <a:r>
              <a:rPr lang="en-US" sz="1900" dirty="0">
                <a:solidFill>
                  <a:schemeClr val="tx1"/>
                </a:solidFill>
              </a:rPr>
              <a:t> lo hace. Funciona como un acuerdo entre quien produce un componente y quien lo usa.</a:t>
            </a:r>
            <a:endParaRPr lang="en-US" sz="1900" dirty="0"/>
          </a:p>
        </p:txBody>
      </p:sp>
      <p:sp>
        <p:nvSpPr>
          <p:cNvPr id="5" name="Shape 3"/>
          <p:cNvSpPr/>
          <p:nvPr/>
        </p:nvSpPr>
        <p:spPr>
          <a:xfrm>
            <a:off x="685800" y="3063240"/>
            <a:ext cx="1097280" cy="109728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960120" y="3337560"/>
            <a:ext cx="548640" cy="548640"/>
          </a:xfrm>
          <a:prstGeom prst="rect">
            <a:avLst/>
          </a:prstGeom>
        </p:spPr>
      </p:pic>
      <p:sp>
        <p:nvSpPr>
          <p:cNvPr id="7" name="Text 4"/>
          <p:cNvSpPr txBox="1"/>
          <p:nvPr/>
        </p:nvSpPr>
        <p:spPr>
          <a:xfrm>
            <a:off x="320040" y="4251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Cliente</a:t>
            </a:r>
            <a:endParaRPr lang="en-US" sz="1600" dirty="0"/>
          </a:p>
        </p:txBody>
      </p:sp>
      <p:sp>
        <p:nvSpPr>
          <p:cNvPr id="8" name="Shape 5"/>
          <p:cNvSpPr/>
          <p:nvPr/>
        </p:nvSpPr>
        <p:spPr>
          <a:xfrm>
            <a:off x="2011680" y="3108960"/>
            <a:ext cx="1417320" cy="1005840"/>
          </a:xfrm>
          <a:prstGeom prst="roundRect">
            <a:avLst>
              <a:gd name="adj" fmla="val 7273"/>
            </a:avLst>
          </a:prstGeom>
          <a:solidFill>
            <a:schemeClr val="accent4"/>
          </a:solidFill>
          <a:ln w="12700">
            <a:solidFill>
              <a:schemeClr val="accent4"/>
            </a:solidFill>
            <a:prstDash val="solid"/>
          </a:ln>
        </p:spPr>
      </p:sp>
      <p:sp>
        <p:nvSpPr>
          <p:cNvPr id="9" name="Text 6"/>
          <p:cNvSpPr txBox="1"/>
          <p:nvPr/>
        </p:nvSpPr>
        <p:spPr>
          <a:xfrm>
            <a:off x="2057400" y="3154680"/>
            <a:ext cx="1325880" cy="914400"/>
          </a:xfrm>
          <a:prstGeom prst="rect">
            <a:avLst/>
          </a:prstGeom>
          <a:noFill/>
          <a:ln/>
        </p:spPr>
        <p:txBody>
          <a:bodyPr wrap="square" lIns="0" tIns="0" rIns="0" bIns="0" rtlCol="0" anchor="ctr"/>
          <a:lstStyle/>
          <a:p>
            <a:pPr algn="ctr" indent="0" marL="0">
              <a:buNone/>
            </a:pPr>
            <a:r>
              <a:rPr lang="en-US" sz="1300" b="1" dirty="0">
                <a:solidFill>
                  <a:schemeClr val="accent1"/>
                </a:solidFill>
              </a:rPr>
              <a:t>Especificación de requisitos</a:t>
            </a:r>
            <a:endParaRPr lang="en-US" sz="1300" dirty="0"/>
          </a:p>
        </p:txBody>
      </p:sp>
      <p:sp>
        <p:nvSpPr>
          <p:cNvPr id="10" name="Shape 7"/>
          <p:cNvSpPr/>
          <p:nvPr/>
        </p:nvSpPr>
        <p:spPr>
          <a:xfrm>
            <a:off x="1801368" y="3611880"/>
            <a:ext cx="192024" cy="914"/>
          </a:xfrm>
          <a:prstGeom prst="line">
            <a:avLst/>
          </a:prstGeom>
          <a:noFill/>
          <a:ln w="22225">
            <a:solidFill>
              <a:schemeClr val="tx2"/>
            </a:solidFill>
            <a:prstDash val="solid"/>
            <a:tailEnd type="triangle"/>
          </a:ln>
        </p:spPr>
      </p:sp>
      <p:sp>
        <p:nvSpPr>
          <p:cNvPr id="11" name="Shape 8"/>
          <p:cNvSpPr/>
          <p:nvPr/>
        </p:nvSpPr>
        <p:spPr>
          <a:xfrm>
            <a:off x="3429000" y="3611880"/>
            <a:ext cx="210312" cy="914"/>
          </a:xfrm>
          <a:prstGeom prst="line">
            <a:avLst/>
          </a:prstGeom>
          <a:noFill/>
          <a:ln w="22225">
            <a:solidFill>
              <a:schemeClr val="tx2"/>
            </a:solidFill>
            <a:prstDash val="solid"/>
            <a:tailEnd type="triangle"/>
          </a:ln>
        </p:spPr>
      </p:sp>
      <p:sp>
        <p:nvSpPr>
          <p:cNvPr id="12" name="Shape 9"/>
          <p:cNvSpPr/>
          <p:nvPr/>
        </p:nvSpPr>
        <p:spPr>
          <a:xfrm>
            <a:off x="3657600" y="3063240"/>
            <a:ext cx="1097280" cy="1097280"/>
          </a:xfrm>
          <a:prstGeom prst="ellipse">
            <a:avLst/>
          </a:prstGeom>
          <a:solidFill>
            <a:schemeClr val="tx2"/>
          </a:solidFill>
          <a:ln w="12700">
            <a:solidFill>
              <a:schemeClr val="tx2"/>
            </a:solidFill>
            <a:prstDash val="solid"/>
          </a:ln>
        </p:spPr>
      </p:sp>
      <p:pic>
        <p:nvPicPr>
          <p:cNvPr id="13" name="Image 1" descr="preencoded.png">    </p:cNvPr>
          <p:cNvPicPr>
            <a:picLocks noChangeAspect="1"/>
          </p:cNvPicPr>
          <p:nvPr/>
        </p:nvPicPr>
        <p:blipFill>
          <a:blip r:embed="rId2"/>
          <a:stretch>
            <a:fillRect/>
          </a:stretch>
        </p:blipFill>
        <p:spPr>
          <a:xfrm>
            <a:off x="3931920" y="3337560"/>
            <a:ext cx="548640" cy="548640"/>
          </a:xfrm>
          <a:prstGeom prst="rect">
            <a:avLst/>
          </a:prstGeom>
        </p:spPr>
      </p:pic>
      <p:sp>
        <p:nvSpPr>
          <p:cNvPr id="14" name="Text 10"/>
          <p:cNvSpPr txBox="1"/>
          <p:nvPr/>
        </p:nvSpPr>
        <p:spPr>
          <a:xfrm>
            <a:off x="3291840" y="4251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Diseñador</a:t>
            </a:r>
            <a:endParaRPr lang="en-US" sz="1600" dirty="0"/>
          </a:p>
        </p:txBody>
      </p:sp>
      <p:sp>
        <p:nvSpPr>
          <p:cNvPr id="15" name="Shape 11"/>
          <p:cNvSpPr/>
          <p:nvPr/>
        </p:nvSpPr>
        <p:spPr>
          <a:xfrm>
            <a:off x="4983480" y="3108960"/>
            <a:ext cx="1417320" cy="1005840"/>
          </a:xfrm>
          <a:prstGeom prst="roundRect">
            <a:avLst>
              <a:gd name="adj" fmla="val 7273"/>
            </a:avLst>
          </a:prstGeom>
          <a:solidFill>
            <a:schemeClr val="accent4"/>
          </a:solidFill>
          <a:ln w="12700">
            <a:solidFill>
              <a:schemeClr val="accent4"/>
            </a:solidFill>
            <a:prstDash val="solid"/>
          </a:ln>
        </p:spPr>
      </p:sp>
      <p:sp>
        <p:nvSpPr>
          <p:cNvPr id="16" name="Text 12"/>
          <p:cNvSpPr txBox="1"/>
          <p:nvPr/>
        </p:nvSpPr>
        <p:spPr>
          <a:xfrm>
            <a:off x="5029200" y="3154680"/>
            <a:ext cx="1325880" cy="914400"/>
          </a:xfrm>
          <a:prstGeom prst="rect">
            <a:avLst/>
          </a:prstGeom>
          <a:noFill/>
          <a:ln/>
        </p:spPr>
        <p:txBody>
          <a:bodyPr wrap="square" lIns="0" tIns="0" rIns="0" bIns="0" rtlCol="0" anchor="ctr"/>
          <a:lstStyle/>
          <a:p>
            <a:pPr algn="ctr" indent="0" marL="0">
              <a:buNone/>
            </a:pPr>
            <a:r>
              <a:rPr lang="en-US" sz="1300" b="1" dirty="0">
                <a:solidFill>
                  <a:schemeClr val="accent1"/>
                </a:solidFill>
              </a:rPr>
              <a:t>Especificación de diseño</a:t>
            </a:r>
            <a:endParaRPr lang="en-US" sz="1300" dirty="0"/>
          </a:p>
        </p:txBody>
      </p:sp>
      <p:sp>
        <p:nvSpPr>
          <p:cNvPr id="17" name="Shape 13"/>
          <p:cNvSpPr/>
          <p:nvPr/>
        </p:nvSpPr>
        <p:spPr>
          <a:xfrm>
            <a:off x="4773168" y="3611880"/>
            <a:ext cx="192024" cy="914"/>
          </a:xfrm>
          <a:prstGeom prst="line">
            <a:avLst/>
          </a:prstGeom>
          <a:noFill/>
          <a:ln w="22225">
            <a:solidFill>
              <a:schemeClr val="tx2"/>
            </a:solidFill>
            <a:prstDash val="solid"/>
            <a:tailEnd type="triangle"/>
          </a:ln>
        </p:spPr>
      </p:sp>
      <p:sp>
        <p:nvSpPr>
          <p:cNvPr id="18" name="Shape 14"/>
          <p:cNvSpPr/>
          <p:nvPr/>
        </p:nvSpPr>
        <p:spPr>
          <a:xfrm>
            <a:off x="6400800" y="3611880"/>
            <a:ext cx="210312" cy="914"/>
          </a:xfrm>
          <a:prstGeom prst="line">
            <a:avLst/>
          </a:prstGeom>
          <a:noFill/>
          <a:ln w="22225">
            <a:solidFill>
              <a:schemeClr val="tx2"/>
            </a:solidFill>
            <a:prstDash val="solid"/>
            <a:tailEnd type="triangle"/>
          </a:ln>
        </p:spPr>
      </p:sp>
      <p:sp>
        <p:nvSpPr>
          <p:cNvPr id="19" name="Shape 15"/>
          <p:cNvSpPr/>
          <p:nvPr/>
        </p:nvSpPr>
        <p:spPr>
          <a:xfrm>
            <a:off x="6629400" y="3063240"/>
            <a:ext cx="1097280" cy="1097280"/>
          </a:xfrm>
          <a:prstGeom prst="ellipse">
            <a:avLst/>
          </a:prstGeom>
          <a:solidFill>
            <a:schemeClr val="tx2"/>
          </a:solidFill>
          <a:ln w="12700">
            <a:solidFill>
              <a:schemeClr val="tx2"/>
            </a:solidFill>
            <a:prstDash val="solid"/>
          </a:ln>
        </p:spPr>
      </p:sp>
      <p:pic>
        <p:nvPicPr>
          <p:cNvPr id="20" name="Image 2" descr="preencoded.png">    </p:cNvPr>
          <p:cNvPicPr>
            <a:picLocks noChangeAspect="1"/>
          </p:cNvPicPr>
          <p:nvPr/>
        </p:nvPicPr>
        <p:blipFill>
          <a:blip r:embed="rId3"/>
          <a:stretch>
            <a:fillRect/>
          </a:stretch>
        </p:blipFill>
        <p:spPr>
          <a:xfrm>
            <a:off x="6903720" y="3337560"/>
            <a:ext cx="548640" cy="548640"/>
          </a:xfrm>
          <a:prstGeom prst="rect">
            <a:avLst/>
          </a:prstGeom>
        </p:spPr>
      </p:pic>
      <p:sp>
        <p:nvSpPr>
          <p:cNvPr id="21" name="Text 16"/>
          <p:cNvSpPr txBox="1"/>
          <p:nvPr/>
        </p:nvSpPr>
        <p:spPr>
          <a:xfrm>
            <a:off x="6263640" y="4251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Programador</a:t>
            </a:r>
            <a:endParaRPr lang="en-US" sz="1600" dirty="0"/>
          </a:p>
        </p:txBody>
      </p:sp>
      <p:sp>
        <p:nvSpPr>
          <p:cNvPr id="22" name="Shape 17"/>
          <p:cNvSpPr/>
          <p:nvPr/>
        </p:nvSpPr>
        <p:spPr>
          <a:xfrm>
            <a:off x="7955280" y="3108960"/>
            <a:ext cx="1417320" cy="1005840"/>
          </a:xfrm>
          <a:prstGeom prst="roundRect">
            <a:avLst>
              <a:gd name="adj" fmla="val 7273"/>
            </a:avLst>
          </a:prstGeom>
          <a:solidFill>
            <a:schemeClr val="accent4"/>
          </a:solidFill>
          <a:ln w="12700">
            <a:solidFill>
              <a:schemeClr val="accent4"/>
            </a:solidFill>
            <a:prstDash val="solid"/>
          </a:ln>
        </p:spPr>
      </p:sp>
      <p:sp>
        <p:nvSpPr>
          <p:cNvPr id="23" name="Text 18"/>
          <p:cNvSpPr txBox="1"/>
          <p:nvPr/>
        </p:nvSpPr>
        <p:spPr>
          <a:xfrm>
            <a:off x="8001000" y="3154680"/>
            <a:ext cx="1325880" cy="914400"/>
          </a:xfrm>
          <a:prstGeom prst="rect">
            <a:avLst/>
          </a:prstGeom>
          <a:noFill/>
          <a:ln/>
        </p:spPr>
        <p:txBody>
          <a:bodyPr wrap="square" lIns="0" tIns="0" rIns="0" bIns="0" rtlCol="0" anchor="ctr"/>
          <a:lstStyle/>
          <a:p>
            <a:pPr algn="ctr" indent="0" marL="0">
              <a:buNone/>
            </a:pPr>
            <a:r>
              <a:rPr lang="en-US" sz="1300" b="1" dirty="0">
                <a:solidFill>
                  <a:schemeClr val="accent1"/>
                </a:solidFill>
              </a:rPr>
              <a:t>Especificación de módulo</a:t>
            </a:r>
            <a:endParaRPr lang="en-US" sz="1300" dirty="0"/>
          </a:p>
        </p:txBody>
      </p:sp>
      <p:sp>
        <p:nvSpPr>
          <p:cNvPr id="24" name="Shape 19"/>
          <p:cNvSpPr/>
          <p:nvPr/>
        </p:nvSpPr>
        <p:spPr>
          <a:xfrm>
            <a:off x="7744968" y="3611880"/>
            <a:ext cx="192024" cy="914"/>
          </a:xfrm>
          <a:prstGeom prst="line">
            <a:avLst/>
          </a:prstGeom>
          <a:noFill/>
          <a:ln w="22225">
            <a:solidFill>
              <a:schemeClr val="tx2"/>
            </a:solidFill>
            <a:prstDash val="solid"/>
            <a:tailEnd type="triangle"/>
          </a:ln>
        </p:spPr>
      </p:sp>
      <p:sp>
        <p:nvSpPr>
          <p:cNvPr id="25" name="Shape 20"/>
          <p:cNvSpPr/>
          <p:nvPr/>
        </p:nvSpPr>
        <p:spPr>
          <a:xfrm>
            <a:off x="9372600" y="3611880"/>
            <a:ext cx="210312" cy="914"/>
          </a:xfrm>
          <a:prstGeom prst="line">
            <a:avLst/>
          </a:prstGeom>
          <a:noFill/>
          <a:ln w="22225">
            <a:solidFill>
              <a:schemeClr val="tx2"/>
            </a:solidFill>
            <a:prstDash val="solid"/>
            <a:tailEnd type="triangle"/>
          </a:ln>
        </p:spPr>
      </p:sp>
      <p:sp>
        <p:nvSpPr>
          <p:cNvPr id="26" name="Shape 21"/>
          <p:cNvSpPr/>
          <p:nvPr/>
        </p:nvSpPr>
        <p:spPr>
          <a:xfrm>
            <a:off x="9601200" y="3063240"/>
            <a:ext cx="1097280" cy="1097280"/>
          </a:xfrm>
          <a:prstGeom prst="ellipse">
            <a:avLst/>
          </a:prstGeom>
          <a:solidFill>
            <a:schemeClr val="tx2"/>
          </a:solidFill>
          <a:ln w="12700">
            <a:solidFill>
              <a:schemeClr val="tx2"/>
            </a:solidFill>
            <a:prstDash val="solid"/>
          </a:ln>
        </p:spPr>
      </p:sp>
      <p:pic>
        <p:nvPicPr>
          <p:cNvPr id="27" name="Image 3" descr="preencoded.png">    </p:cNvPr>
          <p:cNvPicPr>
            <a:picLocks noChangeAspect="1"/>
          </p:cNvPicPr>
          <p:nvPr/>
        </p:nvPicPr>
        <p:blipFill>
          <a:blip r:embed="rId4"/>
          <a:stretch>
            <a:fillRect/>
          </a:stretch>
        </p:blipFill>
        <p:spPr>
          <a:xfrm>
            <a:off x="9875520" y="3337560"/>
            <a:ext cx="548640" cy="548640"/>
          </a:xfrm>
          <a:prstGeom prst="rect">
            <a:avLst/>
          </a:prstGeom>
        </p:spPr>
      </p:pic>
      <p:sp>
        <p:nvSpPr>
          <p:cNvPr id="28" name="Text 22"/>
          <p:cNvSpPr txBox="1"/>
          <p:nvPr/>
        </p:nvSpPr>
        <p:spPr>
          <a:xfrm>
            <a:off x="9235440" y="4251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Módulo</a:t>
            </a:r>
            <a:endParaRPr lang="en-US" sz="1600" dirty="0"/>
          </a:p>
        </p:txBody>
      </p:sp>
      <p:sp>
        <p:nvSpPr>
          <p:cNvPr id="29" name="Shape 23"/>
          <p:cNvSpPr/>
          <p:nvPr/>
        </p:nvSpPr>
        <p:spPr>
          <a:xfrm>
            <a:off x="548640" y="5029200"/>
            <a:ext cx="11064240" cy="1005840"/>
          </a:xfrm>
          <a:prstGeom prst="roundRect">
            <a:avLst>
              <a:gd name="adj" fmla="val 7273"/>
            </a:avLst>
          </a:prstGeom>
          <a:solidFill>
            <a:schemeClr val="bg2"/>
          </a:solidFill>
          <a:ln w="12700">
            <a:solidFill>
              <a:schemeClr val="accent3"/>
            </a:solidFill>
            <a:prstDash val="solid"/>
          </a:ln>
        </p:spPr>
      </p:sp>
      <p:sp>
        <p:nvSpPr>
          <p:cNvPr id="30" name="Shape 24"/>
          <p:cNvSpPr/>
          <p:nvPr/>
        </p:nvSpPr>
        <p:spPr>
          <a:xfrm>
            <a:off x="777240" y="5184648"/>
            <a:ext cx="694944" cy="694944"/>
          </a:xfrm>
          <a:prstGeom prst="ellipse">
            <a:avLst/>
          </a:prstGeom>
          <a:solidFill>
            <a:schemeClr val="accent1"/>
          </a:solidFill>
          <a:ln w="12700">
            <a:solidFill>
              <a:schemeClr val="accent1"/>
            </a:solidFill>
            <a:prstDash val="solid"/>
          </a:ln>
        </p:spPr>
      </p:sp>
      <p:pic>
        <p:nvPicPr>
          <p:cNvPr id="31" name="Image 4" descr="preencoded.png">    </p:cNvPr>
          <p:cNvPicPr>
            <a:picLocks noChangeAspect="1"/>
          </p:cNvPicPr>
          <p:nvPr/>
        </p:nvPicPr>
        <p:blipFill>
          <a:blip r:embed="rId5"/>
          <a:stretch>
            <a:fillRect/>
          </a:stretch>
        </p:blipFill>
        <p:spPr>
          <a:xfrm>
            <a:off x="950976" y="5358384"/>
            <a:ext cx="347472" cy="347472"/>
          </a:xfrm>
          <a:prstGeom prst="rect">
            <a:avLst/>
          </a:prstGeom>
        </p:spPr>
      </p:pic>
      <p:sp>
        <p:nvSpPr>
          <p:cNvPr id="32" name="Text 25"/>
          <p:cNvSpPr txBox="1"/>
          <p:nvPr/>
        </p:nvSpPr>
        <p:spPr>
          <a:xfrm>
            <a:off x="1691640" y="5120640"/>
            <a:ext cx="9692640" cy="822960"/>
          </a:xfrm>
          <a:prstGeom prst="rect">
            <a:avLst/>
          </a:prstGeom>
          <a:noFill/>
          <a:ln/>
        </p:spPr>
        <p:txBody>
          <a:bodyPr wrap="square" lIns="0" tIns="0" rIns="0" bIns="0" rtlCol="0" anchor="ctr"/>
          <a:lstStyle/>
          <a:p>
            <a:pPr indent="0" marL="0">
              <a:buNone/>
            </a:pPr>
            <a:r>
              <a:rPr lang="en-US" sz="1600" dirty="0">
                <a:solidFill>
                  <a:schemeClr val="tx1"/>
                </a:solidFill>
              </a:rPr>
              <a:t>Cada especificación es un contrato: quien produce el componente se compromete a cumplirla y quien lo usa se apoya solo en ella, sin mirar el interior.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5.1 · UTILIDAD DE LAS ESPECIFICACIONES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¿Para qué sirven las especificaciones?</a:t>
            </a:r>
            <a:endParaRPr lang="en-US" sz="3400" dirty="0"/>
          </a:p>
        </p:txBody>
      </p:sp>
      <p:sp>
        <p:nvSpPr>
          <p:cNvPr id="4" name="Shape 2"/>
          <p:cNvSpPr/>
          <p:nvPr/>
        </p:nvSpPr>
        <p:spPr>
          <a:xfrm>
            <a:off x="548640" y="1783080"/>
            <a:ext cx="3520440" cy="2011680"/>
          </a:xfrm>
          <a:prstGeom prst="roundRect">
            <a:avLst>
              <a:gd name="adj" fmla="val 3636"/>
            </a:avLst>
          </a:prstGeom>
          <a:solidFill>
            <a:schemeClr val="bg2"/>
          </a:solidFill>
          <a:ln w="12700">
            <a:solidFill>
              <a:schemeClr val="accent3"/>
            </a:solidFill>
            <a:prstDash val="solid"/>
          </a:ln>
        </p:spPr>
      </p:sp>
      <p:sp>
        <p:nvSpPr>
          <p:cNvPr id="5" name="Shape 3"/>
          <p:cNvSpPr/>
          <p:nvPr/>
        </p:nvSpPr>
        <p:spPr>
          <a:xfrm>
            <a:off x="777240" y="2011680"/>
            <a:ext cx="685800" cy="68580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948690" y="2183130"/>
            <a:ext cx="342900" cy="342900"/>
          </a:xfrm>
          <a:prstGeom prst="rect">
            <a:avLst/>
          </a:prstGeom>
        </p:spPr>
      </p:pic>
      <p:sp>
        <p:nvSpPr>
          <p:cNvPr id="7" name="Text 4"/>
          <p:cNvSpPr txBox="1"/>
          <p:nvPr/>
        </p:nvSpPr>
        <p:spPr>
          <a:xfrm>
            <a:off x="1600200" y="2011680"/>
            <a:ext cx="2331720" cy="685800"/>
          </a:xfrm>
          <a:prstGeom prst="rect">
            <a:avLst/>
          </a:prstGeom>
          <a:noFill/>
          <a:ln/>
        </p:spPr>
        <p:txBody>
          <a:bodyPr wrap="square" lIns="0" tIns="0" rIns="0" bIns="0" rtlCol="0" anchor="ctr"/>
          <a:lstStyle/>
          <a:p>
            <a:pPr indent="0" marL="0">
              <a:buNone/>
            </a:pPr>
            <a:r>
              <a:rPr lang="en-US" sz="1700" b="1" dirty="0">
                <a:solidFill>
                  <a:schemeClr val="tx2"/>
                </a:solidFill>
              </a:rPr>
              <a:t>Requisitos del usuario</a:t>
            </a:r>
            <a:endParaRPr lang="en-US" sz="1700" dirty="0"/>
          </a:p>
        </p:txBody>
      </p:sp>
      <p:sp>
        <p:nvSpPr>
          <p:cNvPr id="8" name="Text 5"/>
          <p:cNvSpPr txBox="1"/>
          <p:nvPr/>
        </p:nvSpPr>
        <p:spPr>
          <a:xfrm>
            <a:off x="777240" y="2834640"/>
            <a:ext cx="3108960" cy="822960"/>
          </a:xfrm>
          <a:prstGeom prst="rect">
            <a:avLst/>
          </a:prstGeom>
          <a:noFill/>
          <a:ln/>
        </p:spPr>
        <p:txBody>
          <a:bodyPr wrap="square" lIns="0" tIns="0" rIns="0" bIns="0" rtlCol="0" anchor="t"/>
          <a:lstStyle/>
          <a:p>
            <a:pPr indent="0" marL="0">
              <a:buNone/>
            </a:pPr>
            <a:r>
              <a:rPr lang="en-US" sz="1500" dirty="0">
                <a:solidFill>
                  <a:schemeClr val="tx1"/>
                </a:solidFill>
              </a:rPr>
              <a:t>Acuerdo con el cliente sobre qué se va a construir.</a:t>
            </a:r>
            <a:endParaRPr lang="en-US" sz="1500" dirty="0"/>
          </a:p>
        </p:txBody>
      </p:sp>
      <p:sp>
        <p:nvSpPr>
          <p:cNvPr id="9" name="Shape 6"/>
          <p:cNvSpPr/>
          <p:nvPr/>
        </p:nvSpPr>
        <p:spPr>
          <a:xfrm>
            <a:off x="4297680" y="1783080"/>
            <a:ext cx="3520440" cy="2011680"/>
          </a:xfrm>
          <a:prstGeom prst="roundRect">
            <a:avLst>
              <a:gd name="adj" fmla="val 3636"/>
            </a:avLst>
          </a:prstGeom>
          <a:solidFill>
            <a:schemeClr val="bg2"/>
          </a:solidFill>
          <a:ln w="12700">
            <a:solidFill>
              <a:schemeClr val="accent3"/>
            </a:solidFill>
            <a:prstDash val="solid"/>
          </a:ln>
        </p:spPr>
      </p:sp>
      <p:sp>
        <p:nvSpPr>
          <p:cNvPr id="10" name="Shape 7"/>
          <p:cNvSpPr/>
          <p:nvPr/>
        </p:nvSpPr>
        <p:spPr>
          <a:xfrm>
            <a:off x="4526280" y="2011680"/>
            <a:ext cx="685800" cy="68580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4697730" y="2183130"/>
            <a:ext cx="342900" cy="342900"/>
          </a:xfrm>
          <a:prstGeom prst="rect">
            <a:avLst/>
          </a:prstGeom>
        </p:spPr>
      </p:pic>
      <p:sp>
        <p:nvSpPr>
          <p:cNvPr id="12" name="Text 8"/>
          <p:cNvSpPr txBox="1"/>
          <p:nvPr/>
        </p:nvSpPr>
        <p:spPr>
          <a:xfrm>
            <a:off x="5349240" y="2011680"/>
            <a:ext cx="2331720" cy="685800"/>
          </a:xfrm>
          <a:prstGeom prst="rect">
            <a:avLst/>
          </a:prstGeom>
          <a:noFill/>
          <a:ln/>
        </p:spPr>
        <p:txBody>
          <a:bodyPr wrap="square" lIns="0" tIns="0" rIns="0" bIns="0" rtlCol="0" anchor="ctr"/>
          <a:lstStyle/>
          <a:p>
            <a:pPr indent="0" marL="0">
              <a:buNone/>
            </a:pPr>
            <a:r>
              <a:rPr lang="en-US" sz="1700" b="1" dirty="0">
                <a:solidFill>
                  <a:schemeClr val="tx2"/>
                </a:solidFill>
              </a:rPr>
              <a:t>Interfaz máquina–entorno</a:t>
            </a:r>
            <a:endParaRPr lang="en-US" sz="1700" dirty="0"/>
          </a:p>
        </p:txBody>
      </p:sp>
      <p:sp>
        <p:nvSpPr>
          <p:cNvPr id="13" name="Text 9"/>
          <p:cNvSpPr txBox="1"/>
          <p:nvPr/>
        </p:nvSpPr>
        <p:spPr>
          <a:xfrm>
            <a:off x="4526280" y="2834640"/>
            <a:ext cx="3108960" cy="822960"/>
          </a:xfrm>
          <a:prstGeom prst="rect">
            <a:avLst/>
          </a:prstGeom>
          <a:noFill/>
          <a:ln/>
        </p:spPr>
        <p:txBody>
          <a:bodyPr wrap="square" lIns="0" tIns="0" rIns="0" bIns="0" rtlCol="0" anchor="t"/>
          <a:lstStyle/>
          <a:p>
            <a:pPr indent="0" marL="0">
              <a:buNone/>
            </a:pPr>
            <a:r>
              <a:rPr lang="en-US" sz="1500" dirty="0">
                <a:solidFill>
                  <a:schemeClr val="tx1"/>
                </a:solidFill>
              </a:rPr>
              <a:t>Qué recibe el sistema de su entorno y qué le devuelve.</a:t>
            </a:r>
            <a:endParaRPr lang="en-US" sz="1500" dirty="0"/>
          </a:p>
        </p:txBody>
      </p:sp>
      <p:sp>
        <p:nvSpPr>
          <p:cNvPr id="14" name="Shape 10"/>
          <p:cNvSpPr/>
          <p:nvPr/>
        </p:nvSpPr>
        <p:spPr>
          <a:xfrm>
            <a:off x="8046720" y="1783080"/>
            <a:ext cx="3520440" cy="2011680"/>
          </a:xfrm>
          <a:prstGeom prst="roundRect">
            <a:avLst>
              <a:gd name="adj" fmla="val 3636"/>
            </a:avLst>
          </a:prstGeom>
          <a:solidFill>
            <a:schemeClr val="bg2"/>
          </a:solidFill>
          <a:ln w="12700">
            <a:solidFill>
              <a:schemeClr val="accent3"/>
            </a:solidFill>
            <a:prstDash val="solid"/>
          </a:ln>
        </p:spPr>
      </p:sp>
      <p:sp>
        <p:nvSpPr>
          <p:cNvPr id="15" name="Shape 11"/>
          <p:cNvSpPr/>
          <p:nvPr/>
        </p:nvSpPr>
        <p:spPr>
          <a:xfrm>
            <a:off x="8275320" y="2011680"/>
            <a:ext cx="685800" cy="68580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8446770" y="2183130"/>
            <a:ext cx="342900" cy="342900"/>
          </a:xfrm>
          <a:prstGeom prst="rect">
            <a:avLst/>
          </a:prstGeom>
        </p:spPr>
      </p:pic>
      <p:sp>
        <p:nvSpPr>
          <p:cNvPr id="17" name="Text 12"/>
          <p:cNvSpPr txBox="1"/>
          <p:nvPr/>
        </p:nvSpPr>
        <p:spPr>
          <a:xfrm>
            <a:off x="9098280" y="2011680"/>
            <a:ext cx="2331720" cy="685800"/>
          </a:xfrm>
          <a:prstGeom prst="rect">
            <a:avLst/>
          </a:prstGeom>
          <a:noFill/>
          <a:ln/>
        </p:spPr>
        <p:txBody>
          <a:bodyPr wrap="square" lIns="0" tIns="0" rIns="0" bIns="0" rtlCol="0" anchor="ctr"/>
          <a:lstStyle/>
          <a:p>
            <a:pPr indent="0" marL="0">
              <a:buNone/>
            </a:pPr>
            <a:r>
              <a:rPr lang="en-US" sz="1700" b="1" dirty="0">
                <a:solidFill>
                  <a:schemeClr val="tx2"/>
                </a:solidFill>
              </a:rPr>
              <a:t>Requisitos de implementación</a:t>
            </a:r>
            <a:endParaRPr lang="en-US" sz="1700" dirty="0"/>
          </a:p>
        </p:txBody>
      </p:sp>
      <p:sp>
        <p:nvSpPr>
          <p:cNvPr id="18" name="Text 13"/>
          <p:cNvSpPr txBox="1"/>
          <p:nvPr/>
        </p:nvSpPr>
        <p:spPr>
          <a:xfrm>
            <a:off x="8275320" y="2834640"/>
            <a:ext cx="3108960" cy="822960"/>
          </a:xfrm>
          <a:prstGeom prst="rect">
            <a:avLst/>
          </a:prstGeom>
          <a:noFill/>
          <a:ln/>
        </p:spPr>
        <p:txBody>
          <a:bodyPr wrap="square" lIns="0" tIns="0" rIns="0" bIns="0" rtlCol="0" anchor="t"/>
          <a:lstStyle/>
          <a:p>
            <a:pPr indent="0" marL="0">
              <a:buNone/>
            </a:pPr>
            <a:r>
              <a:rPr lang="en-US" sz="1500" dirty="0">
                <a:solidFill>
                  <a:schemeClr val="tx1"/>
                </a:solidFill>
              </a:rPr>
              <a:t>Punto de partida para diseñadores y programadores.</a:t>
            </a:r>
            <a:endParaRPr lang="en-US" sz="1500" dirty="0"/>
          </a:p>
        </p:txBody>
      </p:sp>
      <p:sp>
        <p:nvSpPr>
          <p:cNvPr id="19" name="Shape 14"/>
          <p:cNvSpPr/>
          <p:nvPr/>
        </p:nvSpPr>
        <p:spPr>
          <a:xfrm>
            <a:off x="548640" y="4023360"/>
            <a:ext cx="3520440" cy="2011680"/>
          </a:xfrm>
          <a:prstGeom prst="roundRect">
            <a:avLst>
              <a:gd name="adj" fmla="val 3636"/>
            </a:avLst>
          </a:prstGeom>
          <a:solidFill>
            <a:schemeClr val="bg2"/>
          </a:solidFill>
          <a:ln w="12700">
            <a:solidFill>
              <a:schemeClr val="accent3"/>
            </a:solidFill>
            <a:prstDash val="solid"/>
          </a:ln>
        </p:spPr>
      </p:sp>
      <p:sp>
        <p:nvSpPr>
          <p:cNvPr id="20" name="Shape 15"/>
          <p:cNvSpPr/>
          <p:nvPr/>
        </p:nvSpPr>
        <p:spPr>
          <a:xfrm>
            <a:off x="777240" y="4251960"/>
            <a:ext cx="685800" cy="685800"/>
          </a:xfrm>
          <a:prstGeom prst="ellipse">
            <a:avLst/>
          </a:prstGeom>
          <a:solidFill>
            <a:schemeClr val="tx2"/>
          </a:solidFill>
          <a:ln w="12700">
            <a:solidFill>
              <a:schemeClr val="tx2"/>
            </a:solidFill>
            <a:prstDash val="solid"/>
          </a:ln>
        </p:spPr>
      </p:sp>
      <p:pic>
        <p:nvPicPr>
          <p:cNvPr id="21" name="Image 3" descr="preencoded.png">    </p:cNvPr>
          <p:cNvPicPr>
            <a:picLocks noChangeAspect="1"/>
          </p:cNvPicPr>
          <p:nvPr/>
        </p:nvPicPr>
        <p:blipFill>
          <a:blip r:embed="rId4"/>
          <a:stretch>
            <a:fillRect/>
          </a:stretch>
        </p:blipFill>
        <p:spPr>
          <a:xfrm>
            <a:off x="948690" y="4423410"/>
            <a:ext cx="342900" cy="342900"/>
          </a:xfrm>
          <a:prstGeom prst="rect">
            <a:avLst/>
          </a:prstGeom>
        </p:spPr>
      </p:pic>
      <p:sp>
        <p:nvSpPr>
          <p:cNvPr id="22" name="Text 16"/>
          <p:cNvSpPr txBox="1"/>
          <p:nvPr/>
        </p:nvSpPr>
        <p:spPr>
          <a:xfrm>
            <a:off x="1600200" y="4251960"/>
            <a:ext cx="2331720" cy="685800"/>
          </a:xfrm>
          <a:prstGeom prst="rect">
            <a:avLst/>
          </a:prstGeom>
          <a:noFill/>
          <a:ln/>
        </p:spPr>
        <p:txBody>
          <a:bodyPr wrap="square" lIns="0" tIns="0" rIns="0" bIns="0" rtlCol="0" anchor="ctr"/>
          <a:lstStyle/>
          <a:p>
            <a:pPr indent="0" marL="0">
              <a:buNone/>
            </a:pPr>
            <a:r>
              <a:rPr lang="en-US" sz="1700" b="1" dirty="0">
                <a:solidFill>
                  <a:schemeClr val="tx2"/>
                </a:solidFill>
              </a:rPr>
              <a:t>Referencia para verificar</a:t>
            </a:r>
            <a:endParaRPr lang="en-US" sz="1700" dirty="0"/>
          </a:p>
        </p:txBody>
      </p:sp>
      <p:sp>
        <p:nvSpPr>
          <p:cNvPr id="23" name="Text 17"/>
          <p:cNvSpPr txBox="1"/>
          <p:nvPr/>
        </p:nvSpPr>
        <p:spPr>
          <a:xfrm>
            <a:off x="777240" y="5074920"/>
            <a:ext cx="3108960" cy="822960"/>
          </a:xfrm>
          <a:prstGeom prst="rect">
            <a:avLst/>
          </a:prstGeom>
          <a:noFill/>
          <a:ln/>
        </p:spPr>
        <p:txBody>
          <a:bodyPr wrap="square" lIns="0" tIns="0" rIns="0" bIns="0" rtlCol="0" anchor="t"/>
          <a:lstStyle/>
          <a:p>
            <a:pPr indent="0" marL="0">
              <a:buNone/>
            </a:pPr>
            <a:r>
              <a:rPr lang="en-US" sz="1500" dirty="0">
                <a:solidFill>
                  <a:schemeClr val="tx1"/>
                </a:solidFill>
              </a:rPr>
              <a:t>Contra qué se compara el producto al probarlo.</a:t>
            </a:r>
            <a:endParaRPr lang="en-US" sz="1500" dirty="0"/>
          </a:p>
        </p:txBody>
      </p:sp>
      <p:sp>
        <p:nvSpPr>
          <p:cNvPr id="24" name="Shape 18"/>
          <p:cNvSpPr/>
          <p:nvPr/>
        </p:nvSpPr>
        <p:spPr>
          <a:xfrm>
            <a:off x="4297680" y="4023360"/>
            <a:ext cx="3520440" cy="2011680"/>
          </a:xfrm>
          <a:prstGeom prst="roundRect">
            <a:avLst>
              <a:gd name="adj" fmla="val 3636"/>
            </a:avLst>
          </a:prstGeom>
          <a:solidFill>
            <a:schemeClr val="bg2"/>
          </a:solidFill>
          <a:ln w="12700">
            <a:solidFill>
              <a:schemeClr val="accent3"/>
            </a:solidFill>
            <a:prstDash val="solid"/>
          </a:ln>
        </p:spPr>
      </p:sp>
      <p:sp>
        <p:nvSpPr>
          <p:cNvPr id="25" name="Shape 19"/>
          <p:cNvSpPr/>
          <p:nvPr/>
        </p:nvSpPr>
        <p:spPr>
          <a:xfrm>
            <a:off x="4526280" y="4251960"/>
            <a:ext cx="685800" cy="685800"/>
          </a:xfrm>
          <a:prstGeom prst="ellipse">
            <a:avLst/>
          </a:prstGeom>
          <a:solidFill>
            <a:schemeClr val="tx2"/>
          </a:solidFill>
          <a:ln w="12700">
            <a:solidFill>
              <a:schemeClr val="tx2"/>
            </a:solidFill>
            <a:prstDash val="solid"/>
          </a:ln>
        </p:spPr>
      </p:sp>
      <p:pic>
        <p:nvPicPr>
          <p:cNvPr id="26" name="Image 4" descr="preencoded.png">    </p:cNvPr>
          <p:cNvPicPr>
            <a:picLocks noChangeAspect="1"/>
          </p:cNvPicPr>
          <p:nvPr/>
        </p:nvPicPr>
        <p:blipFill>
          <a:blip r:embed="rId5"/>
          <a:stretch>
            <a:fillRect/>
          </a:stretch>
        </p:blipFill>
        <p:spPr>
          <a:xfrm>
            <a:off x="4697730" y="4423410"/>
            <a:ext cx="342900" cy="342900"/>
          </a:xfrm>
          <a:prstGeom prst="rect">
            <a:avLst/>
          </a:prstGeom>
        </p:spPr>
      </p:pic>
      <p:sp>
        <p:nvSpPr>
          <p:cNvPr id="27" name="Text 20"/>
          <p:cNvSpPr txBox="1"/>
          <p:nvPr/>
        </p:nvSpPr>
        <p:spPr>
          <a:xfrm>
            <a:off x="5349240" y="4251960"/>
            <a:ext cx="2331720" cy="685800"/>
          </a:xfrm>
          <a:prstGeom prst="rect">
            <a:avLst/>
          </a:prstGeom>
          <a:noFill/>
          <a:ln/>
        </p:spPr>
        <p:txBody>
          <a:bodyPr wrap="square" lIns="0" tIns="0" rIns="0" bIns="0" rtlCol="0" anchor="ctr"/>
          <a:lstStyle/>
          <a:p>
            <a:pPr indent="0" marL="0">
              <a:buNone/>
            </a:pPr>
            <a:r>
              <a:rPr lang="en-US" sz="1700" b="1" dirty="0">
                <a:solidFill>
                  <a:schemeClr val="tx2"/>
                </a:solidFill>
              </a:rPr>
              <a:t>Referencia para mantener</a:t>
            </a:r>
            <a:endParaRPr lang="en-US" sz="1700" dirty="0"/>
          </a:p>
        </p:txBody>
      </p:sp>
      <p:sp>
        <p:nvSpPr>
          <p:cNvPr id="28" name="Text 21"/>
          <p:cNvSpPr txBox="1"/>
          <p:nvPr/>
        </p:nvSpPr>
        <p:spPr>
          <a:xfrm>
            <a:off x="4526280" y="5074920"/>
            <a:ext cx="3108960" cy="822960"/>
          </a:xfrm>
          <a:prstGeom prst="rect">
            <a:avLst/>
          </a:prstGeom>
          <a:noFill/>
          <a:ln/>
        </p:spPr>
        <p:txBody>
          <a:bodyPr wrap="square" lIns="0" tIns="0" rIns="0" bIns="0" rtlCol="0" anchor="t"/>
          <a:lstStyle/>
          <a:p>
            <a:pPr indent="0" marL="0">
              <a:buNone/>
            </a:pPr>
            <a:r>
              <a:rPr lang="en-US" sz="1500" dirty="0">
                <a:solidFill>
                  <a:schemeClr val="tx1"/>
                </a:solidFill>
              </a:rPr>
              <a:t>Base para entender el sistema y hacerlo evolucionar.</a:t>
            </a:r>
            <a:endParaRPr lang="en-US" sz="1500" dirty="0"/>
          </a:p>
        </p:txBody>
      </p:sp>
      <p:sp>
        <p:nvSpPr>
          <p:cNvPr id="29" name="Shape 22"/>
          <p:cNvSpPr/>
          <p:nvPr/>
        </p:nvSpPr>
        <p:spPr>
          <a:xfrm>
            <a:off x="8046720" y="4023360"/>
            <a:ext cx="3520440" cy="2011680"/>
          </a:xfrm>
          <a:prstGeom prst="roundRect">
            <a:avLst>
              <a:gd name="adj" fmla="val 3636"/>
            </a:avLst>
          </a:prstGeom>
          <a:solidFill>
            <a:schemeClr val="accent1"/>
          </a:solidFill>
          <a:ln w="12700">
            <a:solidFill>
              <a:schemeClr val="accent1"/>
            </a:solidFill>
            <a:prstDash val="solid"/>
          </a:ln>
        </p:spPr>
      </p:sp>
      <p:sp>
        <p:nvSpPr>
          <p:cNvPr id="30" name="Shape 23"/>
          <p:cNvSpPr/>
          <p:nvPr/>
        </p:nvSpPr>
        <p:spPr>
          <a:xfrm>
            <a:off x="8275320" y="4251960"/>
            <a:ext cx="685800" cy="685800"/>
          </a:xfrm>
          <a:prstGeom prst="ellipse">
            <a:avLst/>
          </a:prstGeom>
          <a:solidFill>
            <a:schemeClr val="bg1"/>
          </a:solidFill>
          <a:ln w="12700">
            <a:solidFill>
              <a:schemeClr val="bg1"/>
            </a:solidFill>
            <a:prstDash val="solid"/>
          </a:ln>
        </p:spPr>
      </p:sp>
      <p:pic>
        <p:nvPicPr>
          <p:cNvPr id="31" name="Image 5" descr="preencoded.png">    </p:cNvPr>
          <p:cNvPicPr>
            <a:picLocks noChangeAspect="1"/>
          </p:cNvPicPr>
          <p:nvPr/>
        </p:nvPicPr>
        <p:blipFill>
          <a:blip r:embed="rId6"/>
          <a:stretch>
            <a:fillRect/>
          </a:stretch>
        </p:blipFill>
        <p:spPr>
          <a:xfrm>
            <a:off x="8446770" y="4423410"/>
            <a:ext cx="342900" cy="342900"/>
          </a:xfrm>
          <a:prstGeom prst="rect">
            <a:avLst/>
          </a:prstGeom>
        </p:spPr>
      </p:pic>
      <p:sp>
        <p:nvSpPr>
          <p:cNvPr id="32" name="Text 24"/>
          <p:cNvSpPr txBox="1"/>
          <p:nvPr/>
        </p:nvSpPr>
        <p:spPr>
          <a:xfrm>
            <a:off x="8275320" y="5029200"/>
            <a:ext cx="3108960" cy="914400"/>
          </a:xfrm>
          <a:prstGeom prst="rect">
            <a:avLst/>
          </a:prstGeom>
          <a:noFill/>
          <a:ln/>
        </p:spPr>
        <p:txBody>
          <a:bodyPr wrap="square" lIns="0" tIns="0" rIns="0" bIns="0" rtlCol="0" anchor="t"/>
          <a:lstStyle/>
          <a:p>
            <a:pPr indent="0" marL="0">
              <a:buNone/>
            </a:pPr>
            <a:r>
              <a:rPr lang="en-US" sz="1600" b="1" dirty="0">
                <a:solidFill>
                  <a:schemeClr val="bg1"/>
                </a:solidFill>
              </a:rPr>
              <a:t>Un error en la especificación se propaga a todo lo que se construye sobre ella.</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5.2 · ESPECIFICACIÓN DE CUALIDADES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Cualidades de una buena especificación</a:t>
            </a:r>
            <a:endParaRPr lang="en-US" sz="3400" dirty="0"/>
          </a:p>
        </p:txBody>
      </p:sp>
      <p:sp>
        <p:nvSpPr>
          <p:cNvPr id="4" name="Shape 2"/>
          <p:cNvSpPr/>
          <p:nvPr/>
        </p:nvSpPr>
        <p:spPr>
          <a:xfrm>
            <a:off x="548640" y="1783080"/>
            <a:ext cx="2606040" cy="3337560"/>
          </a:xfrm>
          <a:prstGeom prst="roundRect">
            <a:avLst>
              <a:gd name="adj" fmla="val 2807"/>
            </a:avLst>
          </a:prstGeom>
          <a:solidFill>
            <a:schemeClr val="bg2"/>
          </a:solidFill>
          <a:ln w="12700">
            <a:solidFill>
              <a:schemeClr val="accent3"/>
            </a:solidFill>
            <a:prstDash val="solid"/>
          </a:ln>
        </p:spPr>
      </p:sp>
      <p:sp>
        <p:nvSpPr>
          <p:cNvPr id="5" name="Shape 3"/>
          <p:cNvSpPr/>
          <p:nvPr/>
        </p:nvSpPr>
        <p:spPr>
          <a:xfrm>
            <a:off x="1417320" y="2011680"/>
            <a:ext cx="868680" cy="86868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1634490" y="2228850"/>
            <a:ext cx="434340" cy="434340"/>
          </a:xfrm>
          <a:prstGeom prst="rect">
            <a:avLst/>
          </a:prstGeom>
        </p:spPr>
      </p:pic>
      <p:sp>
        <p:nvSpPr>
          <p:cNvPr id="7" name="Text 4"/>
          <p:cNvSpPr txBox="1"/>
          <p:nvPr/>
        </p:nvSpPr>
        <p:spPr>
          <a:xfrm>
            <a:off x="731520" y="3017520"/>
            <a:ext cx="2240280" cy="685800"/>
          </a:xfrm>
          <a:prstGeom prst="rect">
            <a:avLst/>
          </a:prstGeom>
          <a:noFill/>
          <a:ln/>
        </p:spPr>
        <p:txBody>
          <a:bodyPr wrap="square" lIns="0" tIns="0" rIns="0" bIns="0" rtlCol="0" anchor="ctr"/>
          <a:lstStyle/>
          <a:p>
            <a:pPr algn="ctr" indent="0" marL="0">
              <a:buNone/>
            </a:pPr>
            <a:r>
              <a:rPr lang="en-US" sz="1800" b="1" dirty="0">
                <a:solidFill>
                  <a:schemeClr val="tx2"/>
                </a:solidFill>
              </a:rPr>
              <a:t>Clara y no ambigua</a:t>
            </a:r>
            <a:endParaRPr lang="en-US" sz="1800" dirty="0"/>
          </a:p>
        </p:txBody>
      </p:sp>
      <p:sp>
        <p:nvSpPr>
          <p:cNvPr id="8" name="Text 5"/>
          <p:cNvSpPr txBox="1"/>
          <p:nvPr/>
        </p:nvSpPr>
        <p:spPr>
          <a:xfrm>
            <a:off x="777240" y="3749040"/>
            <a:ext cx="2148840" cy="1280160"/>
          </a:xfrm>
          <a:prstGeom prst="rect">
            <a:avLst/>
          </a:prstGeom>
          <a:noFill/>
          <a:ln/>
        </p:spPr>
        <p:txBody>
          <a:bodyPr wrap="square" lIns="0" tIns="0" rIns="0" bIns="0" rtlCol="0" anchor="t"/>
          <a:lstStyle/>
          <a:p>
            <a:pPr indent="0" marL="0">
              <a:buNone/>
            </a:pPr>
            <a:r>
              <a:rPr lang="en-US" sz="1400" dirty="0">
                <a:solidFill>
                  <a:schemeClr val="tx1"/>
                </a:solidFill>
              </a:rPr>
              <a:t>Admite una sola interpretación. El lenguaje natural es la principal fuente de ambigüedad.</a:t>
            </a:r>
            <a:endParaRPr lang="en-US" sz="1400" dirty="0"/>
          </a:p>
        </p:txBody>
      </p:sp>
      <p:sp>
        <p:nvSpPr>
          <p:cNvPr id="9" name="Shape 6"/>
          <p:cNvSpPr/>
          <p:nvPr/>
        </p:nvSpPr>
        <p:spPr>
          <a:xfrm>
            <a:off x="3360420" y="1783080"/>
            <a:ext cx="2606040" cy="3337560"/>
          </a:xfrm>
          <a:prstGeom prst="roundRect">
            <a:avLst>
              <a:gd name="adj" fmla="val 2807"/>
            </a:avLst>
          </a:prstGeom>
          <a:solidFill>
            <a:schemeClr val="bg2"/>
          </a:solidFill>
          <a:ln w="12700">
            <a:solidFill>
              <a:schemeClr val="accent3"/>
            </a:solidFill>
            <a:prstDash val="solid"/>
          </a:ln>
        </p:spPr>
      </p:sp>
      <p:sp>
        <p:nvSpPr>
          <p:cNvPr id="10" name="Shape 7"/>
          <p:cNvSpPr/>
          <p:nvPr/>
        </p:nvSpPr>
        <p:spPr>
          <a:xfrm>
            <a:off x="4229100" y="2011680"/>
            <a:ext cx="868680" cy="86868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4446270" y="2228850"/>
            <a:ext cx="434340" cy="434340"/>
          </a:xfrm>
          <a:prstGeom prst="rect">
            <a:avLst/>
          </a:prstGeom>
        </p:spPr>
      </p:pic>
      <p:sp>
        <p:nvSpPr>
          <p:cNvPr id="12" name="Text 8"/>
          <p:cNvSpPr txBox="1"/>
          <p:nvPr/>
        </p:nvSpPr>
        <p:spPr>
          <a:xfrm>
            <a:off x="3543300" y="3017520"/>
            <a:ext cx="2240280" cy="685800"/>
          </a:xfrm>
          <a:prstGeom prst="rect">
            <a:avLst/>
          </a:prstGeom>
          <a:noFill/>
          <a:ln/>
        </p:spPr>
        <p:txBody>
          <a:bodyPr wrap="square" lIns="0" tIns="0" rIns="0" bIns="0" rtlCol="0" anchor="ctr"/>
          <a:lstStyle/>
          <a:p>
            <a:pPr algn="ctr" indent="0" marL="0">
              <a:buNone/>
            </a:pPr>
            <a:r>
              <a:rPr lang="en-US" sz="1800" b="1" dirty="0">
                <a:solidFill>
                  <a:schemeClr val="tx2"/>
                </a:solidFill>
              </a:rPr>
              <a:t>Consistente</a:t>
            </a:r>
            <a:endParaRPr lang="en-US" sz="1800" dirty="0"/>
          </a:p>
        </p:txBody>
      </p:sp>
      <p:sp>
        <p:nvSpPr>
          <p:cNvPr id="13" name="Text 9"/>
          <p:cNvSpPr txBox="1"/>
          <p:nvPr/>
        </p:nvSpPr>
        <p:spPr>
          <a:xfrm>
            <a:off x="3589020" y="3749040"/>
            <a:ext cx="2148840" cy="1280160"/>
          </a:xfrm>
          <a:prstGeom prst="rect">
            <a:avLst/>
          </a:prstGeom>
          <a:noFill/>
          <a:ln/>
        </p:spPr>
        <p:txBody>
          <a:bodyPr wrap="square" lIns="0" tIns="0" rIns="0" bIns="0" rtlCol="0" anchor="t"/>
          <a:lstStyle/>
          <a:p>
            <a:pPr indent="0" marL="0">
              <a:buNone/>
            </a:pPr>
            <a:r>
              <a:rPr lang="en-US" sz="1400" dirty="0">
                <a:solidFill>
                  <a:schemeClr val="tx1"/>
                </a:solidFill>
              </a:rPr>
              <a:t>No contiene contradicciones: no exige y prohíbe lo mismo a la vez.</a:t>
            </a:r>
            <a:endParaRPr lang="en-US" sz="1400" dirty="0"/>
          </a:p>
        </p:txBody>
      </p:sp>
      <p:sp>
        <p:nvSpPr>
          <p:cNvPr id="14" name="Shape 10"/>
          <p:cNvSpPr/>
          <p:nvPr/>
        </p:nvSpPr>
        <p:spPr>
          <a:xfrm>
            <a:off x="6172200" y="1783080"/>
            <a:ext cx="2606040" cy="3337560"/>
          </a:xfrm>
          <a:prstGeom prst="roundRect">
            <a:avLst>
              <a:gd name="adj" fmla="val 2807"/>
            </a:avLst>
          </a:prstGeom>
          <a:solidFill>
            <a:schemeClr val="bg2"/>
          </a:solidFill>
          <a:ln w="12700">
            <a:solidFill>
              <a:schemeClr val="accent3"/>
            </a:solidFill>
            <a:prstDash val="solid"/>
          </a:ln>
        </p:spPr>
      </p:sp>
      <p:sp>
        <p:nvSpPr>
          <p:cNvPr id="15" name="Shape 11"/>
          <p:cNvSpPr/>
          <p:nvPr/>
        </p:nvSpPr>
        <p:spPr>
          <a:xfrm>
            <a:off x="7040880" y="2011680"/>
            <a:ext cx="868680" cy="86868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7258050" y="2228850"/>
            <a:ext cx="434340" cy="434340"/>
          </a:xfrm>
          <a:prstGeom prst="rect">
            <a:avLst/>
          </a:prstGeom>
        </p:spPr>
      </p:pic>
      <p:sp>
        <p:nvSpPr>
          <p:cNvPr id="17" name="Text 12"/>
          <p:cNvSpPr txBox="1"/>
          <p:nvPr/>
        </p:nvSpPr>
        <p:spPr>
          <a:xfrm>
            <a:off x="6355080" y="3017520"/>
            <a:ext cx="2240280" cy="685800"/>
          </a:xfrm>
          <a:prstGeom prst="rect">
            <a:avLst/>
          </a:prstGeom>
          <a:noFill/>
          <a:ln/>
        </p:spPr>
        <p:txBody>
          <a:bodyPr wrap="square" lIns="0" tIns="0" rIns="0" bIns="0" rtlCol="0" anchor="ctr"/>
          <a:lstStyle/>
          <a:p>
            <a:pPr algn="ctr" indent="0" marL="0">
              <a:buNone/>
            </a:pPr>
            <a:r>
              <a:rPr lang="en-US" sz="1800" b="1" dirty="0">
                <a:solidFill>
                  <a:schemeClr val="tx2"/>
                </a:solidFill>
              </a:rPr>
              <a:t>Completa</a:t>
            </a:r>
            <a:endParaRPr lang="en-US" sz="1800" dirty="0"/>
          </a:p>
        </p:txBody>
      </p:sp>
      <p:sp>
        <p:nvSpPr>
          <p:cNvPr id="18" name="Text 13"/>
          <p:cNvSpPr txBox="1"/>
          <p:nvPr/>
        </p:nvSpPr>
        <p:spPr>
          <a:xfrm>
            <a:off x="6400800" y="3749040"/>
            <a:ext cx="2148840" cy="1280160"/>
          </a:xfrm>
          <a:prstGeom prst="rect">
            <a:avLst/>
          </a:prstGeom>
          <a:noFill/>
          <a:ln/>
        </p:spPr>
        <p:txBody>
          <a:bodyPr wrap="square" lIns="0" tIns="0" rIns="0" bIns="0" rtlCol="0" anchor="t"/>
          <a:lstStyle/>
          <a:p>
            <a:pPr indent="0" marL="0">
              <a:buNone/>
            </a:pPr>
            <a:r>
              <a:rPr lang="en-US" sz="1400" dirty="0">
                <a:solidFill>
                  <a:schemeClr val="tx1"/>
                </a:solidFill>
              </a:rPr>
              <a:t>Interna: todo término usado está definido. Externa: cubre todos los requisitos relevantes.</a:t>
            </a:r>
            <a:endParaRPr lang="en-US" sz="1400" dirty="0"/>
          </a:p>
        </p:txBody>
      </p:sp>
      <p:sp>
        <p:nvSpPr>
          <p:cNvPr id="19" name="Shape 14"/>
          <p:cNvSpPr/>
          <p:nvPr/>
        </p:nvSpPr>
        <p:spPr>
          <a:xfrm>
            <a:off x="8983980" y="1783080"/>
            <a:ext cx="2606040" cy="3337560"/>
          </a:xfrm>
          <a:prstGeom prst="roundRect">
            <a:avLst>
              <a:gd name="adj" fmla="val 2807"/>
            </a:avLst>
          </a:prstGeom>
          <a:solidFill>
            <a:schemeClr val="bg2"/>
          </a:solidFill>
          <a:ln w="12700">
            <a:solidFill>
              <a:schemeClr val="accent3"/>
            </a:solidFill>
            <a:prstDash val="solid"/>
          </a:ln>
        </p:spPr>
      </p:sp>
      <p:sp>
        <p:nvSpPr>
          <p:cNvPr id="20" name="Shape 15"/>
          <p:cNvSpPr/>
          <p:nvPr/>
        </p:nvSpPr>
        <p:spPr>
          <a:xfrm>
            <a:off x="9852660" y="2011680"/>
            <a:ext cx="868680" cy="868680"/>
          </a:xfrm>
          <a:prstGeom prst="ellipse">
            <a:avLst/>
          </a:prstGeom>
          <a:solidFill>
            <a:schemeClr val="tx2"/>
          </a:solidFill>
          <a:ln w="12700">
            <a:solidFill>
              <a:schemeClr val="tx2"/>
            </a:solidFill>
            <a:prstDash val="solid"/>
          </a:ln>
        </p:spPr>
      </p:sp>
      <p:pic>
        <p:nvPicPr>
          <p:cNvPr id="21" name="Image 3" descr="preencoded.png">    </p:cNvPr>
          <p:cNvPicPr>
            <a:picLocks noChangeAspect="1"/>
          </p:cNvPicPr>
          <p:nvPr/>
        </p:nvPicPr>
        <p:blipFill>
          <a:blip r:embed="rId4"/>
          <a:stretch>
            <a:fillRect/>
          </a:stretch>
        </p:blipFill>
        <p:spPr>
          <a:xfrm>
            <a:off x="10069830" y="2228850"/>
            <a:ext cx="434340" cy="434340"/>
          </a:xfrm>
          <a:prstGeom prst="rect">
            <a:avLst/>
          </a:prstGeom>
        </p:spPr>
      </p:pic>
      <p:sp>
        <p:nvSpPr>
          <p:cNvPr id="22" name="Text 16"/>
          <p:cNvSpPr txBox="1"/>
          <p:nvPr/>
        </p:nvSpPr>
        <p:spPr>
          <a:xfrm>
            <a:off x="9166860" y="3017520"/>
            <a:ext cx="2240280" cy="685800"/>
          </a:xfrm>
          <a:prstGeom prst="rect">
            <a:avLst/>
          </a:prstGeom>
          <a:noFill/>
          <a:ln/>
        </p:spPr>
        <p:txBody>
          <a:bodyPr wrap="square" lIns="0" tIns="0" rIns="0" bIns="0" rtlCol="0" anchor="ctr"/>
          <a:lstStyle/>
          <a:p>
            <a:pPr algn="ctr" indent="0" marL="0">
              <a:buNone/>
            </a:pPr>
            <a:r>
              <a:rPr lang="en-US" sz="1800" b="1" dirty="0">
                <a:solidFill>
                  <a:schemeClr val="tx2"/>
                </a:solidFill>
              </a:rPr>
              <a:t>Incremental</a:t>
            </a:r>
            <a:endParaRPr lang="en-US" sz="1800" dirty="0"/>
          </a:p>
        </p:txBody>
      </p:sp>
      <p:sp>
        <p:nvSpPr>
          <p:cNvPr id="23" name="Text 17"/>
          <p:cNvSpPr txBox="1"/>
          <p:nvPr/>
        </p:nvSpPr>
        <p:spPr>
          <a:xfrm>
            <a:off x="9212580" y="3749040"/>
            <a:ext cx="2148840" cy="1280160"/>
          </a:xfrm>
          <a:prstGeom prst="rect">
            <a:avLst/>
          </a:prstGeom>
          <a:noFill/>
          <a:ln/>
        </p:spPr>
        <p:txBody>
          <a:bodyPr wrap="square" lIns="0" tIns="0" rIns="0" bIns="0" rtlCol="0" anchor="t"/>
          <a:lstStyle/>
          <a:p>
            <a:pPr indent="0" marL="0">
              <a:buNone/>
            </a:pPr>
            <a:r>
              <a:rPr lang="en-US" sz="1400" dirty="0">
                <a:solidFill>
                  <a:schemeClr val="tx1"/>
                </a:solidFill>
              </a:rPr>
              <a:t>Se construye y valida por partes, agregando detalle de forma progresiva.</a:t>
            </a:r>
            <a:endParaRPr lang="en-US" sz="1400" dirty="0"/>
          </a:p>
        </p:txBody>
      </p:sp>
      <p:sp>
        <p:nvSpPr>
          <p:cNvPr id="24" name="Text 18"/>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700" i="1" dirty="0">
                <a:solidFill>
                  <a:schemeClr val="tx1"/>
                </a:solidFill>
              </a:rPr>
              <a:t>Son las mismas cualidades que exigimos al software (Unidad 2), </a:t>
            </a:r>
            <a:pPr indent="0" marL="0">
              <a:buNone/>
            </a:pPr>
            <a:r>
              <a:rPr lang="en-US" sz="1700" b="1" i="1" dirty="0">
                <a:solidFill>
                  <a:schemeClr val="accent1"/>
                </a:solidFill>
              </a:rPr>
              <a:t>aplicadas al documento que lo describe.</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5.2 · ESPECIFICACIÓN DE CUALIDADES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Ejemplo: una frase, dos significados</a:t>
            </a:r>
            <a:endParaRPr lang="en-US" sz="3400" dirty="0"/>
          </a:p>
        </p:txBody>
      </p:sp>
      <p:sp>
        <p:nvSpPr>
          <p:cNvPr id="4" name="Shape 2"/>
          <p:cNvSpPr/>
          <p:nvPr/>
        </p:nvSpPr>
        <p:spPr>
          <a:xfrm>
            <a:off x="548640" y="1737360"/>
            <a:ext cx="11064240" cy="1051560"/>
          </a:xfrm>
          <a:prstGeom prst="roundRect">
            <a:avLst>
              <a:gd name="adj" fmla="val 6957"/>
            </a:avLst>
          </a:prstGeom>
          <a:solidFill>
            <a:schemeClr val="accent4"/>
          </a:solidFill>
          <a:ln w="12700">
            <a:solidFill>
              <a:schemeClr val="accent4"/>
            </a:solidFill>
            <a:prstDash val="solid"/>
          </a:ln>
        </p:spPr>
      </p:sp>
      <p:sp>
        <p:nvSpPr>
          <p:cNvPr id="5" name="Text 3"/>
          <p:cNvSpPr txBox="1"/>
          <p:nvPr/>
        </p:nvSpPr>
        <p:spPr>
          <a:xfrm>
            <a:off x="822960" y="1783080"/>
            <a:ext cx="10515600" cy="960120"/>
          </a:xfrm>
          <a:prstGeom prst="rect">
            <a:avLst/>
          </a:prstGeom>
          <a:noFill/>
          <a:ln/>
        </p:spPr>
        <p:txBody>
          <a:bodyPr wrap="square" lIns="0" tIns="0" rIns="0" bIns="0" rtlCol="0" anchor="ctr"/>
          <a:lstStyle/>
          <a:p>
            <a:pPr indent="0" marL="0">
              <a:buNone/>
            </a:pPr>
            <a:r>
              <a:rPr lang="en-US" sz="1800" i="1" dirty="0">
                <a:solidFill>
                  <a:schemeClr val="accent1"/>
                </a:solidFill>
              </a:rPr>
              <a:t>«Puede rendir el final el alumno con asistencia mayor o igual al 70 % y trabajos prácticos aprobados o justificación del docente.»</a:t>
            </a:r>
            <a:endParaRPr lang="en-US" sz="1800" dirty="0"/>
          </a:p>
        </p:txBody>
      </p:sp>
      <p:sp>
        <p:nvSpPr>
          <p:cNvPr id="6" name="Shape 4"/>
          <p:cNvSpPr/>
          <p:nvPr/>
        </p:nvSpPr>
        <p:spPr>
          <a:xfrm>
            <a:off x="548640" y="3017520"/>
            <a:ext cx="5394960" cy="1828800"/>
          </a:xfrm>
          <a:prstGeom prst="roundRect">
            <a:avLst>
              <a:gd name="adj" fmla="val 4000"/>
            </a:avLst>
          </a:prstGeom>
          <a:solidFill>
            <a:schemeClr val="bg2"/>
          </a:solidFill>
          <a:ln w="12700">
            <a:solidFill>
              <a:schemeClr val="accent3"/>
            </a:solidFill>
            <a:prstDash val="solid"/>
          </a:ln>
        </p:spPr>
      </p:sp>
      <p:sp>
        <p:nvSpPr>
          <p:cNvPr id="7" name="Text 5"/>
          <p:cNvSpPr txBox="1"/>
          <p:nvPr/>
        </p:nvSpPr>
        <p:spPr>
          <a:xfrm>
            <a:off x="822960" y="3127248"/>
            <a:ext cx="4846320" cy="411480"/>
          </a:xfrm>
          <a:prstGeom prst="rect">
            <a:avLst/>
          </a:prstGeom>
          <a:noFill/>
          <a:ln/>
        </p:spPr>
        <p:txBody>
          <a:bodyPr wrap="square" lIns="0" tIns="0" rIns="0" bIns="0" rtlCol="0" anchor="t"/>
          <a:lstStyle/>
          <a:p>
            <a:pPr indent="0" marL="0">
              <a:buNone/>
            </a:pPr>
            <a:r>
              <a:rPr lang="en-US" sz="1800" b="1" dirty="0">
                <a:solidFill>
                  <a:schemeClr val="tx2"/>
                </a:solidFill>
              </a:rPr>
              <a:t>Lectura A</a:t>
            </a:r>
            <a:endParaRPr lang="en-US" sz="1800" dirty="0"/>
          </a:p>
        </p:txBody>
      </p:sp>
      <p:sp>
        <p:nvSpPr>
          <p:cNvPr id="8" name="Text 6"/>
          <p:cNvSpPr txBox="1"/>
          <p:nvPr/>
        </p:nvSpPr>
        <p:spPr>
          <a:xfrm>
            <a:off x="822960" y="3611880"/>
            <a:ext cx="4846320" cy="548640"/>
          </a:xfrm>
          <a:prstGeom prst="rect">
            <a:avLst/>
          </a:prstGeom>
          <a:noFill/>
          <a:ln/>
        </p:spPr>
        <p:txBody>
          <a:bodyPr wrap="square" lIns="0" tIns="0" rIns="0" bIns="0" rtlCol="0" anchor="ctr"/>
          <a:lstStyle/>
          <a:p>
            <a:pPr indent="0" marL="0">
              <a:buNone/>
            </a:pPr>
            <a:r>
              <a:rPr lang="en-US" sz="1500" dirty="0">
                <a:solidFill>
                  <a:schemeClr val="tx1"/>
                </a:solidFill>
                <a:latin typeface="Cambria Math" pitchFamily="34" charset="0"/>
                <a:ea typeface="Cambria Math" pitchFamily="34" charset="-122"/>
                <a:cs typeface="Cambria Math" pitchFamily="34" charset="-120"/>
              </a:rPr>
              <a:t>asistencia ≥ 70 %  ∧  (TP aprobados  ∨  justificación)</a:t>
            </a:r>
            <a:endParaRPr lang="en-US" sz="1500" dirty="0"/>
          </a:p>
        </p:txBody>
      </p:sp>
      <p:sp>
        <p:nvSpPr>
          <p:cNvPr id="9" name="Text 7"/>
          <p:cNvSpPr txBox="1"/>
          <p:nvPr/>
        </p:nvSpPr>
        <p:spPr>
          <a:xfrm>
            <a:off x="822960" y="4251960"/>
            <a:ext cx="4846320" cy="457200"/>
          </a:xfrm>
          <a:prstGeom prst="rect">
            <a:avLst/>
          </a:prstGeom>
          <a:noFill/>
          <a:ln/>
        </p:spPr>
        <p:txBody>
          <a:bodyPr wrap="square" lIns="0" tIns="0" rIns="0" bIns="0" rtlCol="0" anchor="t"/>
          <a:lstStyle/>
          <a:p>
            <a:pPr indent="0" marL="0">
              <a:buNone/>
            </a:pPr>
            <a:r>
              <a:rPr lang="en-US" sz="1500" dirty="0">
                <a:solidFill>
                  <a:schemeClr val="accent5"/>
                </a:solidFill>
              </a:rPr>
              <a:t>La justificación solo reemplaza a los TP.</a:t>
            </a:r>
            <a:endParaRPr lang="en-US" sz="1500" dirty="0"/>
          </a:p>
        </p:txBody>
      </p:sp>
      <p:sp>
        <p:nvSpPr>
          <p:cNvPr id="10" name="Shape 8"/>
          <p:cNvSpPr/>
          <p:nvPr/>
        </p:nvSpPr>
        <p:spPr>
          <a:xfrm>
            <a:off x="6217920" y="3017520"/>
            <a:ext cx="5394960" cy="1828800"/>
          </a:xfrm>
          <a:prstGeom prst="roundRect">
            <a:avLst>
              <a:gd name="adj" fmla="val 4000"/>
            </a:avLst>
          </a:prstGeom>
          <a:solidFill>
            <a:schemeClr val="bg2"/>
          </a:solidFill>
          <a:ln w="12700">
            <a:solidFill>
              <a:schemeClr val="accent3"/>
            </a:solidFill>
            <a:prstDash val="solid"/>
          </a:ln>
        </p:spPr>
      </p:sp>
      <p:sp>
        <p:nvSpPr>
          <p:cNvPr id="11" name="Text 9"/>
          <p:cNvSpPr txBox="1"/>
          <p:nvPr/>
        </p:nvSpPr>
        <p:spPr>
          <a:xfrm>
            <a:off x="6492240" y="3127248"/>
            <a:ext cx="4846320" cy="411480"/>
          </a:xfrm>
          <a:prstGeom prst="rect">
            <a:avLst/>
          </a:prstGeom>
          <a:noFill/>
          <a:ln/>
        </p:spPr>
        <p:txBody>
          <a:bodyPr wrap="square" lIns="0" tIns="0" rIns="0" bIns="0" rtlCol="0" anchor="t"/>
          <a:lstStyle/>
          <a:p>
            <a:pPr indent="0" marL="0">
              <a:buNone/>
            </a:pPr>
            <a:r>
              <a:rPr lang="en-US" sz="1800" b="1" dirty="0">
                <a:solidFill>
                  <a:schemeClr val="tx2"/>
                </a:solidFill>
              </a:rPr>
              <a:t>Lectura B</a:t>
            </a:r>
            <a:endParaRPr lang="en-US" sz="1800" dirty="0"/>
          </a:p>
        </p:txBody>
      </p:sp>
      <p:sp>
        <p:nvSpPr>
          <p:cNvPr id="12" name="Text 10"/>
          <p:cNvSpPr txBox="1"/>
          <p:nvPr/>
        </p:nvSpPr>
        <p:spPr>
          <a:xfrm>
            <a:off x="6492240" y="3611880"/>
            <a:ext cx="4846320" cy="548640"/>
          </a:xfrm>
          <a:prstGeom prst="rect">
            <a:avLst/>
          </a:prstGeom>
          <a:noFill/>
          <a:ln/>
        </p:spPr>
        <p:txBody>
          <a:bodyPr wrap="square" lIns="0" tIns="0" rIns="0" bIns="0" rtlCol="0" anchor="ctr"/>
          <a:lstStyle/>
          <a:p>
            <a:pPr indent="0" marL="0">
              <a:buNone/>
            </a:pPr>
            <a:r>
              <a:rPr lang="en-US" sz="1500" dirty="0">
                <a:solidFill>
                  <a:schemeClr val="tx1"/>
                </a:solidFill>
                <a:latin typeface="Cambria Math" pitchFamily="34" charset="0"/>
                <a:ea typeface="Cambria Math" pitchFamily="34" charset="-122"/>
                <a:cs typeface="Cambria Math" pitchFamily="34" charset="-120"/>
              </a:rPr>
              <a:t>(asistencia ≥ 70 %  ∧  TP aprobados)  ∨  justificación</a:t>
            </a:r>
            <a:endParaRPr lang="en-US" sz="1500" dirty="0"/>
          </a:p>
        </p:txBody>
      </p:sp>
      <p:sp>
        <p:nvSpPr>
          <p:cNvPr id="13" name="Text 11"/>
          <p:cNvSpPr txBox="1"/>
          <p:nvPr/>
        </p:nvSpPr>
        <p:spPr>
          <a:xfrm>
            <a:off x="6492240" y="4251960"/>
            <a:ext cx="4846320" cy="457200"/>
          </a:xfrm>
          <a:prstGeom prst="rect">
            <a:avLst/>
          </a:prstGeom>
          <a:noFill/>
          <a:ln/>
        </p:spPr>
        <p:txBody>
          <a:bodyPr wrap="square" lIns="0" tIns="0" rIns="0" bIns="0" rtlCol="0" anchor="t"/>
          <a:lstStyle/>
          <a:p>
            <a:pPr indent="0" marL="0">
              <a:buNone/>
            </a:pPr>
            <a:r>
              <a:rPr lang="en-US" sz="1500" dirty="0">
                <a:solidFill>
                  <a:schemeClr val="accent5"/>
                </a:solidFill>
              </a:rPr>
              <a:t>La justificación habilita por sí sola.</a:t>
            </a:r>
            <a:endParaRPr lang="en-US" sz="1500" dirty="0"/>
          </a:p>
        </p:txBody>
      </p:sp>
      <p:sp>
        <p:nvSpPr>
          <p:cNvPr id="14" name="Shape 12"/>
          <p:cNvSpPr/>
          <p:nvPr/>
        </p:nvSpPr>
        <p:spPr>
          <a:xfrm>
            <a:off x="548640" y="5138928"/>
            <a:ext cx="731520" cy="731520"/>
          </a:xfrm>
          <a:prstGeom prst="ellipse">
            <a:avLst/>
          </a:prstGeom>
          <a:solidFill>
            <a:schemeClr val="accent1"/>
          </a:solidFill>
          <a:ln w="12700">
            <a:solidFill>
              <a:schemeClr val="accent1"/>
            </a:solidFill>
            <a:prstDash val="solid"/>
          </a:ln>
        </p:spPr>
      </p:sp>
      <p:pic>
        <p:nvPicPr>
          <p:cNvPr id="15" name="Image 0" descr="preencoded.png">    </p:cNvPr>
          <p:cNvPicPr>
            <a:picLocks noChangeAspect="1"/>
          </p:cNvPicPr>
          <p:nvPr/>
        </p:nvPicPr>
        <p:blipFill>
          <a:blip r:embed="rId1"/>
          <a:stretch>
            <a:fillRect/>
          </a:stretch>
        </p:blipFill>
        <p:spPr>
          <a:xfrm>
            <a:off x="731520" y="5321808"/>
            <a:ext cx="365760" cy="365760"/>
          </a:xfrm>
          <a:prstGeom prst="rect">
            <a:avLst/>
          </a:prstGeom>
        </p:spPr>
      </p:pic>
      <p:sp>
        <p:nvSpPr>
          <p:cNvPr id="16" name="Text 13"/>
          <p:cNvSpPr txBox="1"/>
          <p:nvPr/>
        </p:nvSpPr>
        <p:spPr>
          <a:xfrm>
            <a:off x="1463040" y="5074920"/>
            <a:ext cx="10149840" cy="868680"/>
          </a:xfrm>
          <a:prstGeom prst="rect">
            <a:avLst/>
          </a:prstGeom>
          <a:noFill/>
          <a:ln/>
        </p:spPr>
        <p:txBody>
          <a:bodyPr wrap="square" lIns="0" tIns="0" rIns="0" bIns="0" rtlCol="0" anchor="ctr"/>
          <a:lstStyle/>
          <a:p>
            <a:pPr indent="0" marL="0">
              <a:buNone/>
            </a:pPr>
            <a:r>
              <a:rPr lang="en-US" sz="1600" dirty="0">
                <a:solidFill>
                  <a:schemeClr val="tx1"/>
                </a:solidFill>
              </a:rPr>
              <a:t>Caso: alumno con 40 % de asistencia y justificación →  </a:t>
            </a:r>
            <a:pPr indent="0" marL="0">
              <a:buNone/>
            </a:pPr>
            <a:r>
              <a:rPr lang="en-US" sz="1600" b="1" dirty="0">
                <a:solidFill>
                  <a:schemeClr val="accent1"/>
                </a:solidFill>
              </a:rPr>
              <a:t>A: no rinde · B: rinde.</a:t>
            </a:r>
            <a:pPr indent="0" marL="0">
              <a:buNone/>
            </a:pPr>
            <a:r>
              <a:rPr lang="en-US" sz="1600" dirty="0">
                <a:solidFill>
                  <a:schemeClr val="tx1"/>
                </a:solidFill>
              </a:rPr>
              <a:t>  La formalización obliga a elegir: la ambigüedad aparece al especificar, no al programar.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5.3 · CLASIFICACIÓN DE LOS ESTILOS DE ESPECIFICACIÓN</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Dos ejes para clasificar especificaciones</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011680"/>
                <a:gridCol w="3017520"/>
                <a:gridCol w="3017520"/>
                <a:gridCol w="3017520"/>
              </a:tblGrid>
              <a:tr h="502920">
                <a:tc>
                  <a:txBody>
                    <a:bodyPr/>
                    <a:lstStyle/>
                    <a:p>
                      <a:pPr algn="ctr" indent="0" marL="0">
                        <a:buNone/>
                      </a:pP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Informal</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Semiformal</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Formal</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r>
              <a:tr h="868680">
                <a:tc>
                  <a:txBody>
                    <a:bodyPr/>
                    <a:lstStyle/>
                    <a:p>
                      <a:pPr indent="0" marL="0">
                        <a:buNone/>
                      </a:pPr>
                      <a:r>
                        <a:rPr lang="en-US" sz="1600" b="1" dirty="0">
                          <a:solidFill>
                            <a:schemeClr val="accent1"/>
                          </a:solidFill>
                        </a:rPr>
                        <a:t>Operacional</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accent4"/>
                    </a:solidFill>
                  </a:tcPr>
                </a:tc>
                <a:tc>
                  <a:txBody>
                    <a:bodyPr/>
                    <a:lstStyle/>
                    <a:p>
                      <a:pPr indent="0" marL="0">
                        <a:buNone/>
                      </a:pPr>
                      <a:r>
                        <a:rPr lang="en-US" sz="1500" dirty="0">
                          <a:solidFill>
                            <a:schemeClr val="tx1"/>
                          </a:solidFill>
                        </a:rPr>
                        <a:t>Descripción narrativa de un procedimiento</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indent="0" marL="0">
                        <a:buNone/>
                      </a:pPr>
                      <a:r>
                        <a:rPr lang="en-US" sz="1500" dirty="0">
                          <a:solidFill>
                            <a:schemeClr val="tx1"/>
                          </a:solidFill>
                        </a:rPr>
                        <a:t>DFD, diagramas de actividad UML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indent="0" marL="0">
                        <a:buNone/>
                      </a:pPr>
                      <a:r>
                        <a:rPr lang="en-US" sz="1500" dirty="0">
                          <a:solidFill>
                            <a:schemeClr val="tx1"/>
                          </a:solidFill>
                        </a:rPr>
                        <a:t>Máquinas de estados finitos, redes de Petri</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r>
              <a:tr h="868680">
                <a:tc>
                  <a:txBody>
                    <a:bodyPr/>
                    <a:lstStyle/>
                    <a:p>
                      <a:pPr indent="0" marL="0">
                        <a:buNone/>
                      </a:pPr>
                      <a:r>
                        <a:rPr lang="en-US" sz="1600" b="1" dirty="0">
                          <a:solidFill>
                            <a:schemeClr val="accent1"/>
                          </a:solidFill>
                        </a:rPr>
                        <a:t>Descriptiva</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accent4"/>
                    </a:solidFill>
                  </a:tcPr>
                </a:tc>
                <a:tc>
                  <a:txBody>
                    <a:bodyPr/>
                    <a:lstStyle/>
                    <a:p>
                      <a:pPr indent="0" marL="0">
                        <a:buNone/>
                      </a:pPr>
                      <a:r>
                        <a:rPr lang="en-US" sz="1500" dirty="0">
                          <a:solidFill>
                            <a:schemeClr val="tx1"/>
                          </a:solidFill>
                        </a:rPr>
                        <a:t>Lista de requisitos en lenguaje natural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indent="0" marL="0">
                        <a:buNone/>
                      </a:pPr>
                      <a:r>
                        <a:rPr lang="en-US" sz="1500" dirty="0">
                          <a:solidFill>
                            <a:schemeClr val="tx1"/>
                          </a:solidFill>
                        </a:rPr>
                        <a:t>Diagramas E-R, diagramas de clases</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indent="0" marL="0">
                        <a:buNone/>
                      </a:pPr>
                      <a:r>
                        <a:rPr lang="en-US" sz="1500" dirty="0">
                          <a:solidFill>
                            <a:schemeClr val="tx1"/>
                          </a:solidFill>
                        </a:rPr>
                        <a:t>Lógica, especificaciones algebraicas, Z</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r>
            </a:tbl>
          </a:graphicData>
        </a:graphic>
      </p:graphicFrame>
      <p:sp>
        <p:nvSpPr>
          <p:cNvPr id="5" name="Shape 2"/>
          <p:cNvSpPr/>
          <p:nvPr/>
        </p:nvSpPr>
        <p:spPr>
          <a:xfrm>
            <a:off x="548640" y="4343400"/>
            <a:ext cx="3520440" cy="1737360"/>
          </a:xfrm>
          <a:prstGeom prst="roundRect">
            <a:avLst>
              <a:gd name="adj" fmla="val 4211"/>
            </a:avLst>
          </a:prstGeom>
          <a:solidFill>
            <a:schemeClr val="bg2"/>
          </a:solidFill>
          <a:ln w="12700">
            <a:solidFill>
              <a:schemeClr val="accent3"/>
            </a:solidFill>
            <a:prstDash val="solid"/>
          </a:ln>
        </p:spPr>
      </p:sp>
      <p:sp>
        <p:nvSpPr>
          <p:cNvPr id="6" name="Shape 3"/>
          <p:cNvSpPr/>
          <p:nvPr/>
        </p:nvSpPr>
        <p:spPr>
          <a:xfrm>
            <a:off x="731520" y="4526280"/>
            <a:ext cx="594360" cy="594360"/>
          </a:xfrm>
          <a:prstGeom prst="ellipse">
            <a:avLst/>
          </a:prstGeom>
          <a:solidFill>
            <a:schemeClr val="tx2"/>
          </a:solidFill>
          <a:ln w="12700">
            <a:solidFill>
              <a:schemeClr val="tx2"/>
            </a:solidFill>
            <a:prstDash val="solid"/>
          </a:ln>
        </p:spPr>
      </p:sp>
      <p:pic>
        <p:nvPicPr>
          <p:cNvPr id="7" name="Image 0" descr="preencoded.png">    </p:cNvPr>
          <p:cNvPicPr>
            <a:picLocks noChangeAspect="1"/>
          </p:cNvPicPr>
          <p:nvPr/>
        </p:nvPicPr>
        <p:blipFill>
          <a:blip r:embed="rId1"/>
          <a:stretch>
            <a:fillRect/>
          </a:stretch>
        </p:blipFill>
        <p:spPr>
          <a:xfrm>
            <a:off x="880110" y="4674870"/>
            <a:ext cx="297180" cy="297180"/>
          </a:xfrm>
          <a:prstGeom prst="rect">
            <a:avLst/>
          </a:prstGeom>
        </p:spPr>
      </p:pic>
      <p:sp>
        <p:nvSpPr>
          <p:cNvPr id="8" name="Text 4"/>
          <p:cNvSpPr txBox="1"/>
          <p:nvPr/>
        </p:nvSpPr>
        <p:spPr>
          <a:xfrm>
            <a:off x="1463040" y="452628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Operacional</a:t>
            </a:r>
            <a:endParaRPr lang="en-US" sz="1700" dirty="0"/>
          </a:p>
        </p:txBody>
      </p:sp>
      <p:sp>
        <p:nvSpPr>
          <p:cNvPr id="9" name="Text 5"/>
          <p:cNvSpPr txBox="1"/>
          <p:nvPr/>
        </p:nvSpPr>
        <p:spPr>
          <a:xfrm>
            <a:off x="731520" y="5212080"/>
            <a:ext cx="3154680" cy="822960"/>
          </a:xfrm>
          <a:prstGeom prst="rect">
            <a:avLst/>
          </a:prstGeom>
          <a:noFill/>
          <a:ln/>
        </p:spPr>
        <p:txBody>
          <a:bodyPr wrap="square" lIns="0" tIns="0" rIns="0" bIns="0" rtlCol="0" anchor="t"/>
          <a:lstStyle/>
          <a:p>
            <a:pPr indent="0" marL="0">
              <a:buNone/>
            </a:pPr>
            <a:r>
              <a:rPr lang="en-US" sz="1350" dirty="0">
                <a:solidFill>
                  <a:schemeClr val="tx1"/>
                </a:solidFill>
              </a:rPr>
              <a:t>Describe el sistema mediante un modelo de su comportamiento: una «máquina abstracta» que puede simularse.</a:t>
            </a:r>
            <a:endParaRPr lang="en-US" sz="1350" dirty="0"/>
          </a:p>
        </p:txBody>
      </p:sp>
      <p:sp>
        <p:nvSpPr>
          <p:cNvPr id="10" name="Shape 6"/>
          <p:cNvSpPr/>
          <p:nvPr/>
        </p:nvSpPr>
        <p:spPr>
          <a:xfrm>
            <a:off x="4297680" y="4343400"/>
            <a:ext cx="3520440" cy="1737360"/>
          </a:xfrm>
          <a:prstGeom prst="roundRect">
            <a:avLst>
              <a:gd name="adj" fmla="val 4211"/>
            </a:avLst>
          </a:prstGeom>
          <a:solidFill>
            <a:schemeClr val="bg2"/>
          </a:solidFill>
          <a:ln w="12700">
            <a:solidFill>
              <a:schemeClr val="accent3"/>
            </a:solidFill>
            <a:prstDash val="solid"/>
          </a:ln>
        </p:spPr>
      </p:sp>
      <p:sp>
        <p:nvSpPr>
          <p:cNvPr id="11" name="Shape 7"/>
          <p:cNvSpPr/>
          <p:nvPr/>
        </p:nvSpPr>
        <p:spPr>
          <a:xfrm>
            <a:off x="4480560" y="4526280"/>
            <a:ext cx="594360" cy="594360"/>
          </a:xfrm>
          <a:prstGeom prst="ellipse">
            <a:avLst/>
          </a:prstGeom>
          <a:solidFill>
            <a:schemeClr val="tx2"/>
          </a:solidFill>
          <a:ln w="12700">
            <a:solidFill>
              <a:schemeClr val="tx2"/>
            </a:solidFill>
            <a:prstDash val="solid"/>
          </a:ln>
        </p:spPr>
      </p:sp>
      <p:pic>
        <p:nvPicPr>
          <p:cNvPr id="12" name="Image 1" descr="preencoded.png">    </p:cNvPr>
          <p:cNvPicPr>
            <a:picLocks noChangeAspect="1"/>
          </p:cNvPicPr>
          <p:nvPr/>
        </p:nvPicPr>
        <p:blipFill>
          <a:blip r:embed="rId2"/>
          <a:stretch>
            <a:fillRect/>
          </a:stretch>
        </p:blipFill>
        <p:spPr>
          <a:xfrm>
            <a:off x="4629150" y="4674870"/>
            <a:ext cx="297180" cy="297180"/>
          </a:xfrm>
          <a:prstGeom prst="rect">
            <a:avLst/>
          </a:prstGeom>
        </p:spPr>
      </p:pic>
      <p:sp>
        <p:nvSpPr>
          <p:cNvPr id="13" name="Text 8"/>
          <p:cNvSpPr txBox="1"/>
          <p:nvPr/>
        </p:nvSpPr>
        <p:spPr>
          <a:xfrm>
            <a:off x="5212080" y="452628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Descriptiva</a:t>
            </a:r>
            <a:endParaRPr lang="en-US" sz="1700" dirty="0"/>
          </a:p>
        </p:txBody>
      </p:sp>
      <p:sp>
        <p:nvSpPr>
          <p:cNvPr id="14" name="Text 9"/>
          <p:cNvSpPr txBox="1"/>
          <p:nvPr/>
        </p:nvSpPr>
        <p:spPr>
          <a:xfrm>
            <a:off x="4480560" y="5212080"/>
            <a:ext cx="3154680" cy="822960"/>
          </a:xfrm>
          <a:prstGeom prst="rect">
            <a:avLst/>
          </a:prstGeom>
          <a:noFill/>
          <a:ln/>
        </p:spPr>
        <p:txBody>
          <a:bodyPr wrap="square" lIns="0" tIns="0" rIns="0" bIns="0" rtlCol="0" anchor="t"/>
          <a:lstStyle/>
          <a:p>
            <a:pPr indent="0" marL="0">
              <a:buNone/>
            </a:pPr>
            <a:r>
              <a:rPr lang="en-US" sz="1350" dirty="0">
                <a:solidFill>
                  <a:schemeClr val="tx1"/>
                </a:solidFill>
              </a:rPr>
              <a:t>Enuncia las propiedades que el sistema debe satisfacer, sin proponer un mecanismo.</a:t>
            </a:r>
            <a:endParaRPr lang="en-US" sz="1350" dirty="0"/>
          </a:p>
        </p:txBody>
      </p:sp>
      <p:sp>
        <p:nvSpPr>
          <p:cNvPr id="15" name="Shape 10"/>
          <p:cNvSpPr/>
          <p:nvPr/>
        </p:nvSpPr>
        <p:spPr>
          <a:xfrm>
            <a:off x="8046720" y="4343400"/>
            <a:ext cx="3520440" cy="1737360"/>
          </a:xfrm>
          <a:prstGeom prst="roundRect">
            <a:avLst>
              <a:gd name="adj" fmla="val 4211"/>
            </a:avLst>
          </a:prstGeom>
          <a:solidFill>
            <a:schemeClr val="bg2"/>
          </a:solidFill>
          <a:ln w="12700">
            <a:solidFill>
              <a:schemeClr val="accent3"/>
            </a:solidFill>
            <a:prstDash val="solid"/>
          </a:ln>
        </p:spPr>
      </p:sp>
      <p:sp>
        <p:nvSpPr>
          <p:cNvPr id="16" name="Shape 11"/>
          <p:cNvSpPr/>
          <p:nvPr/>
        </p:nvSpPr>
        <p:spPr>
          <a:xfrm>
            <a:off x="8229600" y="4526280"/>
            <a:ext cx="594360" cy="594360"/>
          </a:xfrm>
          <a:prstGeom prst="ellipse">
            <a:avLst/>
          </a:prstGeom>
          <a:solidFill>
            <a:schemeClr val="accent2"/>
          </a:solidFill>
          <a:ln w="12700">
            <a:solidFill>
              <a:schemeClr val="accent2"/>
            </a:solidFill>
            <a:prstDash val="solid"/>
          </a:ln>
        </p:spPr>
      </p:sp>
      <p:pic>
        <p:nvPicPr>
          <p:cNvPr id="17" name="Image 2" descr="preencoded.png">    </p:cNvPr>
          <p:cNvPicPr>
            <a:picLocks noChangeAspect="1"/>
          </p:cNvPicPr>
          <p:nvPr/>
        </p:nvPicPr>
        <p:blipFill>
          <a:blip r:embed="rId3"/>
          <a:stretch>
            <a:fillRect/>
          </a:stretch>
        </p:blipFill>
        <p:spPr>
          <a:xfrm>
            <a:off x="8378190" y="4674870"/>
            <a:ext cx="297180" cy="297180"/>
          </a:xfrm>
          <a:prstGeom prst="rect">
            <a:avLst/>
          </a:prstGeom>
        </p:spPr>
      </p:pic>
      <p:sp>
        <p:nvSpPr>
          <p:cNvPr id="18" name="Text 12"/>
          <p:cNvSpPr txBox="1"/>
          <p:nvPr/>
        </p:nvSpPr>
        <p:spPr>
          <a:xfrm>
            <a:off x="8961120" y="452628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Formalidad</a:t>
            </a:r>
            <a:endParaRPr lang="en-US" sz="1700" dirty="0"/>
          </a:p>
        </p:txBody>
      </p:sp>
      <p:sp>
        <p:nvSpPr>
          <p:cNvPr id="19" name="Text 13"/>
          <p:cNvSpPr txBox="1"/>
          <p:nvPr/>
        </p:nvSpPr>
        <p:spPr>
          <a:xfrm>
            <a:off x="8229600" y="5212080"/>
            <a:ext cx="3154680" cy="822960"/>
          </a:xfrm>
          <a:prstGeom prst="rect">
            <a:avLst/>
          </a:prstGeom>
          <a:noFill/>
          <a:ln/>
        </p:spPr>
        <p:txBody>
          <a:bodyPr wrap="square" lIns="0" tIns="0" rIns="0" bIns="0" rtlCol="0" anchor="t"/>
          <a:lstStyle/>
          <a:p>
            <a:pPr indent="0" marL="0">
              <a:buNone/>
            </a:pPr>
            <a:r>
              <a:rPr lang="en-US" sz="1350" dirty="0">
                <a:solidFill>
                  <a:schemeClr val="tx1"/>
                </a:solidFill>
              </a:rPr>
              <a:t>Cuánto está definida la semántica de la notación: de libre interpretación a matemáticamente precisa.</a:t>
            </a:r>
            <a:endParaRPr lang="en-US" sz="13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5.3 · CLASIFICACIÓN DE LOS ESTILOS DE ESPECIFICACIÓN</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Operacional vs. descriptiva: el mismo objeto</a:t>
            </a:r>
            <a:endParaRPr lang="en-US" sz="3400" dirty="0"/>
          </a:p>
        </p:txBody>
      </p:sp>
      <p:sp>
        <p:nvSpPr>
          <p:cNvPr id="4" name="Text 2"/>
          <p:cNvSpPr txBox="1"/>
          <p:nvPr/>
        </p:nvSpPr>
        <p:spPr>
          <a:xfrm>
            <a:off x="2743200" y="1691640"/>
            <a:ext cx="4297680" cy="411480"/>
          </a:xfrm>
          <a:prstGeom prst="rect">
            <a:avLst/>
          </a:prstGeom>
          <a:noFill/>
          <a:ln/>
        </p:spPr>
        <p:txBody>
          <a:bodyPr wrap="square" lIns="0" tIns="0" rIns="0" bIns="0" rtlCol="0" anchor="t"/>
          <a:lstStyle/>
          <a:p>
            <a:pPr algn="ctr" indent="0" marL="0">
              <a:buNone/>
            </a:pPr>
            <a:r>
              <a:rPr lang="en-US" sz="1800" b="1" dirty="0">
                <a:solidFill>
                  <a:schemeClr val="tx2"/>
                </a:solidFill>
              </a:rPr>
              <a:t>Operacional</a:t>
            </a:r>
            <a:endParaRPr lang="en-US" sz="1800" dirty="0"/>
          </a:p>
        </p:txBody>
      </p:sp>
      <p:sp>
        <p:nvSpPr>
          <p:cNvPr id="5" name="Text 3"/>
          <p:cNvSpPr txBox="1"/>
          <p:nvPr/>
        </p:nvSpPr>
        <p:spPr>
          <a:xfrm>
            <a:off x="7315200" y="1691640"/>
            <a:ext cx="4297680" cy="411480"/>
          </a:xfrm>
          <a:prstGeom prst="rect">
            <a:avLst/>
          </a:prstGeom>
          <a:noFill/>
          <a:ln/>
        </p:spPr>
        <p:txBody>
          <a:bodyPr wrap="square" lIns="0" tIns="0" rIns="0" bIns="0" rtlCol="0" anchor="t"/>
          <a:lstStyle/>
          <a:p>
            <a:pPr algn="ctr" indent="0" marL="0">
              <a:buNone/>
            </a:pPr>
            <a:r>
              <a:rPr lang="en-US" sz="1800" b="1" dirty="0">
                <a:solidFill>
                  <a:schemeClr val="tx2"/>
                </a:solidFill>
              </a:rPr>
              <a:t>Descriptiva</a:t>
            </a:r>
            <a:endParaRPr lang="en-US" sz="1800" dirty="0"/>
          </a:p>
        </p:txBody>
      </p:sp>
      <p:sp>
        <p:nvSpPr>
          <p:cNvPr id="6" name="Shape 4"/>
          <p:cNvSpPr/>
          <p:nvPr/>
        </p:nvSpPr>
        <p:spPr>
          <a:xfrm>
            <a:off x="548640" y="2194560"/>
            <a:ext cx="2011680" cy="1737360"/>
          </a:xfrm>
          <a:prstGeom prst="roundRect">
            <a:avLst>
              <a:gd name="adj" fmla="val 4211"/>
            </a:avLst>
          </a:prstGeom>
          <a:solidFill>
            <a:schemeClr val="tx2"/>
          </a:solidFill>
          <a:ln w="12700">
            <a:solidFill>
              <a:schemeClr val="tx2"/>
            </a:solidFill>
            <a:prstDash val="solid"/>
          </a:ln>
        </p:spPr>
      </p:sp>
      <p:sp>
        <p:nvSpPr>
          <p:cNvPr id="7" name="Text 5"/>
          <p:cNvSpPr txBox="1"/>
          <p:nvPr/>
        </p:nvSpPr>
        <p:spPr>
          <a:xfrm>
            <a:off x="594360" y="2194560"/>
            <a:ext cx="1920240" cy="1737360"/>
          </a:xfrm>
          <a:prstGeom prst="rect">
            <a:avLst/>
          </a:prstGeom>
          <a:noFill/>
          <a:ln/>
        </p:spPr>
        <p:txBody>
          <a:bodyPr wrap="square" lIns="0" tIns="0" rIns="0" bIns="0" rtlCol="0" anchor="ctr"/>
          <a:lstStyle/>
          <a:p>
            <a:pPr algn="ctr" indent="0" marL="0">
              <a:buNone/>
            </a:pPr>
            <a:r>
              <a:rPr lang="en-US" sz="1700" b="1" dirty="0">
                <a:solidFill>
                  <a:schemeClr val="bg1"/>
                </a:solidFill>
              </a:rPr>
              <a:t>Circunferencia</a:t>
            </a:r>
            <a:endParaRPr lang="en-US" sz="1700" dirty="0"/>
          </a:p>
        </p:txBody>
      </p:sp>
      <p:sp>
        <p:nvSpPr>
          <p:cNvPr id="8" name="Shape 6"/>
          <p:cNvSpPr/>
          <p:nvPr/>
        </p:nvSpPr>
        <p:spPr>
          <a:xfrm>
            <a:off x="2743200" y="2194560"/>
            <a:ext cx="4297680" cy="1737360"/>
          </a:xfrm>
          <a:prstGeom prst="roundRect">
            <a:avLst>
              <a:gd name="adj" fmla="val 4211"/>
            </a:avLst>
          </a:prstGeom>
          <a:solidFill>
            <a:schemeClr val="bg2"/>
          </a:solidFill>
          <a:ln w="12700">
            <a:solidFill>
              <a:schemeClr val="accent3"/>
            </a:solidFill>
            <a:prstDash val="solid"/>
          </a:ln>
        </p:spPr>
      </p:sp>
      <p:sp>
        <p:nvSpPr>
          <p:cNvPr id="9" name="Text 7"/>
          <p:cNvSpPr txBox="1"/>
          <p:nvPr/>
        </p:nvSpPr>
        <p:spPr>
          <a:xfrm>
            <a:off x="2971800" y="2331720"/>
            <a:ext cx="3840480" cy="1463040"/>
          </a:xfrm>
          <a:prstGeom prst="rect">
            <a:avLst/>
          </a:prstGeom>
          <a:noFill/>
          <a:ln/>
        </p:spPr>
        <p:txBody>
          <a:bodyPr wrap="square" lIns="0" tIns="0" rIns="0" bIns="0" rtlCol="0" anchor="ctr"/>
          <a:lstStyle/>
          <a:p>
            <a:pPr indent="0" marL="0">
              <a:buNone/>
            </a:pPr>
            <a:r>
              <a:rPr lang="en-US" sz="1600" dirty="0">
                <a:solidFill>
                  <a:schemeClr val="tx1"/>
                </a:solidFill>
              </a:rPr>
              <a:t>La curva que traza el extremo de una cuerda de largo r que gira alrededor de un punto fijo.</a:t>
            </a:r>
            <a:endParaRPr lang="en-US" sz="1600" dirty="0"/>
          </a:p>
        </p:txBody>
      </p:sp>
      <p:sp>
        <p:nvSpPr>
          <p:cNvPr id="10" name="Shape 8"/>
          <p:cNvSpPr/>
          <p:nvPr/>
        </p:nvSpPr>
        <p:spPr>
          <a:xfrm>
            <a:off x="7315200" y="2194560"/>
            <a:ext cx="4297680" cy="1737360"/>
          </a:xfrm>
          <a:prstGeom prst="roundRect">
            <a:avLst>
              <a:gd name="adj" fmla="val 4211"/>
            </a:avLst>
          </a:prstGeom>
          <a:solidFill>
            <a:schemeClr val="accent4"/>
          </a:solidFill>
          <a:ln w="12700">
            <a:solidFill>
              <a:schemeClr val="accent4"/>
            </a:solidFill>
            <a:prstDash val="solid"/>
          </a:ln>
        </p:spPr>
      </p:sp>
      <p:sp>
        <p:nvSpPr>
          <p:cNvPr id="11" name="Text 9"/>
          <p:cNvSpPr txBox="1"/>
          <p:nvPr/>
        </p:nvSpPr>
        <p:spPr>
          <a:xfrm>
            <a:off x="7543800" y="2331720"/>
            <a:ext cx="3840480" cy="1463040"/>
          </a:xfrm>
          <a:prstGeom prst="rect">
            <a:avLst/>
          </a:prstGeom>
          <a:noFill/>
          <a:ln/>
        </p:spPr>
        <p:txBody>
          <a:bodyPr wrap="square" lIns="0" tIns="0" rIns="0" bIns="0" rtlCol="0" anchor="ctr"/>
          <a:lstStyle/>
          <a:p>
            <a:pPr indent="0" marL="0">
              <a:buNone/>
            </a:pPr>
            <a:r>
              <a:rPr lang="en-US" sz="1600" dirty="0">
                <a:solidFill>
                  <a:schemeClr val="accent1"/>
                </a:solidFill>
                <a:latin typeface="Cambria Math" pitchFamily="34" charset="0"/>
                <a:ea typeface="Cambria Math" pitchFamily="34" charset="-122"/>
                <a:cs typeface="Cambria Math" pitchFamily="34" charset="-120"/>
              </a:rPr>
              <a:t>El conjunto de puntos (x, y) tales que  x² + y² = r²</a:t>
            </a:r>
            <a:endParaRPr lang="en-US" sz="1600" dirty="0"/>
          </a:p>
        </p:txBody>
      </p:sp>
      <p:sp>
        <p:nvSpPr>
          <p:cNvPr id="12" name="Shape 10"/>
          <p:cNvSpPr/>
          <p:nvPr/>
        </p:nvSpPr>
        <p:spPr>
          <a:xfrm>
            <a:off x="548640" y="4160520"/>
            <a:ext cx="2011680" cy="1737360"/>
          </a:xfrm>
          <a:prstGeom prst="roundRect">
            <a:avLst>
              <a:gd name="adj" fmla="val 4211"/>
            </a:avLst>
          </a:prstGeom>
          <a:solidFill>
            <a:schemeClr val="tx2"/>
          </a:solidFill>
          <a:ln w="12700">
            <a:solidFill>
              <a:schemeClr val="tx2"/>
            </a:solidFill>
            <a:prstDash val="solid"/>
          </a:ln>
        </p:spPr>
      </p:sp>
      <p:sp>
        <p:nvSpPr>
          <p:cNvPr id="13" name="Text 11"/>
          <p:cNvSpPr txBox="1"/>
          <p:nvPr/>
        </p:nvSpPr>
        <p:spPr>
          <a:xfrm>
            <a:off x="594360" y="4160520"/>
            <a:ext cx="1920240" cy="1737360"/>
          </a:xfrm>
          <a:prstGeom prst="rect">
            <a:avLst/>
          </a:prstGeom>
          <a:noFill/>
          <a:ln/>
        </p:spPr>
        <p:txBody>
          <a:bodyPr wrap="square" lIns="0" tIns="0" rIns="0" bIns="0" rtlCol="0" anchor="ctr"/>
          <a:lstStyle/>
          <a:p>
            <a:pPr algn="ctr" indent="0" marL="0">
              <a:buNone/>
            </a:pPr>
            <a:r>
              <a:rPr lang="en-US" sz="1700" b="1" dirty="0">
                <a:solidFill>
                  <a:schemeClr val="bg1"/>
                </a:solidFill>
              </a:rPr>
              <a:t>Ordenamiento</a:t>
            </a:r>
            <a:endParaRPr lang="en-US" sz="1700" dirty="0"/>
          </a:p>
        </p:txBody>
      </p:sp>
      <p:sp>
        <p:nvSpPr>
          <p:cNvPr id="14" name="Shape 12"/>
          <p:cNvSpPr/>
          <p:nvPr/>
        </p:nvSpPr>
        <p:spPr>
          <a:xfrm>
            <a:off x="2743200" y="4160520"/>
            <a:ext cx="4297680" cy="1737360"/>
          </a:xfrm>
          <a:prstGeom prst="roundRect">
            <a:avLst>
              <a:gd name="adj" fmla="val 4211"/>
            </a:avLst>
          </a:prstGeom>
          <a:solidFill>
            <a:schemeClr val="bg2"/>
          </a:solidFill>
          <a:ln w="12700">
            <a:solidFill>
              <a:schemeClr val="accent3"/>
            </a:solidFill>
            <a:prstDash val="solid"/>
          </a:ln>
        </p:spPr>
      </p:sp>
      <p:sp>
        <p:nvSpPr>
          <p:cNvPr id="15" name="Text 13"/>
          <p:cNvSpPr txBox="1"/>
          <p:nvPr/>
        </p:nvSpPr>
        <p:spPr>
          <a:xfrm>
            <a:off x="2971800" y="4297680"/>
            <a:ext cx="3840480" cy="1463040"/>
          </a:xfrm>
          <a:prstGeom prst="rect">
            <a:avLst/>
          </a:prstGeom>
          <a:noFill/>
          <a:ln/>
        </p:spPr>
        <p:txBody>
          <a:bodyPr wrap="square" lIns="0" tIns="0" rIns="0" bIns="0" rtlCol="0" anchor="ctr"/>
          <a:lstStyle/>
          <a:p>
            <a:pPr indent="0" marL="0">
              <a:buNone/>
            </a:pPr>
            <a:r>
              <a:rPr lang="en-US" sz="1600" dirty="0">
                <a:solidFill>
                  <a:schemeClr val="tx1"/>
                </a:solidFill>
              </a:rPr>
              <a:t>Recorrer el arreglo intercambiando pares adyacentes desordenados hasta que no haya intercambios.</a:t>
            </a:r>
            <a:endParaRPr lang="en-US" sz="1600" dirty="0"/>
          </a:p>
        </p:txBody>
      </p:sp>
      <p:sp>
        <p:nvSpPr>
          <p:cNvPr id="16" name="Shape 14"/>
          <p:cNvSpPr/>
          <p:nvPr/>
        </p:nvSpPr>
        <p:spPr>
          <a:xfrm>
            <a:off x="7315200" y="4160520"/>
            <a:ext cx="4297680" cy="1737360"/>
          </a:xfrm>
          <a:prstGeom prst="roundRect">
            <a:avLst>
              <a:gd name="adj" fmla="val 4211"/>
            </a:avLst>
          </a:prstGeom>
          <a:solidFill>
            <a:schemeClr val="accent4"/>
          </a:solidFill>
          <a:ln w="12700">
            <a:solidFill>
              <a:schemeClr val="accent4"/>
            </a:solidFill>
            <a:prstDash val="solid"/>
          </a:ln>
        </p:spPr>
      </p:sp>
      <p:sp>
        <p:nvSpPr>
          <p:cNvPr id="17" name="Text 15"/>
          <p:cNvSpPr txBox="1"/>
          <p:nvPr/>
        </p:nvSpPr>
        <p:spPr>
          <a:xfrm>
            <a:off x="7543800" y="4297680"/>
            <a:ext cx="3840480" cy="1463040"/>
          </a:xfrm>
          <a:prstGeom prst="rect">
            <a:avLst/>
          </a:prstGeom>
          <a:noFill/>
          <a:ln/>
        </p:spPr>
        <p:txBody>
          <a:bodyPr wrap="square" lIns="0" tIns="0" rIns="0" bIns="0" rtlCol="0" anchor="ctr"/>
          <a:lstStyle/>
          <a:p>
            <a:pPr indent="0" marL="0">
              <a:buNone/>
            </a:pPr>
            <a:r>
              <a:rPr lang="en-US" sz="1600" dirty="0">
                <a:solidFill>
                  <a:schemeClr val="accent1"/>
                </a:solidFill>
                <a:latin typeface="Cambria Math" pitchFamily="34" charset="0"/>
                <a:ea typeface="Cambria Math" pitchFamily="34" charset="-122"/>
                <a:cs typeface="Cambria Math" pitchFamily="34" charset="-120"/>
              </a:rPr>
              <a:t>b es una permutación de a  ∧  ∀i: b[i] ≤ b[i+1]</a:t>
            </a:r>
            <a:endParaRPr lang="en-US" sz="1600" dirty="0"/>
          </a:p>
        </p:txBody>
      </p:sp>
      <p:sp>
        <p:nvSpPr>
          <p:cNvPr id="18" name="Text 16"/>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500" i="1" dirty="0">
                <a:solidFill>
                  <a:schemeClr val="accent5"/>
                </a:solidFill>
              </a:rPr>
              <a:t>La operacional sugiere cómo construir o simular; la descriptiva solo dice qué debe valer en el resultado.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5.4 · VERIFICACIÓN DE LAS ESPECIFICACIONES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¿Cómo sabemos que la especificación es correcta?</a:t>
            </a:r>
            <a:endParaRPr lang="en-US" sz="3400" dirty="0"/>
          </a:p>
        </p:txBody>
      </p:sp>
      <p:sp>
        <p:nvSpPr>
          <p:cNvPr id="4" name="Shape 2"/>
          <p:cNvSpPr/>
          <p:nvPr/>
        </p:nvSpPr>
        <p:spPr>
          <a:xfrm>
            <a:off x="548640" y="1737360"/>
            <a:ext cx="5394960" cy="3017520"/>
          </a:xfrm>
          <a:prstGeom prst="roundRect">
            <a:avLst>
              <a:gd name="adj" fmla="val 2424"/>
            </a:avLst>
          </a:prstGeom>
          <a:solidFill>
            <a:schemeClr val="bg2"/>
          </a:solidFill>
          <a:ln w="12700">
            <a:solidFill>
              <a:schemeClr val="accent3"/>
            </a:solidFill>
            <a:prstDash val="solid"/>
          </a:ln>
        </p:spPr>
      </p:sp>
      <p:sp>
        <p:nvSpPr>
          <p:cNvPr id="5" name="Shape 3"/>
          <p:cNvSpPr/>
          <p:nvPr/>
        </p:nvSpPr>
        <p:spPr>
          <a:xfrm>
            <a:off x="822960" y="1920240"/>
            <a:ext cx="731520" cy="73152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1005840" y="2103120"/>
            <a:ext cx="365760" cy="365760"/>
          </a:xfrm>
          <a:prstGeom prst="rect">
            <a:avLst/>
          </a:prstGeom>
        </p:spPr>
      </p:pic>
      <p:sp>
        <p:nvSpPr>
          <p:cNvPr id="7" name="Text 4"/>
          <p:cNvSpPr txBox="1"/>
          <p:nvPr/>
        </p:nvSpPr>
        <p:spPr>
          <a:xfrm>
            <a:off x="1737360" y="192024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Observar el comportamiento</a:t>
            </a:r>
            <a:endParaRPr lang="en-US" sz="2000" dirty="0"/>
          </a:p>
        </p:txBody>
      </p:sp>
      <p:sp>
        <p:nvSpPr>
          <p:cNvPr id="8" name="Text 5"/>
          <p:cNvSpPr txBox="1"/>
          <p:nvPr/>
        </p:nvSpPr>
        <p:spPr>
          <a:xfrm>
            <a:off x="868680" y="2834640"/>
            <a:ext cx="484632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Simular o ejecutar la especificación</a:t>
            </a:r>
            <a:endParaRPr lang="en-US" sz="1600" dirty="0"/>
          </a:p>
          <a:p>
            <a:pPr marL="342900" indent="-342900">
              <a:spcAft>
                <a:spcPts val="800"/>
              </a:spcAft>
              <a:buSzPct val="100000"/>
              <a:buChar char="•"/>
            </a:pPr>
            <a:r>
              <a:rPr lang="en-US" sz="1600" dirty="0">
                <a:solidFill>
                  <a:schemeClr val="tx1"/>
                </a:solidFill>
              </a:rPr>
              <a:t>Construir prototipos</a:t>
            </a:r>
            <a:endParaRPr lang="en-US" sz="1600" dirty="0"/>
          </a:p>
          <a:p>
            <a:pPr marL="342900" indent="-342900">
              <a:spcAft>
                <a:spcPts val="800"/>
              </a:spcAft>
              <a:buSzPct val="100000"/>
              <a:buChar char="•"/>
            </a:pPr>
            <a:r>
              <a:rPr lang="en-US" sz="1600" dirty="0">
                <a:solidFill>
                  <a:schemeClr val="tx1"/>
                </a:solidFill>
              </a:rPr>
              <a:t>Animar el modelo con casos concretos</a:t>
            </a:r>
            <a:endParaRPr lang="en-US" sz="1600" dirty="0"/>
          </a:p>
        </p:txBody>
      </p:sp>
      <p:sp>
        <p:nvSpPr>
          <p:cNvPr id="9" name="Text 6"/>
          <p:cNvSpPr txBox="1"/>
          <p:nvPr/>
        </p:nvSpPr>
        <p:spPr>
          <a:xfrm>
            <a:off x="868680" y="4251960"/>
            <a:ext cx="4846320" cy="365760"/>
          </a:xfrm>
          <a:prstGeom prst="rect">
            <a:avLst/>
          </a:prstGeom>
          <a:noFill/>
          <a:ln/>
        </p:spPr>
        <p:txBody>
          <a:bodyPr wrap="square" lIns="0" tIns="0" rIns="0" bIns="0" rtlCol="0" anchor="t"/>
          <a:lstStyle/>
          <a:p>
            <a:pPr indent="0" marL="0">
              <a:buNone/>
            </a:pPr>
            <a:r>
              <a:rPr lang="en-US" sz="1400" i="1" dirty="0">
                <a:solidFill>
                  <a:schemeClr val="accent1"/>
                </a:solidFill>
              </a:rPr>
              <a:t>Natural en especificaciones operacionales</a:t>
            </a:r>
            <a:endParaRPr lang="en-US" sz="1400" dirty="0"/>
          </a:p>
        </p:txBody>
      </p:sp>
      <p:sp>
        <p:nvSpPr>
          <p:cNvPr id="10" name="Shape 7"/>
          <p:cNvSpPr/>
          <p:nvPr/>
        </p:nvSpPr>
        <p:spPr>
          <a:xfrm>
            <a:off x="6217920" y="1737360"/>
            <a:ext cx="5394960" cy="3017520"/>
          </a:xfrm>
          <a:prstGeom prst="roundRect">
            <a:avLst>
              <a:gd name="adj" fmla="val 2424"/>
            </a:avLst>
          </a:prstGeom>
          <a:solidFill>
            <a:schemeClr val="bg2"/>
          </a:solidFill>
          <a:ln w="12700">
            <a:solidFill>
              <a:schemeClr val="accent3"/>
            </a:solidFill>
            <a:prstDash val="solid"/>
          </a:ln>
        </p:spPr>
      </p:sp>
      <p:sp>
        <p:nvSpPr>
          <p:cNvPr id="11" name="Shape 8"/>
          <p:cNvSpPr/>
          <p:nvPr/>
        </p:nvSpPr>
        <p:spPr>
          <a:xfrm>
            <a:off x="6492240" y="1920240"/>
            <a:ext cx="731520" cy="731520"/>
          </a:xfrm>
          <a:prstGeom prst="ellipse">
            <a:avLst/>
          </a:prstGeom>
          <a:solidFill>
            <a:schemeClr val="tx2"/>
          </a:solidFill>
          <a:ln w="12700">
            <a:solidFill>
              <a:schemeClr val="tx2"/>
            </a:solidFill>
            <a:prstDash val="solid"/>
          </a:ln>
        </p:spPr>
      </p:sp>
      <p:pic>
        <p:nvPicPr>
          <p:cNvPr id="12" name="Image 1" descr="preencoded.png">    </p:cNvPr>
          <p:cNvPicPr>
            <a:picLocks noChangeAspect="1"/>
          </p:cNvPicPr>
          <p:nvPr/>
        </p:nvPicPr>
        <p:blipFill>
          <a:blip r:embed="rId2"/>
          <a:stretch>
            <a:fillRect/>
          </a:stretch>
        </p:blipFill>
        <p:spPr>
          <a:xfrm>
            <a:off x="6675120" y="2103120"/>
            <a:ext cx="365760" cy="365760"/>
          </a:xfrm>
          <a:prstGeom prst="rect">
            <a:avLst/>
          </a:prstGeom>
        </p:spPr>
      </p:pic>
      <p:sp>
        <p:nvSpPr>
          <p:cNvPr id="13" name="Text 9"/>
          <p:cNvSpPr txBox="1"/>
          <p:nvPr/>
        </p:nvSpPr>
        <p:spPr>
          <a:xfrm>
            <a:off x="7406640" y="192024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Analizar propiedades</a:t>
            </a:r>
            <a:endParaRPr lang="en-US" sz="2000" dirty="0"/>
          </a:p>
        </p:txBody>
      </p:sp>
      <p:sp>
        <p:nvSpPr>
          <p:cNvPr id="14" name="Text 10"/>
          <p:cNvSpPr txBox="1"/>
          <p:nvPr/>
        </p:nvSpPr>
        <p:spPr>
          <a:xfrm>
            <a:off x="6537960" y="2834640"/>
            <a:ext cx="484632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Revisiones e inspecciones</a:t>
            </a:r>
            <a:endParaRPr lang="en-US" sz="1600" dirty="0"/>
          </a:p>
          <a:p>
            <a:pPr marL="342900" indent="-342900">
              <a:spcAft>
                <a:spcPts val="800"/>
              </a:spcAft>
              <a:buSzPct val="100000"/>
              <a:buChar char="•"/>
            </a:pPr>
            <a:r>
              <a:rPr lang="en-US" sz="1600" dirty="0">
                <a:solidFill>
                  <a:schemeClr val="tx1"/>
                </a:solidFill>
              </a:rPr>
              <a:t>Deducir propiedades formalmente (demostración, model checking)</a:t>
            </a:r>
            <a:endParaRPr lang="en-US" sz="1600" dirty="0"/>
          </a:p>
          <a:p>
            <a:pPr marL="342900" indent="-342900">
              <a:spcAft>
                <a:spcPts val="800"/>
              </a:spcAft>
              <a:buSzPct val="100000"/>
              <a:buChar char="•"/>
            </a:pPr>
            <a:r>
              <a:rPr lang="en-US" sz="1600" dirty="0">
                <a:solidFill>
                  <a:schemeClr val="tx1"/>
                </a:solidFill>
              </a:rPr>
              <a:t>Controlar consistencia y completitud</a:t>
            </a:r>
            <a:endParaRPr lang="en-US" sz="1600" dirty="0"/>
          </a:p>
        </p:txBody>
      </p:sp>
      <p:sp>
        <p:nvSpPr>
          <p:cNvPr id="15" name="Text 11"/>
          <p:cNvSpPr txBox="1"/>
          <p:nvPr/>
        </p:nvSpPr>
        <p:spPr>
          <a:xfrm>
            <a:off x="6537960" y="4251960"/>
            <a:ext cx="4846320" cy="365760"/>
          </a:xfrm>
          <a:prstGeom prst="rect">
            <a:avLst/>
          </a:prstGeom>
          <a:noFill/>
          <a:ln/>
        </p:spPr>
        <p:txBody>
          <a:bodyPr wrap="square" lIns="0" tIns="0" rIns="0" bIns="0" rtlCol="0" anchor="t"/>
          <a:lstStyle/>
          <a:p>
            <a:pPr indent="0" marL="0">
              <a:buNone/>
            </a:pPr>
            <a:r>
              <a:rPr lang="en-US" sz="1400" i="1" dirty="0">
                <a:solidFill>
                  <a:schemeClr val="accent1"/>
                </a:solidFill>
              </a:rPr>
              <a:t>Natural en especificaciones descriptivas</a:t>
            </a:r>
            <a:endParaRPr lang="en-US" sz="1400" dirty="0"/>
          </a:p>
        </p:txBody>
      </p:sp>
      <p:sp>
        <p:nvSpPr>
          <p:cNvPr id="16" name="Shape 12"/>
          <p:cNvSpPr/>
          <p:nvPr/>
        </p:nvSpPr>
        <p:spPr>
          <a:xfrm>
            <a:off x="548640" y="4983480"/>
            <a:ext cx="5394960" cy="1097280"/>
          </a:xfrm>
          <a:prstGeom prst="roundRect">
            <a:avLst>
              <a:gd name="adj" fmla="val 6667"/>
            </a:avLst>
          </a:prstGeom>
          <a:solidFill>
            <a:schemeClr val="tx2"/>
          </a:solidFill>
          <a:ln w="12700">
            <a:solidFill>
              <a:schemeClr val="tx2"/>
            </a:solidFill>
            <a:prstDash val="solid"/>
          </a:ln>
        </p:spPr>
      </p:sp>
      <p:sp>
        <p:nvSpPr>
          <p:cNvPr id="17" name="Text 13"/>
          <p:cNvSpPr txBox="1"/>
          <p:nvPr/>
        </p:nvSpPr>
        <p:spPr>
          <a:xfrm>
            <a:off x="822960" y="5029200"/>
            <a:ext cx="4937760" cy="1005840"/>
          </a:xfrm>
          <a:prstGeom prst="rect">
            <a:avLst/>
          </a:prstGeom>
          <a:noFill/>
          <a:ln/>
        </p:spPr>
        <p:txBody>
          <a:bodyPr wrap="square" lIns="0" tIns="0" rIns="0" bIns="0" rtlCol="0" anchor="ctr"/>
          <a:lstStyle/>
          <a:p>
            <a:pPr indent="0" marL="0">
              <a:buNone/>
            </a:pPr>
            <a:r>
              <a:rPr lang="en-US" sz="1700" b="1" dirty="0">
                <a:solidFill>
                  <a:schemeClr val="bg1"/>
                </a:solidFill>
              </a:rPr>
              <a:t>Validación: </a:t>
            </a:r>
            <a:pPr indent="0" marL="0">
              <a:buNone/>
            </a:pPr>
            <a:r>
              <a:rPr lang="en-US" sz="1700" dirty="0">
                <a:solidFill>
                  <a:schemeClr val="bg1"/>
                </a:solidFill>
              </a:rPr>
              <a:t>¿Especificamos el sistema correcto?</a:t>
            </a:r>
            <a:pPr indent="0" marL="0">
              <a:buNone/>
            </a:pPr>
            <a:endParaRPr lang="en-US" sz="1700" dirty="0"/>
          </a:p>
          <a:p>
            <a:pPr indent="0" marL="0">
              <a:buNone/>
            </a:pPr>
            <a:r>
              <a:rPr lang="en-US" sz="1400" dirty="0">
                <a:solidFill>
                  <a:schemeClr val="bg1"/>
                </a:solidFill>
              </a:rPr>
              <a:t>Se hace con el cliente y los usuarios.</a:t>
            </a:r>
            <a:endParaRPr lang="en-US" sz="1700" dirty="0"/>
          </a:p>
        </p:txBody>
      </p:sp>
      <p:sp>
        <p:nvSpPr>
          <p:cNvPr id="18" name="Shape 14"/>
          <p:cNvSpPr/>
          <p:nvPr/>
        </p:nvSpPr>
        <p:spPr>
          <a:xfrm>
            <a:off x="6217920" y="4983480"/>
            <a:ext cx="5394960" cy="1097280"/>
          </a:xfrm>
          <a:prstGeom prst="roundRect">
            <a:avLst>
              <a:gd name="adj" fmla="val 6667"/>
            </a:avLst>
          </a:prstGeom>
          <a:solidFill>
            <a:schemeClr val="accent2"/>
          </a:solidFill>
          <a:ln w="12700">
            <a:solidFill>
              <a:schemeClr val="accent2"/>
            </a:solidFill>
            <a:prstDash val="solid"/>
          </a:ln>
        </p:spPr>
      </p:sp>
      <p:sp>
        <p:nvSpPr>
          <p:cNvPr id="19" name="Text 15"/>
          <p:cNvSpPr txBox="1"/>
          <p:nvPr/>
        </p:nvSpPr>
        <p:spPr>
          <a:xfrm>
            <a:off x="6492240" y="5029200"/>
            <a:ext cx="4937760" cy="1005840"/>
          </a:xfrm>
          <a:prstGeom prst="rect">
            <a:avLst/>
          </a:prstGeom>
          <a:noFill/>
          <a:ln/>
        </p:spPr>
        <p:txBody>
          <a:bodyPr wrap="square" lIns="0" tIns="0" rIns="0" bIns="0" rtlCol="0" anchor="ctr"/>
          <a:lstStyle/>
          <a:p>
            <a:pPr indent="0" marL="0">
              <a:buNone/>
            </a:pPr>
            <a:r>
              <a:rPr lang="en-US" sz="1700" b="1" dirty="0">
                <a:solidFill>
                  <a:schemeClr val="bg1"/>
                </a:solidFill>
              </a:rPr>
              <a:t>Verificación: </a:t>
            </a:r>
            <a:pPr indent="0" marL="0">
              <a:buNone/>
            </a:pPr>
            <a:r>
              <a:rPr lang="en-US" sz="1700" dirty="0">
                <a:solidFill>
                  <a:schemeClr val="bg1"/>
                </a:solidFill>
              </a:rPr>
              <a:t>¿La especificación está bien construida?</a:t>
            </a:r>
            <a:pPr indent="0" marL="0">
              <a:buNone/>
            </a:pPr>
            <a:endParaRPr lang="en-US" sz="1700" dirty="0"/>
          </a:p>
          <a:p>
            <a:pPr indent="0" marL="0">
              <a:buNone/>
            </a:pPr>
            <a:r>
              <a:rPr lang="en-US" sz="1400" dirty="0">
                <a:solidFill>
                  <a:schemeClr val="bg1"/>
                </a:solidFill>
              </a:rPr>
              <a:t>Se hace sobre el propio documento.</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5.5 · ESPECIFICACIONES OPERACIONALES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Diagramas de flujo de datos (DFD)</a:t>
            </a:r>
            <a:endParaRPr lang="en-US" sz="3400" dirty="0"/>
          </a:p>
        </p:txBody>
      </p:sp>
      <p:sp>
        <p:nvSpPr>
          <p:cNvPr id="4" name="Shape 2"/>
          <p:cNvSpPr/>
          <p:nvPr/>
        </p:nvSpPr>
        <p:spPr>
          <a:xfrm>
            <a:off x="548640" y="1920240"/>
            <a:ext cx="1097280" cy="640080"/>
          </a:xfrm>
          <a:prstGeom prst="ellipse">
            <a:avLst/>
          </a:prstGeom>
          <a:solidFill>
            <a:schemeClr val="accent4"/>
          </a:solidFill>
          <a:ln w="25400">
            <a:solidFill>
              <a:schemeClr val="accent1"/>
            </a:solidFill>
            <a:prstDash val="solid"/>
          </a:ln>
        </p:spPr>
      </p:sp>
      <p:sp>
        <p:nvSpPr>
          <p:cNvPr id="5" name="Shape 3"/>
          <p:cNvSpPr/>
          <p:nvPr/>
        </p:nvSpPr>
        <p:spPr>
          <a:xfrm>
            <a:off x="548640" y="3291840"/>
            <a:ext cx="1097280" cy="914"/>
          </a:xfrm>
          <a:prstGeom prst="line">
            <a:avLst/>
          </a:prstGeom>
          <a:noFill/>
          <a:ln w="25400">
            <a:solidFill>
              <a:schemeClr val="tx2"/>
            </a:solidFill>
            <a:prstDash val="solid"/>
            <a:tailEnd type="triangle"/>
          </a:ln>
        </p:spPr>
      </p:sp>
      <p:sp>
        <p:nvSpPr>
          <p:cNvPr id="6" name="Shape 4"/>
          <p:cNvSpPr/>
          <p:nvPr/>
        </p:nvSpPr>
        <p:spPr>
          <a:xfrm>
            <a:off x="548640" y="4114800"/>
            <a:ext cx="1097280" cy="0"/>
          </a:xfrm>
          <a:prstGeom prst="line">
            <a:avLst/>
          </a:prstGeom>
          <a:noFill/>
          <a:ln w="25400">
            <a:solidFill>
              <a:schemeClr val="tx2"/>
            </a:solidFill>
            <a:prstDash val="solid"/>
          </a:ln>
        </p:spPr>
      </p:sp>
      <p:sp>
        <p:nvSpPr>
          <p:cNvPr id="7" name="Shape 5"/>
          <p:cNvSpPr/>
          <p:nvPr/>
        </p:nvSpPr>
        <p:spPr>
          <a:xfrm>
            <a:off x="548640" y="4572000"/>
            <a:ext cx="1097280" cy="0"/>
          </a:xfrm>
          <a:prstGeom prst="line">
            <a:avLst/>
          </a:prstGeom>
          <a:noFill/>
          <a:ln w="25400">
            <a:solidFill>
              <a:schemeClr val="tx2"/>
            </a:solidFill>
            <a:prstDash val="solid"/>
          </a:ln>
        </p:spPr>
      </p:sp>
      <p:sp>
        <p:nvSpPr>
          <p:cNvPr id="8" name="Shape 6"/>
          <p:cNvSpPr/>
          <p:nvPr/>
        </p:nvSpPr>
        <p:spPr>
          <a:xfrm>
            <a:off x="548640" y="5074920"/>
            <a:ext cx="1097280" cy="640080"/>
          </a:xfrm>
          <a:prstGeom prst="rect">
            <a:avLst/>
          </a:prstGeom>
          <a:solidFill>
            <a:schemeClr val="bg2"/>
          </a:solidFill>
          <a:ln w="25400">
            <a:solidFill>
              <a:schemeClr val="tx2"/>
            </a:solidFill>
            <a:prstDash val="solid"/>
          </a:ln>
        </p:spPr>
      </p:sp>
      <p:sp>
        <p:nvSpPr>
          <p:cNvPr id="9" name="Text 7"/>
          <p:cNvSpPr txBox="1"/>
          <p:nvPr/>
        </p:nvSpPr>
        <p:spPr>
          <a:xfrm>
            <a:off x="1828800" y="1828800"/>
            <a:ext cx="2926080" cy="868680"/>
          </a:xfrm>
          <a:prstGeom prst="rect">
            <a:avLst/>
          </a:prstGeom>
          <a:noFill/>
          <a:ln/>
        </p:spPr>
        <p:txBody>
          <a:bodyPr wrap="square" lIns="0" tIns="0" rIns="0" bIns="0" rtlCol="0" anchor="ctr"/>
          <a:lstStyle/>
          <a:p>
            <a:pPr indent="0" marL="0">
              <a:buNone/>
            </a:pPr>
            <a:r>
              <a:rPr lang="en-US" sz="1600" b="1" dirty="0">
                <a:solidFill>
                  <a:schemeClr val="tx2"/>
                </a:solidFill>
              </a:rPr>
              <a:t>Proceso</a:t>
            </a:r>
            <a:endParaRPr lang="en-US" sz="1600" dirty="0"/>
          </a:p>
          <a:p>
            <a:pPr indent="0" marL="0">
              <a:buNone/>
            </a:pPr>
            <a:r>
              <a:rPr lang="en-US" sz="1400" dirty="0">
                <a:solidFill>
                  <a:schemeClr val="tx1"/>
                </a:solidFill>
              </a:rPr>
              <a:t>Transforma datos de entrada en datos de salida</a:t>
            </a:r>
            <a:endParaRPr lang="en-US" sz="1600" dirty="0"/>
          </a:p>
        </p:txBody>
      </p:sp>
      <p:sp>
        <p:nvSpPr>
          <p:cNvPr id="10" name="Text 8"/>
          <p:cNvSpPr txBox="1"/>
          <p:nvPr/>
        </p:nvSpPr>
        <p:spPr>
          <a:xfrm>
            <a:off x="1828800" y="2880360"/>
            <a:ext cx="2926080" cy="868680"/>
          </a:xfrm>
          <a:prstGeom prst="rect">
            <a:avLst/>
          </a:prstGeom>
          <a:noFill/>
          <a:ln/>
        </p:spPr>
        <p:txBody>
          <a:bodyPr wrap="square" lIns="0" tIns="0" rIns="0" bIns="0" rtlCol="0" anchor="ctr"/>
          <a:lstStyle/>
          <a:p>
            <a:pPr indent="0" marL="0">
              <a:buNone/>
            </a:pPr>
            <a:r>
              <a:rPr lang="en-US" sz="1600" b="1" dirty="0">
                <a:solidFill>
                  <a:schemeClr val="tx2"/>
                </a:solidFill>
              </a:rPr>
              <a:t>Flujo de datos</a:t>
            </a:r>
            <a:endParaRPr lang="en-US" sz="1600" dirty="0"/>
          </a:p>
          <a:p>
            <a:pPr indent="0" marL="0">
              <a:buNone/>
            </a:pPr>
            <a:r>
              <a:rPr lang="en-US" sz="1400" dirty="0">
                <a:solidFill>
                  <a:schemeClr val="tx1"/>
                </a:solidFill>
              </a:rPr>
              <a:t>Dato en movimiento entre elementos</a:t>
            </a:r>
            <a:endParaRPr lang="en-US" sz="1600" dirty="0"/>
          </a:p>
        </p:txBody>
      </p:sp>
      <p:sp>
        <p:nvSpPr>
          <p:cNvPr id="11" name="Text 9"/>
          <p:cNvSpPr txBox="1"/>
          <p:nvPr/>
        </p:nvSpPr>
        <p:spPr>
          <a:xfrm>
            <a:off x="1828800" y="3931920"/>
            <a:ext cx="2926080" cy="868680"/>
          </a:xfrm>
          <a:prstGeom prst="rect">
            <a:avLst/>
          </a:prstGeom>
          <a:noFill/>
          <a:ln/>
        </p:spPr>
        <p:txBody>
          <a:bodyPr wrap="square" lIns="0" tIns="0" rIns="0" bIns="0" rtlCol="0" anchor="ctr"/>
          <a:lstStyle/>
          <a:p>
            <a:pPr indent="0" marL="0">
              <a:buNone/>
            </a:pPr>
            <a:r>
              <a:rPr lang="en-US" sz="1600" b="1" dirty="0">
                <a:solidFill>
                  <a:schemeClr val="tx2"/>
                </a:solidFill>
              </a:rPr>
              <a:t>Almacén</a:t>
            </a:r>
            <a:endParaRPr lang="en-US" sz="1600" dirty="0"/>
          </a:p>
          <a:p>
            <a:pPr indent="0" marL="0">
              <a:buNone/>
            </a:pPr>
            <a:r>
              <a:rPr lang="en-US" sz="1400" dirty="0">
                <a:solidFill>
                  <a:schemeClr val="tx1"/>
                </a:solidFill>
              </a:rPr>
              <a:t>Datos que persisten en el tiempo</a:t>
            </a:r>
            <a:endParaRPr lang="en-US" sz="1600" dirty="0"/>
          </a:p>
        </p:txBody>
      </p:sp>
      <p:sp>
        <p:nvSpPr>
          <p:cNvPr id="12" name="Text 10"/>
          <p:cNvSpPr txBox="1"/>
          <p:nvPr/>
        </p:nvSpPr>
        <p:spPr>
          <a:xfrm>
            <a:off x="1828800" y="4983480"/>
            <a:ext cx="2926080" cy="868680"/>
          </a:xfrm>
          <a:prstGeom prst="rect">
            <a:avLst/>
          </a:prstGeom>
          <a:noFill/>
          <a:ln/>
        </p:spPr>
        <p:txBody>
          <a:bodyPr wrap="square" lIns="0" tIns="0" rIns="0" bIns="0" rtlCol="0" anchor="ctr"/>
          <a:lstStyle/>
          <a:p>
            <a:pPr indent="0" marL="0">
              <a:buNone/>
            </a:pPr>
            <a:r>
              <a:rPr lang="en-US" sz="1600" b="1" dirty="0">
                <a:solidFill>
                  <a:schemeClr val="tx2"/>
                </a:solidFill>
              </a:rPr>
              <a:t>Entidad externa</a:t>
            </a:r>
            <a:endParaRPr lang="en-US" sz="1600" dirty="0"/>
          </a:p>
          <a:p>
            <a:pPr indent="0" marL="0">
              <a:buNone/>
            </a:pPr>
            <a:r>
              <a:rPr lang="en-US" sz="1400" dirty="0">
                <a:solidFill>
                  <a:schemeClr val="tx1"/>
                </a:solidFill>
              </a:rPr>
              <a:t>Fuente o destino fuera del sistema</a:t>
            </a:r>
            <a:endParaRPr lang="en-US" sz="1600" dirty="0"/>
          </a:p>
        </p:txBody>
      </p:sp>
      <p:sp>
        <p:nvSpPr>
          <p:cNvPr id="13" name="Shape 11"/>
          <p:cNvSpPr/>
          <p:nvPr/>
        </p:nvSpPr>
        <p:spPr>
          <a:xfrm>
            <a:off x="5029200" y="1737360"/>
            <a:ext cx="6583680" cy="4389120"/>
          </a:xfrm>
          <a:prstGeom prst="roundRect">
            <a:avLst>
              <a:gd name="adj" fmla="val 1667"/>
            </a:avLst>
          </a:prstGeom>
          <a:solidFill>
            <a:schemeClr val="bg1"/>
          </a:solidFill>
          <a:ln w="12700">
            <a:solidFill>
              <a:schemeClr val="accent3"/>
            </a:solidFill>
            <a:prstDash val="solid"/>
          </a:ln>
        </p:spPr>
      </p:sp>
      <p:sp>
        <p:nvSpPr>
          <p:cNvPr id="14" name="Shape 12"/>
          <p:cNvSpPr/>
          <p:nvPr/>
        </p:nvSpPr>
        <p:spPr>
          <a:xfrm>
            <a:off x="5303520" y="3429000"/>
            <a:ext cx="1371600" cy="685800"/>
          </a:xfrm>
          <a:prstGeom prst="rect">
            <a:avLst/>
          </a:prstGeom>
          <a:solidFill>
            <a:schemeClr val="bg2"/>
          </a:solidFill>
          <a:ln w="25400">
            <a:solidFill>
              <a:schemeClr val="tx2"/>
            </a:solidFill>
            <a:prstDash val="solid"/>
          </a:ln>
        </p:spPr>
      </p:sp>
      <p:sp>
        <p:nvSpPr>
          <p:cNvPr id="15" name="Text 13"/>
          <p:cNvSpPr txBox="1"/>
          <p:nvPr/>
        </p:nvSpPr>
        <p:spPr>
          <a:xfrm>
            <a:off x="5303520" y="3429000"/>
            <a:ext cx="1371600" cy="685800"/>
          </a:xfrm>
          <a:prstGeom prst="rect">
            <a:avLst/>
          </a:prstGeom>
          <a:noFill/>
          <a:ln/>
        </p:spPr>
        <p:txBody>
          <a:bodyPr wrap="square" lIns="0" tIns="0" rIns="0" bIns="0" rtlCol="0" anchor="ctr"/>
          <a:lstStyle/>
          <a:p>
            <a:pPr algn="ctr" indent="0" marL="0">
              <a:buNone/>
            </a:pPr>
            <a:r>
              <a:rPr lang="en-US" sz="1500" b="1" dirty="0">
                <a:solidFill>
                  <a:schemeClr val="tx2"/>
                </a:solidFill>
              </a:rPr>
              <a:t>Alumno</a:t>
            </a:r>
            <a:endParaRPr lang="en-US" sz="1500" dirty="0"/>
          </a:p>
        </p:txBody>
      </p:sp>
      <p:sp>
        <p:nvSpPr>
          <p:cNvPr id="16" name="Shape 14"/>
          <p:cNvSpPr/>
          <p:nvPr/>
        </p:nvSpPr>
        <p:spPr>
          <a:xfrm>
            <a:off x="7315200" y="1965960"/>
            <a:ext cx="2103120" cy="1005840"/>
          </a:xfrm>
          <a:prstGeom prst="ellipse">
            <a:avLst/>
          </a:prstGeom>
          <a:solidFill>
            <a:schemeClr val="accent4"/>
          </a:solidFill>
          <a:ln w="25400">
            <a:solidFill>
              <a:schemeClr val="accent1"/>
            </a:solidFill>
            <a:prstDash val="solid"/>
          </a:ln>
        </p:spPr>
      </p:sp>
      <p:sp>
        <p:nvSpPr>
          <p:cNvPr id="17" name="Text 15"/>
          <p:cNvSpPr txBox="1"/>
          <p:nvPr/>
        </p:nvSpPr>
        <p:spPr>
          <a:xfrm>
            <a:off x="7452360" y="1965960"/>
            <a:ext cx="1828800" cy="1005840"/>
          </a:xfrm>
          <a:prstGeom prst="rect">
            <a:avLst/>
          </a:prstGeom>
          <a:noFill/>
          <a:ln/>
        </p:spPr>
        <p:txBody>
          <a:bodyPr wrap="square" lIns="0" tIns="0" rIns="0" bIns="0" rtlCol="0" anchor="ctr"/>
          <a:lstStyle/>
          <a:p>
            <a:pPr algn="ctr" indent="0" marL="0">
              <a:buNone/>
            </a:pPr>
            <a:r>
              <a:rPr lang="en-US" sz="1400" b="1" dirty="0">
                <a:solidFill>
                  <a:schemeClr val="accent1"/>
                </a:solidFill>
              </a:rPr>
              <a:t>1. Validar solicitud</a:t>
            </a:r>
            <a:endParaRPr lang="en-US" sz="1400" dirty="0"/>
          </a:p>
        </p:txBody>
      </p:sp>
      <p:sp>
        <p:nvSpPr>
          <p:cNvPr id="18" name="Shape 16"/>
          <p:cNvSpPr/>
          <p:nvPr/>
        </p:nvSpPr>
        <p:spPr>
          <a:xfrm>
            <a:off x="7315200" y="4572000"/>
            <a:ext cx="2103120" cy="1005840"/>
          </a:xfrm>
          <a:prstGeom prst="ellipse">
            <a:avLst/>
          </a:prstGeom>
          <a:solidFill>
            <a:schemeClr val="accent4"/>
          </a:solidFill>
          <a:ln w="25400">
            <a:solidFill>
              <a:schemeClr val="accent1"/>
            </a:solidFill>
            <a:prstDash val="solid"/>
          </a:ln>
        </p:spPr>
      </p:sp>
      <p:sp>
        <p:nvSpPr>
          <p:cNvPr id="19" name="Text 17"/>
          <p:cNvSpPr txBox="1"/>
          <p:nvPr/>
        </p:nvSpPr>
        <p:spPr>
          <a:xfrm>
            <a:off x="7452360" y="4572000"/>
            <a:ext cx="1828800" cy="1005840"/>
          </a:xfrm>
          <a:prstGeom prst="rect">
            <a:avLst/>
          </a:prstGeom>
          <a:noFill/>
          <a:ln/>
        </p:spPr>
        <p:txBody>
          <a:bodyPr wrap="square" lIns="0" tIns="0" rIns="0" bIns="0" rtlCol="0" anchor="ctr"/>
          <a:lstStyle/>
          <a:p>
            <a:pPr algn="ctr" indent="0" marL="0">
              <a:buNone/>
            </a:pPr>
            <a:r>
              <a:rPr lang="en-US" sz="1400" b="1" dirty="0">
                <a:solidFill>
                  <a:schemeClr val="accent1"/>
                </a:solidFill>
              </a:rPr>
              <a:t>2. Registrar inscripción</a:t>
            </a:r>
            <a:endParaRPr lang="en-US" sz="1400" dirty="0"/>
          </a:p>
        </p:txBody>
      </p:sp>
      <p:sp>
        <p:nvSpPr>
          <p:cNvPr id="20" name="Shape 18"/>
          <p:cNvSpPr/>
          <p:nvPr/>
        </p:nvSpPr>
        <p:spPr>
          <a:xfrm>
            <a:off x="9829800" y="2194560"/>
            <a:ext cx="1600200" cy="0"/>
          </a:xfrm>
          <a:prstGeom prst="line">
            <a:avLst/>
          </a:prstGeom>
          <a:noFill/>
          <a:ln w="25400">
            <a:solidFill>
              <a:schemeClr val="tx2"/>
            </a:solidFill>
            <a:prstDash val="solid"/>
          </a:ln>
        </p:spPr>
      </p:sp>
      <p:sp>
        <p:nvSpPr>
          <p:cNvPr id="21" name="Shape 19"/>
          <p:cNvSpPr/>
          <p:nvPr/>
        </p:nvSpPr>
        <p:spPr>
          <a:xfrm>
            <a:off x="9829800" y="2743200"/>
            <a:ext cx="1600200" cy="0"/>
          </a:xfrm>
          <a:prstGeom prst="line">
            <a:avLst/>
          </a:prstGeom>
          <a:noFill/>
          <a:ln w="25400">
            <a:solidFill>
              <a:schemeClr val="tx2"/>
            </a:solidFill>
            <a:prstDash val="solid"/>
          </a:ln>
        </p:spPr>
      </p:sp>
      <p:sp>
        <p:nvSpPr>
          <p:cNvPr id="22" name="Text 20"/>
          <p:cNvSpPr txBox="1"/>
          <p:nvPr/>
        </p:nvSpPr>
        <p:spPr>
          <a:xfrm>
            <a:off x="9829800" y="2194560"/>
            <a:ext cx="1600200" cy="548640"/>
          </a:xfrm>
          <a:prstGeom prst="rect">
            <a:avLst/>
          </a:prstGeom>
          <a:noFill/>
          <a:ln/>
        </p:spPr>
        <p:txBody>
          <a:bodyPr wrap="square" lIns="0" tIns="0" rIns="0" bIns="0" rtlCol="0" anchor="ctr"/>
          <a:lstStyle/>
          <a:p>
            <a:pPr algn="ctr" indent="0" marL="0">
              <a:buNone/>
            </a:pPr>
            <a:r>
              <a:rPr lang="en-US" sz="1400" b="1" dirty="0">
                <a:solidFill>
                  <a:schemeClr val="tx2"/>
                </a:solidFill>
              </a:rPr>
              <a:t>Materias y cupos</a:t>
            </a:r>
            <a:endParaRPr lang="en-US" sz="1400" dirty="0"/>
          </a:p>
        </p:txBody>
      </p:sp>
      <p:sp>
        <p:nvSpPr>
          <p:cNvPr id="23" name="Shape 21"/>
          <p:cNvSpPr/>
          <p:nvPr/>
        </p:nvSpPr>
        <p:spPr>
          <a:xfrm>
            <a:off x="9829800" y="4800600"/>
            <a:ext cx="1600200" cy="0"/>
          </a:xfrm>
          <a:prstGeom prst="line">
            <a:avLst/>
          </a:prstGeom>
          <a:noFill/>
          <a:ln w="25400">
            <a:solidFill>
              <a:schemeClr val="tx2"/>
            </a:solidFill>
            <a:prstDash val="solid"/>
          </a:ln>
        </p:spPr>
      </p:sp>
      <p:sp>
        <p:nvSpPr>
          <p:cNvPr id="24" name="Shape 22"/>
          <p:cNvSpPr/>
          <p:nvPr/>
        </p:nvSpPr>
        <p:spPr>
          <a:xfrm>
            <a:off x="9829800" y="5349240"/>
            <a:ext cx="1600200" cy="0"/>
          </a:xfrm>
          <a:prstGeom prst="line">
            <a:avLst/>
          </a:prstGeom>
          <a:noFill/>
          <a:ln w="25400">
            <a:solidFill>
              <a:schemeClr val="tx2"/>
            </a:solidFill>
            <a:prstDash val="solid"/>
          </a:ln>
        </p:spPr>
      </p:sp>
      <p:sp>
        <p:nvSpPr>
          <p:cNvPr id="25" name="Text 23"/>
          <p:cNvSpPr txBox="1"/>
          <p:nvPr/>
        </p:nvSpPr>
        <p:spPr>
          <a:xfrm>
            <a:off x="9829800" y="4800600"/>
            <a:ext cx="1600200" cy="548640"/>
          </a:xfrm>
          <a:prstGeom prst="rect">
            <a:avLst/>
          </a:prstGeom>
          <a:noFill/>
          <a:ln/>
        </p:spPr>
        <p:txBody>
          <a:bodyPr wrap="square" lIns="0" tIns="0" rIns="0" bIns="0" rtlCol="0" anchor="ctr"/>
          <a:lstStyle/>
          <a:p>
            <a:pPr algn="ctr" indent="0" marL="0">
              <a:buNone/>
            </a:pPr>
            <a:r>
              <a:rPr lang="en-US" sz="1400" b="1" dirty="0">
                <a:solidFill>
                  <a:schemeClr val="tx2"/>
                </a:solidFill>
              </a:rPr>
              <a:t>Inscripciones</a:t>
            </a:r>
            <a:endParaRPr lang="en-US" sz="1400" dirty="0"/>
          </a:p>
        </p:txBody>
      </p:sp>
      <p:sp>
        <p:nvSpPr>
          <p:cNvPr id="26" name="Shape 24"/>
          <p:cNvSpPr/>
          <p:nvPr/>
        </p:nvSpPr>
        <p:spPr>
          <a:xfrm flipV="1">
            <a:off x="6675120" y="2788920"/>
            <a:ext cx="868680" cy="731520"/>
          </a:xfrm>
          <a:prstGeom prst="line">
            <a:avLst/>
          </a:prstGeom>
          <a:noFill/>
          <a:ln w="25400">
            <a:solidFill>
              <a:schemeClr val="tx2"/>
            </a:solidFill>
            <a:prstDash val="solid"/>
            <a:tailEnd type="triangle"/>
          </a:ln>
        </p:spPr>
      </p:sp>
      <p:sp>
        <p:nvSpPr>
          <p:cNvPr id="27" name="Text 25"/>
          <p:cNvSpPr txBox="1"/>
          <p:nvPr/>
        </p:nvSpPr>
        <p:spPr>
          <a:xfrm>
            <a:off x="6537960" y="2880360"/>
            <a:ext cx="1280160" cy="320040"/>
          </a:xfrm>
          <a:prstGeom prst="rect">
            <a:avLst/>
          </a:prstGeom>
          <a:noFill/>
          <a:ln/>
        </p:spPr>
        <p:txBody>
          <a:bodyPr wrap="square" lIns="0" tIns="0" rIns="0" bIns="0" rtlCol="0" anchor="t"/>
          <a:lstStyle/>
          <a:p>
            <a:pPr indent="0" marL="0">
              <a:buNone/>
            </a:pPr>
            <a:r>
              <a:rPr lang="en-US" sz="1300" i="1" dirty="0">
                <a:solidFill>
                  <a:schemeClr val="accent5"/>
                </a:solidFill>
              </a:rPr>
              <a:t>solicitud</a:t>
            </a:r>
            <a:endParaRPr lang="en-US" sz="1300" dirty="0"/>
          </a:p>
        </p:txBody>
      </p:sp>
      <p:sp>
        <p:nvSpPr>
          <p:cNvPr id="28" name="Shape 26"/>
          <p:cNvSpPr/>
          <p:nvPr/>
        </p:nvSpPr>
        <p:spPr>
          <a:xfrm>
            <a:off x="8366760" y="2971800"/>
            <a:ext cx="914" cy="1600200"/>
          </a:xfrm>
          <a:prstGeom prst="line">
            <a:avLst/>
          </a:prstGeom>
          <a:noFill/>
          <a:ln w="25400">
            <a:solidFill>
              <a:schemeClr val="tx2"/>
            </a:solidFill>
            <a:prstDash val="solid"/>
            <a:tailEnd type="triangle"/>
          </a:ln>
        </p:spPr>
      </p:sp>
      <p:sp>
        <p:nvSpPr>
          <p:cNvPr id="29" name="Text 27"/>
          <p:cNvSpPr txBox="1"/>
          <p:nvPr/>
        </p:nvSpPr>
        <p:spPr>
          <a:xfrm>
            <a:off x="8503920" y="3611880"/>
            <a:ext cx="1463040" cy="320040"/>
          </a:xfrm>
          <a:prstGeom prst="rect">
            <a:avLst/>
          </a:prstGeom>
          <a:noFill/>
          <a:ln/>
        </p:spPr>
        <p:txBody>
          <a:bodyPr wrap="square" lIns="0" tIns="0" rIns="0" bIns="0" rtlCol="0" anchor="t"/>
          <a:lstStyle/>
          <a:p>
            <a:pPr indent="0" marL="0">
              <a:buNone/>
            </a:pPr>
            <a:r>
              <a:rPr lang="en-US" sz="1300" i="1" dirty="0">
                <a:solidFill>
                  <a:schemeClr val="accent5"/>
                </a:solidFill>
              </a:rPr>
              <a:t>solicitud válida</a:t>
            </a:r>
            <a:endParaRPr lang="en-US" sz="1300" dirty="0"/>
          </a:p>
        </p:txBody>
      </p:sp>
      <p:sp>
        <p:nvSpPr>
          <p:cNvPr id="30" name="Shape 28"/>
          <p:cNvSpPr/>
          <p:nvPr/>
        </p:nvSpPr>
        <p:spPr>
          <a:xfrm flipH="1" flipV="1">
            <a:off x="6675120" y="4069080"/>
            <a:ext cx="868680" cy="777240"/>
          </a:xfrm>
          <a:prstGeom prst="line">
            <a:avLst/>
          </a:prstGeom>
          <a:noFill/>
          <a:ln w="25400">
            <a:solidFill>
              <a:schemeClr val="tx2"/>
            </a:solidFill>
            <a:prstDash val="solid"/>
            <a:tailEnd type="triangle"/>
          </a:ln>
        </p:spPr>
      </p:sp>
      <p:sp>
        <p:nvSpPr>
          <p:cNvPr id="31" name="Text 29"/>
          <p:cNvSpPr txBox="1"/>
          <p:nvPr/>
        </p:nvSpPr>
        <p:spPr>
          <a:xfrm>
            <a:off x="5669280" y="4526280"/>
            <a:ext cx="1371600" cy="320040"/>
          </a:xfrm>
          <a:prstGeom prst="rect">
            <a:avLst/>
          </a:prstGeom>
          <a:noFill/>
          <a:ln/>
        </p:spPr>
        <p:txBody>
          <a:bodyPr wrap="square" lIns="0" tIns="0" rIns="0" bIns="0" rtlCol="0" anchor="t"/>
          <a:lstStyle/>
          <a:p>
            <a:pPr indent="0" marL="0">
              <a:buNone/>
            </a:pPr>
            <a:r>
              <a:rPr lang="en-US" sz="1300" i="1" dirty="0">
                <a:solidFill>
                  <a:schemeClr val="accent5"/>
                </a:solidFill>
              </a:rPr>
              <a:t>comprobante</a:t>
            </a:r>
            <a:endParaRPr lang="en-US" sz="1300" dirty="0"/>
          </a:p>
        </p:txBody>
      </p:sp>
      <p:sp>
        <p:nvSpPr>
          <p:cNvPr id="32" name="Shape 30"/>
          <p:cNvSpPr/>
          <p:nvPr/>
        </p:nvSpPr>
        <p:spPr>
          <a:xfrm flipH="1">
            <a:off x="9418320" y="2468880"/>
            <a:ext cx="411480" cy="914"/>
          </a:xfrm>
          <a:prstGeom prst="line">
            <a:avLst/>
          </a:prstGeom>
          <a:noFill/>
          <a:ln w="25400">
            <a:solidFill>
              <a:schemeClr val="tx2"/>
            </a:solidFill>
            <a:prstDash val="solid"/>
            <a:tailEnd type="triangle"/>
          </a:ln>
        </p:spPr>
      </p:sp>
      <p:sp>
        <p:nvSpPr>
          <p:cNvPr id="33" name="Text 31"/>
          <p:cNvSpPr txBox="1"/>
          <p:nvPr/>
        </p:nvSpPr>
        <p:spPr>
          <a:xfrm>
            <a:off x="9875520" y="2788920"/>
            <a:ext cx="914400" cy="320040"/>
          </a:xfrm>
          <a:prstGeom prst="rect">
            <a:avLst/>
          </a:prstGeom>
          <a:noFill/>
          <a:ln/>
        </p:spPr>
        <p:txBody>
          <a:bodyPr wrap="square" lIns="0" tIns="0" rIns="0" bIns="0" rtlCol="0" anchor="t"/>
          <a:lstStyle/>
          <a:p>
            <a:pPr indent="0" marL="0">
              <a:buNone/>
            </a:pPr>
            <a:r>
              <a:rPr lang="en-US" sz="1300" i="1" dirty="0">
                <a:solidFill>
                  <a:schemeClr val="accent5"/>
                </a:solidFill>
              </a:rPr>
              <a:t>cupos</a:t>
            </a:r>
            <a:endParaRPr lang="en-US" sz="1300" dirty="0"/>
          </a:p>
        </p:txBody>
      </p:sp>
      <p:sp>
        <p:nvSpPr>
          <p:cNvPr id="34" name="Shape 32"/>
          <p:cNvSpPr/>
          <p:nvPr/>
        </p:nvSpPr>
        <p:spPr>
          <a:xfrm>
            <a:off x="9418320" y="5074920"/>
            <a:ext cx="411480" cy="914"/>
          </a:xfrm>
          <a:prstGeom prst="line">
            <a:avLst/>
          </a:prstGeom>
          <a:noFill/>
          <a:ln w="25400">
            <a:solidFill>
              <a:schemeClr val="tx2"/>
            </a:solidFill>
            <a:prstDash val="solid"/>
            <a:tailEnd type="triangle"/>
          </a:ln>
        </p:spPr>
      </p:sp>
      <p:sp>
        <p:nvSpPr>
          <p:cNvPr id="35" name="Text 33"/>
          <p:cNvSpPr txBox="1"/>
          <p:nvPr/>
        </p:nvSpPr>
        <p:spPr>
          <a:xfrm>
            <a:off x="9875520" y="5394960"/>
            <a:ext cx="1371600" cy="320040"/>
          </a:xfrm>
          <a:prstGeom prst="rect">
            <a:avLst/>
          </a:prstGeom>
          <a:noFill/>
          <a:ln/>
        </p:spPr>
        <p:txBody>
          <a:bodyPr wrap="square" lIns="0" tIns="0" rIns="0" bIns="0" rtlCol="0" anchor="t"/>
          <a:lstStyle/>
          <a:p>
            <a:pPr indent="0" marL="0">
              <a:buNone/>
            </a:pPr>
            <a:r>
              <a:rPr lang="en-US" sz="1300" i="1" dirty="0">
                <a:solidFill>
                  <a:schemeClr val="accent5"/>
                </a:solidFill>
              </a:rPr>
              <a:t>inscripción</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5.5 · ESPECIFICACIONES OPERACIONALES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DFD: refinamiento por niveles y limitaciones</a:t>
            </a:r>
            <a:endParaRPr lang="en-US" sz="3400" dirty="0"/>
          </a:p>
        </p:txBody>
      </p:sp>
      <p:sp>
        <p:nvSpPr>
          <p:cNvPr id="4" name="Shape 2"/>
          <p:cNvSpPr/>
          <p:nvPr/>
        </p:nvSpPr>
        <p:spPr>
          <a:xfrm>
            <a:off x="548640" y="1737360"/>
            <a:ext cx="5394960" cy="4343400"/>
          </a:xfrm>
          <a:prstGeom prst="roundRect">
            <a:avLst>
              <a:gd name="adj" fmla="val 1684"/>
            </a:avLst>
          </a:prstGeom>
          <a:solidFill>
            <a:schemeClr val="bg2"/>
          </a:solidFill>
          <a:ln w="12700">
            <a:solidFill>
              <a:schemeClr val="accent3"/>
            </a:solidFill>
            <a:prstDash val="solid"/>
          </a:ln>
        </p:spPr>
      </p:sp>
      <p:sp>
        <p:nvSpPr>
          <p:cNvPr id="5" name="Text 3"/>
          <p:cNvSpPr txBox="1"/>
          <p:nvPr/>
        </p:nvSpPr>
        <p:spPr>
          <a:xfrm>
            <a:off x="822960" y="1874520"/>
            <a:ext cx="4846320" cy="411480"/>
          </a:xfrm>
          <a:prstGeom prst="rect">
            <a:avLst/>
          </a:prstGeom>
          <a:noFill/>
          <a:ln/>
        </p:spPr>
        <p:txBody>
          <a:bodyPr wrap="square" lIns="0" tIns="0" rIns="0" bIns="0" rtlCol="0" anchor="t"/>
          <a:lstStyle/>
          <a:p>
            <a:pPr indent="0" marL="0">
              <a:buNone/>
            </a:pPr>
            <a:r>
              <a:rPr lang="en-US" sz="1900" b="1" dirty="0">
                <a:solidFill>
                  <a:schemeClr val="tx2"/>
                </a:solidFill>
              </a:rPr>
              <a:t>Refinamiento por niveles</a:t>
            </a:r>
            <a:endParaRPr lang="en-US" sz="1900" dirty="0"/>
          </a:p>
        </p:txBody>
      </p:sp>
      <p:sp>
        <p:nvSpPr>
          <p:cNvPr id="6" name="Shape 4"/>
          <p:cNvSpPr/>
          <p:nvPr/>
        </p:nvSpPr>
        <p:spPr>
          <a:xfrm>
            <a:off x="2148840" y="2468880"/>
            <a:ext cx="2194560" cy="914400"/>
          </a:xfrm>
          <a:prstGeom prst="ellipse">
            <a:avLst/>
          </a:prstGeom>
          <a:solidFill>
            <a:schemeClr val="accent4"/>
          </a:solidFill>
          <a:ln w="25400">
            <a:solidFill>
              <a:schemeClr val="accent1"/>
            </a:solidFill>
            <a:prstDash val="solid"/>
          </a:ln>
        </p:spPr>
      </p:sp>
      <p:sp>
        <p:nvSpPr>
          <p:cNvPr id="7" name="Text 5"/>
          <p:cNvSpPr txBox="1"/>
          <p:nvPr/>
        </p:nvSpPr>
        <p:spPr>
          <a:xfrm>
            <a:off x="2240280" y="2468880"/>
            <a:ext cx="2011680" cy="914400"/>
          </a:xfrm>
          <a:prstGeom prst="rect">
            <a:avLst/>
          </a:prstGeom>
          <a:noFill/>
          <a:ln/>
        </p:spPr>
        <p:txBody>
          <a:bodyPr wrap="square" lIns="0" tIns="0" rIns="0" bIns="0" rtlCol="0" anchor="ctr"/>
          <a:lstStyle/>
          <a:p>
            <a:pPr algn="ctr" indent="0" marL="0">
              <a:buNone/>
            </a:pPr>
            <a:r>
              <a:rPr lang="en-US" sz="1400" b="1" dirty="0">
                <a:solidFill>
                  <a:schemeClr val="accent1"/>
                </a:solidFill>
              </a:rPr>
              <a:t>Sistema de inscripción</a:t>
            </a:r>
            <a:endParaRPr lang="en-US" sz="1400" dirty="0"/>
          </a:p>
        </p:txBody>
      </p:sp>
      <p:sp>
        <p:nvSpPr>
          <p:cNvPr id="8" name="Text 6"/>
          <p:cNvSpPr txBox="1"/>
          <p:nvPr/>
        </p:nvSpPr>
        <p:spPr>
          <a:xfrm>
            <a:off x="4434840" y="2697480"/>
            <a:ext cx="1463040" cy="457200"/>
          </a:xfrm>
          <a:prstGeom prst="rect">
            <a:avLst/>
          </a:prstGeom>
          <a:noFill/>
          <a:ln/>
        </p:spPr>
        <p:txBody>
          <a:bodyPr wrap="square" lIns="0" tIns="0" rIns="0" bIns="0" rtlCol="0" anchor="t"/>
          <a:lstStyle/>
          <a:p>
            <a:pPr indent="0" marL="0">
              <a:buNone/>
            </a:pPr>
            <a:r>
              <a:rPr lang="en-US" sz="1200" i="1" dirty="0">
                <a:solidFill>
                  <a:schemeClr val="accent5"/>
                </a:solidFill>
              </a:rPr>
              <a:t>Nivel 0 (contexto)</a:t>
            </a:r>
            <a:endParaRPr lang="en-US" sz="1200" dirty="0"/>
          </a:p>
        </p:txBody>
      </p:sp>
      <p:sp>
        <p:nvSpPr>
          <p:cNvPr id="9" name="Shape 7"/>
          <p:cNvSpPr/>
          <p:nvPr/>
        </p:nvSpPr>
        <p:spPr>
          <a:xfrm>
            <a:off x="914400" y="3977640"/>
            <a:ext cx="1280160" cy="685800"/>
          </a:xfrm>
          <a:prstGeom prst="ellipse">
            <a:avLst/>
          </a:prstGeom>
          <a:solidFill>
            <a:schemeClr val="bg1"/>
          </a:solidFill>
          <a:ln w="25400">
            <a:solidFill>
              <a:schemeClr val="accent1"/>
            </a:solidFill>
            <a:prstDash val="solid"/>
          </a:ln>
        </p:spPr>
      </p:sp>
      <p:sp>
        <p:nvSpPr>
          <p:cNvPr id="10" name="Text 8"/>
          <p:cNvSpPr txBox="1"/>
          <p:nvPr/>
        </p:nvSpPr>
        <p:spPr>
          <a:xfrm>
            <a:off x="914400" y="3977640"/>
            <a:ext cx="1280160" cy="6858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11" name="Shape 9"/>
          <p:cNvSpPr/>
          <p:nvPr/>
        </p:nvSpPr>
        <p:spPr>
          <a:xfrm flipH="1">
            <a:off x="1554480" y="3429000"/>
            <a:ext cx="1691640" cy="521208"/>
          </a:xfrm>
          <a:prstGeom prst="line">
            <a:avLst/>
          </a:prstGeom>
          <a:noFill/>
          <a:ln w="15875">
            <a:solidFill>
              <a:schemeClr val="accent5"/>
            </a:solidFill>
            <a:prstDash val="dash"/>
            <a:tailEnd type="triangle"/>
          </a:ln>
        </p:spPr>
      </p:sp>
      <p:sp>
        <p:nvSpPr>
          <p:cNvPr id="12" name="Shape 10"/>
          <p:cNvSpPr/>
          <p:nvPr/>
        </p:nvSpPr>
        <p:spPr>
          <a:xfrm>
            <a:off x="2514600" y="3977640"/>
            <a:ext cx="1280160" cy="685800"/>
          </a:xfrm>
          <a:prstGeom prst="ellipse">
            <a:avLst/>
          </a:prstGeom>
          <a:solidFill>
            <a:schemeClr val="bg1"/>
          </a:solidFill>
          <a:ln w="25400">
            <a:solidFill>
              <a:schemeClr val="accent1"/>
            </a:solidFill>
            <a:prstDash val="solid"/>
          </a:ln>
        </p:spPr>
      </p:sp>
      <p:sp>
        <p:nvSpPr>
          <p:cNvPr id="13" name="Text 11"/>
          <p:cNvSpPr txBox="1"/>
          <p:nvPr/>
        </p:nvSpPr>
        <p:spPr>
          <a:xfrm>
            <a:off x="2514600" y="3977640"/>
            <a:ext cx="1280160" cy="6858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4" name="Shape 12"/>
          <p:cNvSpPr/>
          <p:nvPr/>
        </p:nvSpPr>
        <p:spPr>
          <a:xfrm flipH="1">
            <a:off x="3154680" y="3429000"/>
            <a:ext cx="91440" cy="521208"/>
          </a:xfrm>
          <a:prstGeom prst="line">
            <a:avLst/>
          </a:prstGeom>
          <a:noFill/>
          <a:ln w="15875">
            <a:solidFill>
              <a:schemeClr val="accent5"/>
            </a:solidFill>
            <a:prstDash val="dash"/>
            <a:tailEnd type="triangle"/>
          </a:ln>
        </p:spPr>
      </p:sp>
      <p:sp>
        <p:nvSpPr>
          <p:cNvPr id="15" name="Shape 13"/>
          <p:cNvSpPr/>
          <p:nvPr/>
        </p:nvSpPr>
        <p:spPr>
          <a:xfrm>
            <a:off x="4114800" y="3977640"/>
            <a:ext cx="1280160" cy="685800"/>
          </a:xfrm>
          <a:prstGeom prst="ellipse">
            <a:avLst/>
          </a:prstGeom>
          <a:solidFill>
            <a:schemeClr val="bg1"/>
          </a:solidFill>
          <a:ln w="25400">
            <a:solidFill>
              <a:schemeClr val="accent1"/>
            </a:solidFill>
            <a:prstDash val="solid"/>
          </a:ln>
        </p:spPr>
      </p:sp>
      <p:sp>
        <p:nvSpPr>
          <p:cNvPr id="16" name="Text 14"/>
          <p:cNvSpPr txBox="1"/>
          <p:nvPr/>
        </p:nvSpPr>
        <p:spPr>
          <a:xfrm>
            <a:off x="4114800" y="3977640"/>
            <a:ext cx="1280160" cy="6858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7" name="Shape 15"/>
          <p:cNvSpPr/>
          <p:nvPr/>
        </p:nvSpPr>
        <p:spPr>
          <a:xfrm>
            <a:off x="3246120" y="3429000"/>
            <a:ext cx="1508760" cy="521208"/>
          </a:xfrm>
          <a:prstGeom prst="line">
            <a:avLst/>
          </a:prstGeom>
          <a:noFill/>
          <a:ln w="15875">
            <a:solidFill>
              <a:schemeClr val="accent5"/>
            </a:solidFill>
            <a:prstDash val="dash"/>
            <a:tailEnd type="triangle"/>
          </a:ln>
        </p:spPr>
      </p:sp>
      <p:sp>
        <p:nvSpPr>
          <p:cNvPr id="18" name="Text 16"/>
          <p:cNvSpPr txBox="1"/>
          <p:nvPr/>
        </p:nvSpPr>
        <p:spPr>
          <a:xfrm>
            <a:off x="822960" y="4709160"/>
            <a:ext cx="1463040" cy="320040"/>
          </a:xfrm>
          <a:prstGeom prst="rect">
            <a:avLst/>
          </a:prstGeom>
          <a:noFill/>
          <a:ln/>
        </p:spPr>
        <p:txBody>
          <a:bodyPr wrap="square" lIns="0" tIns="0" rIns="0" bIns="0" rtlCol="0" anchor="t"/>
          <a:lstStyle/>
          <a:p>
            <a:pPr indent="0" marL="0">
              <a:buNone/>
            </a:pPr>
            <a:r>
              <a:rPr lang="en-US" sz="1200" i="1" dirty="0">
                <a:solidFill>
                  <a:schemeClr val="accent5"/>
                </a:solidFill>
              </a:rPr>
              <a:t>Nivel 1</a:t>
            </a:r>
            <a:endParaRPr lang="en-US" sz="1200" dirty="0"/>
          </a:p>
        </p:txBody>
      </p:sp>
      <p:sp>
        <p:nvSpPr>
          <p:cNvPr id="19" name="Text 17"/>
          <p:cNvSpPr txBox="1"/>
          <p:nvPr/>
        </p:nvSpPr>
        <p:spPr>
          <a:xfrm>
            <a:off x="822960" y="5074920"/>
            <a:ext cx="4937760" cy="868680"/>
          </a:xfrm>
          <a:prstGeom prst="rect">
            <a:avLst/>
          </a:prstGeom>
          <a:noFill/>
          <a:ln/>
        </p:spPr>
        <p:txBody>
          <a:bodyPr wrap="square" lIns="0" tIns="0" rIns="0" bIns="0" rtlCol="0" anchor="t"/>
          <a:lstStyle/>
          <a:p>
            <a:pPr indent="0" marL="0">
              <a:buNone/>
            </a:pPr>
            <a:r>
              <a:rPr lang="en-US" sz="1450" dirty="0">
                <a:solidFill>
                  <a:schemeClr val="tx1"/>
                </a:solidFill>
              </a:rPr>
              <a:t>Cada burbuja se «explota» en un DFD más detallado, conservando los flujos de entrada y salida (balanceo).</a:t>
            </a:r>
            <a:endParaRPr lang="en-US" sz="1450" dirty="0"/>
          </a:p>
        </p:txBody>
      </p:sp>
      <p:sp>
        <p:nvSpPr>
          <p:cNvPr id="20" name="Shape 18"/>
          <p:cNvSpPr/>
          <p:nvPr/>
        </p:nvSpPr>
        <p:spPr>
          <a:xfrm>
            <a:off x="6217920" y="1737360"/>
            <a:ext cx="5394960" cy="4343400"/>
          </a:xfrm>
          <a:prstGeom prst="roundRect">
            <a:avLst>
              <a:gd name="adj" fmla="val 1684"/>
            </a:avLst>
          </a:prstGeom>
          <a:solidFill>
            <a:schemeClr val="accent4"/>
          </a:solidFill>
          <a:ln w="12700">
            <a:solidFill>
              <a:schemeClr val="accent4"/>
            </a:solidFill>
            <a:prstDash val="solid"/>
          </a:ln>
        </p:spPr>
      </p:sp>
      <p:sp>
        <p:nvSpPr>
          <p:cNvPr id="21" name="Shape 19"/>
          <p:cNvSpPr/>
          <p:nvPr/>
        </p:nvSpPr>
        <p:spPr>
          <a:xfrm>
            <a:off x="6492240" y="1901952"/>
            <a:ext cx="548640" cy="548640"/>
          </a:xfrm>
          <a:prstGeom prst="ellipse">
            <a:avLst/>
          </a:prstGeom>
          <a:solidFill>
            <a:schemeClr val="accent1"/>
          </a:solidFill>
          <a:ln w="12700">
            <a:solidFill>
              <a:schemeClr val="accent1"/>
            </a:solidFill>
            <a:prstDash val="solid"/>
          </a:ln>
        </p:spPr>
      </p:sp>
      <p:pic>
        <p:nvPicPr>
          <p:cNvPr id="22" name="Image 0" descr="preencoded.png">    </p:cNvPr>
          <p:cNvPicPr>
            <a:picLocks noChangeAspect="1"/>
          </p:cNvPicPr>
          <p:nvPr/>
        </p:nvPicPr>
        <p:blipFill>
          <a:blip r:embed="rId1"/>
          <a:stretch>
            <a:fillRect/>
          </a:stretch>
        </p:blipFill>
        <p:spPr>
          <a:xfrm>
            <a:off x="6629400" y="2039112"/>
            <a:ext cx="274320" cy="274320"/>
          </a:xfrm>
          <a:prstGeom prst="rect">
            <a:avLst/>
          </a:prstGeom>
        </p:spPr>
      </p:pic>
      <p:sp>
        <p:nvSpPr>
          <p:cNvPr id="23" name="Text 20"/>
          <p:cNvSpPr txBox="1"/>
          <p:nvPr/>
        </p:nvSpPr>
        <p:spPr>
          <a:xfrm>
            <a:off x="7178040" y="1901952"/>
            <a:ext cx="4114800" cy="548640"/>
          </a:xfrm>
          <a:prstGeom prst="rect">
            <a:avLst/>
          </a:prstGeom>
          <a:noFill/>
          <a:ln/>
        </p:spPr>
        <p:txBody>
          <a:bodyPr wrap="square" lIns="0" tIns="0" rIns="0" bIns="0" rtlCol="0" anchor="ctr"/>
          <a:lstStyle/>
          <a:p>
            <a:pPr indent="0" marL="0">
              <a:buNone/>
            </a:pPr>
            <a:r>
              <a:rPr lang="en-US" sz="1900" b="1" dirty="0">
                <a:solidFill>
                  <a:schemeClr val="accent1"/>
                </a:solidFill>
              </a:rPr>
              <a:t>Limitaciones</a:t>
            </a:r>
            <a:endParaRPr lang="en-US" sz="1900" dirty="0"/>
          </a:p>
        </p:txBody>
      </p:sp>
      <p:sp>
        <p:nvSpPr>
          <p:cNvPr id="24" name="Text 21"/>
          <p:cNvSpPr txBox="1"/>
          <p:nvPr/>
        </p:nvSpPr>
        <p:spPr>
          <a:xfrm>
            <a:off x="6492240" y="2697480"/>
            <a:ext cx="489204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Semántica informal: el significado depende de los nombres elegidos.</a:t>
            </a:r>
            <a:endParaRPr lang="en-US" sz="1600" dirty="0"/>
          </a:p>
          <a:p>
            <a:pPr marL="342900" indent="-342900">
              <a:spcAft>
                <a:spcPts val="1000"/>
              </a:spcAft>
              <a:buSzPct val="100000"/>
              <a:buChar char="•"/>
            </a:pPr>
            <a:r>
              <a:rPr lang="en-US" sz="1600" dirty="0">
                <a:solidFill>
                  <a:schemeClr val="tx1"/>
                </a:solidFill>
              </a:rPr>
              <a:t>No expresa control: ¿cuándo se activa un proceso? ¿necesita todas sus entradas o alguna?</a:t>
            </a:r>
            <a:endParaRPr lang="en-US" sz="1600" dirty="0"/>
          </a:p>
          <a:p>
            <a:pPr marL="342900" indent="-342900">
              <a:spcAft>
                <a:spcPts val="1000"/>
              </a:spcAft>
              <a:buSzPct val="100000"/>
              <a:buChar char="•"/>
            </a:pPr>
            <a:r>
              <a:rPr lang="en-US" sz="1600" dirty="0">
                <a:solidFill>
                  <a:schemeClr val="tx1"/>
                </a:solidFill>
              </a:rPr>
              <a:t>No expresa sincronización ni orden temporal entre procesos.</a:t>
            </a:r>
            <a:endParaRPr lang="en-US" sz="1600" dirty="0"/>
          </a:p>
          <a:p>
            <a:pPr marL="342900" indent="-342900">
              <a:spcAft>
                <a:spcPts val="1000"/>
              </a:spcAft>
              <a:buSzPct val="100000"/>
              <a:buChar char="•"/>
            </a:pPr>
            <a:r>
              <a:rPr lang="en-US" sz="1600" dirty="0">
                <a:solidFill>
                  <a:schemeClr val="tx1"/>
                </a:solidFill>
              </a:rPr>
              <a:t>Útil para comunicar con el usuario; insuficiente como especificación precisa.</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5.5 · ESPECIFICACIONES OPERACIONALES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Máquinas de estados finitos (MEF)</a:t>
            </a:r>
            <a:endParaRPr lang="en-US" sz="3400" dirty="0"/>
          </a:p>
        </p:txBody>
      </p:sp>
      <p:sp>
        <p:nvSpPr>
          <p:cNvPr id="4" name="Shape 2"/>
          <p:cNvSpPr/>
          <p:nvPr/>
        </p:nvSpPr>
        <p:spPr>
          <a:xfrm>
            <a:off x="548640" y="1737360"/>
            <a:ext cx="4206240" cy="4343400"/>
          </a:xfrm>
          <a:prstGeom prst="roundRect">
            <a:avLst>
              <a:gd name="adj" fmla="val 1739"/>
            </a:avLst>
          </a:prstGeom>
          <a:solidFill>
            <a:schemeClr val="bg2"/>
          </a:solidFill>
          <a:ln w="12700">
            <a:solidFill>
              <a:schemeClr val="accent3"/>
            </a:solidFill>
            <a:prstDash val="solid"/>
          </a:ln>
        </p:spPr>
      </p:sp>
      <p:sp>
        <p:nvSpPr>
          <p:cNvPr id="5" name="Text 3"/>
          <p:cNvSpPr txBox="1"/>
          <p:nvPr/>
        </p:nvSpPr>
        <p:spPr>
          <a:xfrm>
            <a:off x="822960" y="1874520"/>
            <a:ext cx="3657600" cy="411480"/>
          </a:xfrm>
          <a:prstGeom prst="rect">
            <a:avLst/>
          </a:prstGeom>
          <a:noFill/>
          <a:ln/>
        </p:spPr>
        <p:txBody>
          <a:bodyPr wrap="square" lIns="0" tIns="0" rIns="0" bIns="0" rtlCol="0" anchor="t"/>
          <a:lstStyle/>
          <a:p>
            <a:pPr indent="0" marL="0">
              <a:buNone/>
            </a:pPr>
            <a:r>
              <a:rPr lang="en-US" sz="1900" b="1" dirty="0">
                <a:solidFill>
                  <a:schemeClr val="tx2"/>
                </a:solidFill>
              </a:rPr>
              <a:t>Definición</a:t>
            </a:r>
            <a:endParaRPr lang="en-US" sz="1900" dirty="0"/>
          </a:p>
        </p:txBody>
      </p:sp>
      <p:sp>
        <p:nvSpPr>
          <p:cNvPr id="6" name="Text 4"/>
          <p:cNvSpPr txBox="1"/>
          <p:nvPr/>
        </p:nvSpPr>
        <p:spPr>
          <a:xfrm>
            <a:off x="822960" y="2377440"/>
            <a:ext cx="3657600" cy="502920"/>
          </a:xfrm>
          <a:prstGeom prst="rect">
            <a:avLst/>
          </a:prstGeom>
          <a:noFill/>
          <a:ln/>
        </p:spPr>
        <p:txBody>
          <a:bodyPr wrap="square" lIns="0" tIns="0" rIns="0" bIns="0" rtlCol="0" anchor="t"/>
          <a:lstStyle/>
          <a:p>
            <a:pPr indent="0" marL="0">
              <a:buNone/>
            </a:pPr>
            <a:r>
              <a:rPr lang="en-US" sz="2000" b="1" dirty="0">
                <a:solidFill>
                  <a:schemeClr val="accent1"/>
                </a:solidFill>
                <a:latin typeface="Cambria Math" pitchFamily="34" charset="0"/>
                <a:ea typeface="Cambria Math" pitchFamily="34" charset="-122"/>
                <a:cs typeface="Cambria Math" pitchFamily="34" charset="-120"/>
              </a:rPr>
              <a:t>MEF = ⟨ Q, I, δ, q₀ ⟩</a:t>
            </a:r>
            <a:endParaRPr lang="en-US" sz="2000" dirty="0"/>
          </a:p>
        </p:txBody>
      </p:sp>
      <p:sp>
        <p:nvSpPr>
          <p:cNvPr id="7" name="Text 5"/>
          <p:cNvSpPr txBox="1"/>
          <p:nvPr/>
        </p:nvSpPr>
        <p:spPr>
          <a:xfrm>
            <a:off x="822960" y="3017520"/>
            <a:ext cx="3749040" cy="173736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latin typeface="Cambria Math" pitchFamily="34" charset="0"/>
                <a:ea typeface="Cambria Math" pitchFamily="34" charset="-122"/>
                <a:cs typeface="Cambria Math" pitchFamily="34" charset="-120"/>
              </a:rPr>
              <a:t>Q</a:t>
            </a:r>
            <a:pPr indent="0" marL="0">
              <a:spcAft>
                <a:spcPts val="600"/>
              </a:spcAft>
              <a:buNone/>
            </a:pPr>
            <a:r>
              <a:rPr lang="en-US" sz="1500" dirty="0">
                <a:solidFill>
                  <a:schemeClr val="tx1"/>
                </a:solidFill>
              </a:rPr>
              <a:t>  conjunto finito de estados</a:t>
            </a:r>
            <a:endParaRPr lang="en-US" sz="1500" dirty="0"/>
          </a:p>
          <a:p>
            <a:pPr indent="0" marL="0">
              <a:spcAft>
                <a:spcPts val="600"/>
              </a:spcAft>
              <a:buNone/>
            </a:pPr>
            <a:r>
              <a:rPr lang="en-US" sz="1500" b="1" dirty="0">
                <a:solidFill>
                  <a:schemeClr val="tx1"/>
                </a:solidFill>
                <a:latin typeface="Cambria Math" pitchFamily="34" charset="0"/>
                <a:ea typeface="Cambria Math" pitchFamily="34" charset="-122"/>
                <a:cs typeface="Cambria Math" pitchFamily="34" charset="-120"/>
              </a:rPr>
              <a:t>I</a:t>
            </a:r>
            <a:pPr indent="0" marL="0">
              <a:spcAft>
                <a:spcPts val="600"/>
              </a:spcAft>
              <a:buNone/>
            </a:pPr>
            <a:r>
              <a:rPr lang="en-US" sz="1500" dirty="0">
                <a:solidFill>
                  <a:schemeClr val="tx1"/>
                </a:solidFill>
              </a:rPr>
              <a:t>  conjunto finito de entradas</a:t>
            </a:r>
            <a:endParaRPr lang="en-US" sz="1500" dirty="0"/>
          </a:p>
          <a:p>
            <a:pPr indent="0" marL="0">
              <a:spcAft>
                <a:spcPts val="600"/>
              </a:spcAft>
              <a:buNone/>
            </a:pPr>
            <a:r>
              <a:rPr lang="en-US" sz="1500" b="1" dirty="0">
                <a:solidFill>
                  <a:schemeClr val="tx1"/>
                </a:solidFill>
                <a:latin typeface="Cambria Math" pitchFamily="34" charset="0"/>
                <a:ea typeface="Cambria Math" pitchFamily="34" charset="-122"/>
                <a:cs typeface="Cambria Math" pitchFamily="34" charset="-120"/>
              </a:rPr>
              <a:t>δ : Q × I → Q</a:t>
            </a:r>
            <a:pPr indent="0" marL="0">
              <a:spcAft>
                <a:spcPts val="600"/>
              </a:spcAft>
              <a:buNone/>
            </a:pPr>
            <a:r>
              <a:rPr lang="en-US" sz="1500" dirty="0">
                <a:solidFill>
                  <a:schemeClr val="tx1"/>
                </a:solidFill>
              </a:rPr>
              <a:t>  función de transición</a:t>
            </a:r>
            <a:endParaRPr lang="en-US" sz="1500" dirty="0"/>
          </a:p>
          <a:p>
            <a:pPr indent="0" marL="0">
              <a:spcAft>
                <a:spcPts val="600"/>
              </a:spcAft>
              <a:buNone/>
            </a:pPr>
            <a:r>
              <a:rPr lang="en-US" sz="1500" b="1" dirty="0">
                <a:solidFill>
                  <a:schemeClr val="tx1"/>
                </a:solidFill>
                <a:latin typeface="Cambria Math" pitchFamily="34" charset="0"/>
                <a:ea typeface="Cambria Math" pitchFamily="34" charset="-122"/>
                <a:cs typeface="Cambria Math" pitchFamily="34" charset="-120"/>
              </a:rPr>
              <a:t>q₀ ∈ Q</a:t>
            </a:r>
            <a:pPr indent="0" marL="0">
              <a:spcAft>
                <a:spcPts val="600"/>
              </a:spcAft>
              <a:buNone/>
            </a:pPr>
            <a:r>
              <a:rPr lang="en-US" sz="1500" dirty="0">
                <a:solidFill>
                  <a:schemeClr val="tx1"/>
                </a:solidFill>
              </a:rPr>
              <a:t>  estado inicial</a:t>
            </a:r>
            <a:endParaRPr lang="en-US" sz="1500" dirty="0"/>
          </a:p>
        </p:txBody>
      </p:sp>
      <p:sp>
        <p:nvSpPr>
          <p:cNvPr id="8" name="Text 6"/>
          <p:cNvSpPr txBox="1"/>
          <p:nvPr/>
        </p:nvSpPr>
        <p:spPr>
          <a:xfrm>
            <a:off x="822960" y="4892040"/>
            <a:ext cx="3749040" cy="1005840"/>
          </a:xfrm>
          <a:prstGeom prst="rect">
            <a:avLst/>
          </a:prstGeom>
          <a:noFill/>
          <a:ln/>
        </p:spPr>
        <p:txBody>
          <a:bodyPr wrap="square" lIns="0" tIns="0" rIns="0" bIns="0" rtlCol="0" anchor="t"/>
          <a:lstStyle/>
          <a:p>
            <a:pPr indent="0" marL="0">
              <a:buNone/>
            </a:pPr>
            <a:r>
              <a:rPr lang="en-US" sz="1350" i="1" dirty="0">
                <a:solidFill>
                  <a:schemeClr val="accent5"/>
                </a:solidFill>
              </a:rPr>
              <a:t>Variantes con salidas: máquinas de Mealy (salida en la transición) y de Moore (salida en el estado).</a:t>
            </a:r>
            <a:endParaRPr lang="en-US" sz="1350" dirty="0"/>
          </a:p>
        </p:txBody>
      </p:sp>
      <p:sp>
        <p:nvSpPr>
          <p:cNvPr id="9" name="Shape 7"/>
          <p:cNvSpPr/>
          <p:nvPr/>
        </p:nvSpPr>
        <p:spPr>
          <a:xfrm>
            <a:off x="5029200" y="1737360"/>
            <a:ext cx="6583680" cy="4343400"/>
          </a:xfrm>
          <a:prstGeom prst="roundRect">
            <a:avLst>
              <a:gd name="adj" fmla="val 1684"/>
            </a:avLst>
          </a:prstGeom>
          <a:solidFill>
            <a:schemeClr val="bg1"/>
          </a:solidFill>
          <a:ln w="12700">
            <a:solidFill>
              <a:schemeClr val="accent3"/>
            </a:solidFill>
            <a:prstDash val="solid"/>
          </a:ln>
        </p:spPr>
      </p:sp>
      <p:sp>
        <p:nvSpPr>
          <p:cNvPr id="10" name="Text 8"/>
          <p:cNvSpPr txBox="1"/>
          <p:nvPr/>
        </p:nvSpPr>
        <p:spPr>
          <a:xfrm>
            <a:off x="5303520" y="1828800"/>
            <a:ext cx="6035040" cy="365760"/>
          </a:xfrm>
          <a:prstGeom prst="rect">
            <a:avLst/>
          </a:prstGeom>
          <a:noFill/>
          <a:ln/>
        </p:spPr>
        <p:txBody>
          <a:bodyPr wrap="square" lIns="0" tIns="0" rIns="0" bIns="0" rtlCol="0" anchor="t"/>
          <a:lstStyle/>
          <a:p>
            <a:pPr indent="0" marL="0">
              <a:buNone/>
            </a:pPr>
            <a:r>
              <a:rPr lang="en-US" sz="1500" b="1" dirty="0">
                <a:solidFill>
                  <a:schemeClr val="tx2"/>
                </a:solidFill>
              </a:rPr>
              <a:t>Ejemplo: torniquete de acceso</a:t>
            </a:r>
            <a:endParaRPr lang="en-US" sz="1500" dirty="0"/>
          </a:p>
        </p:txBody>
      </p:sp>
      <p:sp>
        <p:nvSpPr>
          <p:cNvPr id="11" name="Shape 9"/>
          <p:cNvSpPr/>
          <p:nvPr/>
        </p:nvSpPr>
        <p:spPr>
          <a:xfrm>
            <a:off x="5440680" y="2862072"/>
            <a:ext cx="640080" cy="585216"/>
          </a:xfrm>
          <a:prstGeom prst="ellipse">
            <a:avLst/>
          </a:prstGeom>
          <a:ln w="22225">
            <a:solidFill>
              <a:schemeClr val="accent1"/>
            </a:solidFill>
            <a:prstDash val="solid"/>
          </a:ln>
        </p:spPr>
      </p:sp>
      <p:sp>
        <p:nvSpPr>
          <p:cNvPr id="12" name="Text 10"/>
          <p:cNvSpPr txBox="1"/>
          <p:nvPr/>
        </p:nvSpPr>
        <p:spPr>
          <a:xfrm>
            <a:off x="5166360" y="2468880"/>
            <a:ext cx="1188720" cy="320040"/>
          </a:xfrm>
          <a:prstGeom prst="rect">
            <a:avLst/>
          </a:prstGeom>
          <a:noFill/>
          <a:ln/>
        </p:spPr>
        <p:txBody>
          <a:bodyPr wrap="square" lIns="0" tIns="0" rIns="0" bIns="0" rtlCol="0" anchor="ctr"/>
          <a:lstStyle/>
          <a:p>
            <a:pPr algn="ctr" indent="0" marL="0">
              <a:buNone/>
            </a:pPr>
            <a:r>
              <a:rPr lang="en-US" sz="1300" i="1" dirty="0">
                <a:solidFill>
                  <a:schemeClr val="accent1"/>
                </a:solidFill>
              </a:rPr>
              <a:t>empujar</a:t>
            </a:r>
            <a:endParaRPr lang="en-US" sz="1300" dirty="0"/>
          </a:p>
        </p:txBody>
      </p:sp>
      <p:sp>
        <p:nvSpPr>
          <p:cNvPr id="13" name="Shape 11"/>
          <p:cNvSpPr/>
          <p:nvPr/>
        </p:nvSpPr>
        <p:spPr>
          <a:xfrm>
            <a:off x="10515600" y="2862072"/>
            <a:ext cx="640080" cy="585216"/>
          </a:xfrm>
          <a:prstGeom prst="ellipse">
            <a:avLst/>
          </a:prstGeom>
          <a:ln w="22225">
            <a:solidFill>
              <a:schemeClr val="accent1"/>
            </a:solidFill>
            <a:prstDash val="solid"/>
          </a:ln>
        </p:spPr>
      </p:sp>
      <p:sp>
        <p:nvSpPr>
          <p:cNvPr id="14" name="Text 12"/>
          <p:cNvSpPr txBox="1"/>
          <p:nvPr/>
        </p:nvSpPr>
        <p:spPr>
          <a:xfrm>
            <a:off x="10241280" y="2468880"/>
            <a:ext cx="1188720" cy="320040"/>
          </a:xfrm>
          <a:prstGeom prst="rect">
            <a:avLst/>
          </a:prstGeom>
          <a:noFill/>
          <a:ln/>
        </p:spPr>
        <p:txBody>
          <a:bodyPr wrap="square" lIns="0" tIns="0" rIns="0" bIns="0" rtlCol="0" anchor="ctr"/>
          <a:lstStyle/>
          <a:p>
            <a:pPr algn="ctr" indent="0" marL="0">
              <a:buNone/>
            </a:pPr>
            <a:r>
              <a:rPr lang="en-US" sz="1300" i="1" dirty="0">
                <a:solidFill>
                  <a:schemeClr val="accent1"/>
                </a:solidFill>
              </a:rPr>
              <a:t>moneda</a:t>
            </a:r>
            <a:endParaRPr lang="en-US" sz="1300" dirty="0"/>
          </a:p>
        </p:txBody>
      </p:sp>
      <p:sp>
        <p:nvSpPr>
          <p:cNvPr id="15" name="Shape 13"/>
          <p:cNvSpPr/>
          <p:nvPr/>
        </p:nvSpPr>
        <p:spPr>
          <a:xfrm>
            <a:off x="5852160" y="2651760"/>
            <a:ext cx="1463040" cy="1005840"/>
          </a:xfrm>
          <a:prstGeom prst="ellipse">
            <a:avLst/>
          </a:prstGeom>
          <a:solidFill>
            <a:schemeClr val="bg2"/>
          </a:solidFill>
          <a:ln w="28575">
            <a:solidFill>
              <a:schemeClr val="tx2"/>
            </a:solidFill>
            <a:prstDash val="solid"/>
          </a:ln>
        </p:spPr>
      </p:sp>
      <p:sp>
        <p:nvSpPr>
          <p:cNvPr id="16" name="Text 14"/>
          <p:cNvSpPr txBox="1"/>
          <p:nvPr/>
        </p:nvSpPr>
        <p:spPr>
          <a:xfrm>
            <a:off x="5852160" y="2651760"/>
            <a:ext cx="1463040" cy="1005840"/>
          </a:xfrm>
          <a:prstGeom prst="rect">
            <a:avLst/>
          </a:prstGeom>
          <a:noFill/>
          <a:ln/>
        </p:spPr>
        <p:txBody>
          <a:bodyPr wrap="square" lIns="0" tIns="0" rIns="0" bIns="0" rtlCol="0" anchor="ctr"/>
          <a:lstStyle/>
          <a:p>
            <a:pPr algn="ctr" indent="0" marL="0">
              <a:buNone/>
            </a:pPr>
            <a:r>
              <a:rPr lang="en-US" sz="1400" b="1" dirty="0">
                <a:solidFill>
                  <a:schemeClr val="tx2"/>
                </a:solidFill>
              </a:rPr>
              <a:t>Bloqueado</a:t>
            </a:r>
            <a:endParaRPr lang="en-US" sz="1400" dirty="0"/>
          </a:p>
        </p:txBody>
      </p:sp>
      <p:sp>
        <p:nvSpPr>
          <p:cNvPr id="17" name="Shape 15"/>
          <p:cNvSpPr/>
          <p:nvPr/>
        </p:nvSpPr>
        <p:spPr>
          <a:xfrm>
            <a:off x="9281160" y="2651760"/>
            <a:ext cx="1463040" cy="1005840"/>
          </a:xfrm>
          <a:prstGeom prst="ellipse">
            <a:avLst/>
          </a:prstGeom>
          <a:solidFill>
            <a:schemeClr val="bg2"/>
          </a:solidFill>
          <a:ln w="28575">
            <a:solidFill>
              <a:schemeClr val="tx2"/>
            </a:solidFill>
            <a:prstDash val="solid"/>
          </a:ln>
        </p:spPr>
      </p:sp>
      <p:sp>
        <p:nvSpPr>
          <p:cNvPr id="18" name="Text 16"/>
          <p:cNvSpPr txBox="1"/>
          <p:nvPr/>
        </p:nvSpPr>
        <p:spPr>
          <a:xfrm>
            <a:off x="9281160" y="2651760"/>
            <a:ext cx="1463040" cy="1005840"/>
          </a:xfrm>
          <a:prstGeom prst="rect">
            <a:avLst/>
          </a:prstGeom>
          <a:noFill/>
          <a:ln/>
        </p:spPr>
        <p:txBody>
          <a:bodyPr wrap="square" lIns="0" tIns="0" rIns="0" bIns="0" rtlCol="0" anchor="ctr"/>
          <a:lstStyle/>
          <a:p>
            <a:pPr algn="ctr" indent="0" marL="0">
              <a:buNone/>
            </a:pPr>
            <a:r>
              <a:rPr lang="en-US" sz="1400" b="1" dirty="0">
                <a:solidFill>
                  <a:schemeClr val="tx2"/>
                </a:solidFill>
              </a:rPr>
              <a:t>Desbloqueado</a:t>
            </a:r>
            <a:endParaRPr lang="en-US" sz="1400" dirty="0"/>
          </a:p>
        </p:txBody>
      </p:sp>
      <p:sp>
        <p:nvSpPr>
          <p:cNvPr id="19" name="Shape 17"/>
          <p:cNvSpPr/>
          <p:nvPr/>
        </p:nvSpPr>
        <p:spPr>
          <a:xfrm>
            <a:off x="7178040" y="2880360"/>
            <a:ext cx="2240280" cy="914"/>
          </a:xfrm>
          <a:prstGeom prst="line">
            <a:avLst/>
          </a:prstGeom>
          <a:noFill/>
          <a:ln w="25400">
            <a:solidFill>
              <a:schemeClr val="accent1"/>
            </a:solidFill>
            <a:prstDash val="solid"/>
            <a:tailEnd type="triangle"/>
          </a:ln>
        </p:spPr>
      </p:sp>
      <p:sp>
        <p:nvSpPr>
          <p:cNvPr id="20" name="Text 18"/>
          <p:cNvSpPr txBox="1"/>
          <p:nvPr/>
        </p:nvSpPr>
        <p:spPr>
          <a:xfrm>
            <a:off x="7680960" y="2514600"/>
            <a:ext cx="1280160" cy="320040"/>
          </a:xfrm>
          <a:prstGeom prst="rect">
            <a:avLst/>
          </a:prstGeom>
          <a:noFill/>
          <a:ln/>
        </p:spPr>
        <p:txBody>
          <a:bodyPr wrap="square" lIns="0" tIns="0" rIns="0" bIns="0" rtlCol="0" anchor="t"/>
          <a:lstStyle/>
          <a:p>
            <a:pPr algn="ctr" indent="0" marL="0">
              <a:buNone/>
            </a:pPr>
            <a:r>
              <a:rPr lang="en-US" sz="1300" i="1" dirty="0">
                <a:solidFill>
                  <a:schemeClr val="accent1"/>
                </a:solidFill>
              </a:rPr>
              <a:t>moneda</a:t>
            </a:r>
            <a:endParaRPr lang="en-US" sz="1300" dirty="0"/>
          </a:p>
        </p:txBody>
      </p:sp>
      <p:sp>
        <p:nvSpPr>
          <p:cNvPr id="21" name="Shape 19"/>
          <p:cNvSpPr/>
          <p:nvPr/>
        </p:nvSpPr>
        <p:spPr>
          <a:xfrm flipH="1">
            <a:off x="7178040" y="3429000"/>
            <a:ext cx="2240280" cy="914"/>
          </a:xfrm>
          <a:prstGeom prst="line">
            <a:avLst/>
          </a:prstGeom>
          <a:noFill/>
          <a:ln w="25400">
            <a:solidFill>
              <a:schemeClr val="accent1"/>
            </a:solidFill>
            <a:prstDash val="solid"/>
            <a:tailEnd type="triangle"/>
          </a:ln>
        </p:spPr>
      </p:sp>
      <p:sp>
        <p:nvSpPr>
          <p:cNvPr id="22" name="Text 20"/>
          <p:cNvSpPr txBox="1"/>
          <p:nvPr/>
        </p:nvSpPr>
        <p:spPr>
          <a:xfrm>
            <a:off x="7680960" y="3493008"/>
            <a:ext cx="1280160" cy="320040"/>
          </a:xfrm>
          <a:prstGeom prst="rect">
            <a:avLst/>
          </a:prstGeom>
          <a:noFill/>
          <a:ln/>
        </p:spPr>
        <p:txBody>
          <a:bodyPr wrap="square" lIns="0" tIns="0" rIns="0" bIns="0" rtlCol="0" anchor="t"/>
          <a:lstStyle/>
          <a:p>
            <a:pPr algn="ctr" indent="0" marL="0">
              <a:buNone/>
            </a:pPr>
            <a:r>
              <a:rPr lang="en-US" sz="1300" i="1" dirty="0">
                <a:solidFill>
                  <a:schemeClr val="accent1"/>
                </a:solidFill>
              </a:rPr>
              <a:t>empujar</a:t>
            </a:r>
            <a:endParaRPr lang="en-US" sz="1300" dirty="0"/>
          </a:p>
        </p:txBody>
      </p:sp>
      <p:sp>
        <p:nvSpPr>
          <p:cNvPr id="23" name="Shape 21"/>
          <p:cNvSpPr/>
          <p:nvPr/>
        </p:nvSpPr>
        <p:spPr>
          <a:xfrm>
            <a:off x="6583680" y="2212848"/>
            <a:ext cx="914" cy="420624"/>
          </a:xfrm>
          <a:prstGeom prst="line">
            <a:avLst/>
          </a:prstGeom>
          <a:noFill/>
          <a:ln w="22225">
            <a:solidFill>
              <a:schemeClr val="tx2"/>
            </a:solidFill>
            <a:prstDash val="solid"/>
            <a:tailEnd type="triangle"/>
          </a:ln>
        </p:spPr>
      </p:sp>
      <p:sp>
        <p:nvSpPr>
          <p:cNvPr id="24" name="Text 22"/>
          <p:cNvSpPr txBox="1"/>
          <p:nvPr/>
        </p:nvSpPr>
        <p:spPr>
          <a:xfrm>
            <a:off x="6675120" y="2240280"/>
            <a:ext cx="731520" cy="274320"/>
          </a:xfrm>
          <a:prstGeom prst="rect">
            <a:avLst/>
          </a:prstGeom>
          <a:noFill/>
          <a:ln/>
        </p:spPr>
        <p:txBody>
          <a:bodyPr wrap="square" lIns="0" tIns="0" rIns="0" bIns="0" rtlCol="0" anchor="t"/>
          <a:lstStyle/>
          <a:p>
            <a:pPr indent="0" marL="0">
              <a:buNone/>
            </a:pPr>
            <a:r>
              <a:rPr lang="en-US" sz="1100" i="1" dirty="0">
                <a:solidFill>
                  <a:schemeClr val="accent5"/>
                </a:solidFill>
              </a:rPr>
              <a:t>inicio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60720" y="4343400"/>
          <a:ext cx="5120640" cy="914400"/>
        </p:xfrm>
        <a:graphic>
          <a:graphicData uri="http://schemas.openxmlformats.org/drawingml/2006/table">
            <a:tbl>
              <a:tblPr/>
              <a:tblGrid>
                <a:gridCol w="2011680"/>
                <a:gridCol w="1554480"/>
                <a:gridCol w="1554480"/>
              </a:tblGrid>
              <a:tr h="384048">
                <a:tc>
                  <a:txBody>
                    <a:bodyPr/>
                    <a:lstStyle/>
                    <a:p>
                      <a:pPr algn="ctr" indent="0" marL="0">
                        <a:buNone/>
                      </a:pPr>
                      <a:r>
                        <a:rPr lang="en-US" sz="1400" b="1" dirty="0">
                          <a:solidFill>
                            <a:schemeClr val="bg1"/>
                          </a:solidFill>
                        </a:rPr>
                        <a:t>δ (estado, entrada)</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moneda</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empujar</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r>
              <a:tr h="384048">
                <a:tc>
                  <a:txBody>
                    <a:bodyPr/>
                    <a:lstStyle/>
                    <a:p>
                      <a:pPr algn="ctr" indent="0" marL="0">
                        <a:buNone/>
                      </a:pPr>
                      <a:r>
                        <a:rPr lang="en-US" sz="1400" b="1" dirty="0">
                          <a:solidFill>
                            <a:schemeClr val="tx2"/>
                          </a:solidFill>
                        </a:rPr>
                        <a:t>Bloqueado</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algn="ctr" indent="0" marL="0">
                        <a:buNone/>
                      </a:pPr>
                      <a:r>
                        <a:rPr lang="en-US" sz="1400" dirty="0">
                          <a:solidFill>
                            <a:schemeClr val="tx1"/>
                          </a:solidFill>
                        </a:rPr>
                        <a:t>Desbloqueado</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algn="ctr" indent="0" marL="0">
                        <a:buNone/>
                      </a:pPr>
                      <a:r>
                        <a:rPr lang="en-US" sz="1400" dirty="0">
                          <a:solidFill>
                            <a:schemeClr val="tx1"/>
                          </a:solidFill>
                        </a:rPr>
                        <a:t>Bloqueado</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r>
              <a:tr h="384048">
                <a:tc>
                  <a:txBody>
                    <a:bodyPr/>
                    <a:lstStyle/>
                    <a:p>
                      <a:pPr algn="ctr" indent="0" marL="0">
                        <a:buNone/>
                      </a:pPr>
                      <a:r>
                        <a:rPr lang="en-US" sz="1400" b="1" dirty="0">
                          <a:solidFill>
                            <a:schemeClr val="tx2"/>
                          </a:solidFill>
                        </a:rPr>
                        <a:t>Desbloqueado</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algn="ctr" indent="0" marL="0">
                        <a:buNone/>
                      </a:pPr>
                      <a:r>
                        <a:rPr lang="en-US" sz="1400" dirty="0">
                          <a:solidFill>
                            <a:schemeClr val="tx1"/>
                          </a:solidFill>
                        </a:rPr>
                        <a:t>Desbloqueado</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c>
                  <a:txBody>
                    <a:bodyPr/>
                    <a:lstStyle/>
                    <a:p>
                      <a:pPr algn="ctr" indent="0" marL="0">
                        <a:buNone/>
                      </a:pPr>
                      <a:r>
                        <a:rPr lang="en-US" sz="1400" dirty="0">
                          <a:solidFill>
                            <a:schemeClr val="tx1"/>
                          </a:solidFill>
                        </a:rPr>
                        <a:t>Bloqueado</a:t>
                      </a:r>
                      <a:endParaRPr lang="en-US" sz="1400" dirty="0"/>
                    </a:p>
                  </a:txBody>
                  <a:tcPr marL="91440" marR="91440" marT="45720" marB="45720">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5.5 · ESPECIFICACIONES OPERACIONALES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MEF: alcance y limitaciones</a:t>
            </a:r>
            <a:endParaRPr lang="en-US" sz="3400" dirty="0"/>
          </a:p>
        </p:txBody>
      </p:sp>
      <p:sp>
        <p:nvSpPr>
          <p:cNvPr id="4" name="Shape 2"/>
          <p:cNvSpPr/>
          <p:nvPr/>
        </p:nvSpPr>
        <p:spPr>
          <a:xfrm>
            <a:off x="548640" y="1737360"/>
            <a:ext cx="5394960" cy="3246120"/>
          </a:xfrm>
          <a:prstGeom prst="roundRect">
            <a:avLst>
              <a:gd name="adj" fmla="val 2254"/>
            </a:avLst>
          </a:prstGeom>
          <a:solidFill>
            <a:schemeClr val="bg2"/>
          </a:solidFill>
          <a:ln w="12700">
            <a:solidFill>
              <a:schemeClr val="accent3"/>
            </a:solidFill>
            <a:prstDash val="solid"/>
          </a:ln>
        </p:spPr>
      </p:sp>
      <p:sp>
        <p:nvSpPr>
          <p:cNvPr id="5" name="Shape 3"/>
          <p:cNvSpPr/>
          <p:nvPr/>
        </p:nvSpPr>
        <p:spPr>
          <a:xfrm>
            <a:off x="777240" y="1920240"/>
            <a:ext cx="594360" cy="59436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25830" y="2068830"/>
            <a:ext cx="297180" cy="297180"/>
          </a:xfrm>
          <a:prstGeom prst="rect">
            <a:avLst/>
          </a:prstGeom>
        </p:spPr>
      </p:pic>
      <p:sp>
        <p:nvSpPr>
          <p:cNvPr id="7" name="Text 4"/>
          <p:cNvSpPr txBox="1"/>
          <p:nvPr/>
        </p:nvSpPr>
        <p:spPr>
          <a:xfrm>
            <a:off x="1508760" y="1920240"/>
            <a:ext cx="4114800" cy="594360"/>
          </a:xfrm>
          <a:prstGeom prst="rect">
            <a:avLst/>
          </a:prstGeom>
          <a:noFill/>
          <a:ln/>
        </p:spPr>
        <p:txBody>
          <a:bodyPr wrap="square" lIns="0" tIns="0" rIns="0" bIns="0" rtlCol="0" anchor="ctr"/>
          <a:lstStyle/>
          <a:p>
            <a:pPr indent="0" marL="0">
              <a:buNone/>
            </a:pPr>
            <a:r>
              <a:rPr lang="en-US" sz="1900" b="1" dirty="0">
                <a:solidFill>
                  <a:schemeClr val="tx2"/>
                </a:solidFill>
              </a:rPr>
              <a:t>Fortalezas</a:t>
            </a:r>
            <a:endParaRPr lang="en-US" sz="1900" dirty="0"/>
          </a:p>
        </p:txBody>
      </p:sp>
      <p:sp>
        <p:nvSpPr>
          <p:cNvPr id="8" name="Text 5"/>
          <p:cNvSpPr txBox="1"/>
          <p:nvPr/>
        </p:nvSpPr>
        <p:spPr>
          <a:xfrm>
            <a:off x="822960" y="2697480"/>
            <a:ext cx="493776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Notación simple, formal y simulable</a:t>
            </a:r>
            <a:endParaRPr lang="en-US" sz="1600" dirty="0"/>
          </a:p>
          <a:p>
            <a:pPr marL="342900" indent="-342900">
              <a:spcAft>
                <a:spcPts val="1000"/>
              </a:spcAft>
              <a:buSzPct val="100000"/>
              <a:buChar char="•"/>
            </a:pPr>
            <a:r>
              <a:rPr lang="en-US" sz="1600" dirty="0">
                <a:solidFill>
                  <a:schemeClr val="tx1"/>
                </a:solidFill>
              </a:rPr>
              <a:t>Permite verificar propiedades automáticamente</a:t>
            </a:r>
            <a:endParaRPr lang="en-US" sz="1600" dirty="0"/>
          </a:p>
          <a:p>
            <a:pPr marL="342900" indent="-342900">
              <a:spcAft>
                <a:spcPts val="1000"/>
              </a:spcAft>
              <a:buSzPct val="100000"/>
              <a:buChar char="•"/>
            </a:pPr>
            <a:r>
              <a:rPr lang="en-US" sz="1600" dirty="0">
                <a:solidFill>
                  <a:schemeClr val="tx1"/>
                </a:solidFill>
              </a:rPr>
              <a:t>Ideal para sistemas de control, protocolos e interfaces de usuario</a:t>
            </a:r>
            <a:endParaRPr lang="en-US" sz="1600" dirty="0"/>
          </a:p>
        </p:txBody>
      </p:sp>
      <p:sp>
        <p:nvSpPr>
          <p:cNvPr id="9" name="Shape 6"/>
          <p:cNvSpPr/>
          <p:nvPr/>
        </p:nvSpPr>
        <p:spPr>
          <a:xfrm>
            <a:off x="6217920" y="1737360"/>
            <a:ext cx="5394960" cy="3246120"/>
          </a:xfrm>
          <a:prstGeom prst="roundRect">
            <a:avLst>
              <a:gd name="adj" fmla="val 2254"/>
            </a:avLst>
          </a:prstGeom>
          <a:solidFill>
            <a:schemeClr val="accent4"/>
          </a:solidFill>
          <a:ln w="12700">
            <a:solidFill>
              <a:schemeClr val="accent4"/>
            </a:solidFill>
            <a:prstDash val="solid"/>
          </a:ln>
        </p:spPr>
      </p:sp>
      <p:sp>
        <p:nvSpPr>
          <p:cNvPr id="10" name="Shape 7"/>
          <p:cNvSpPr/>
          <p:nvPr/>
        </p:nvSpPr>
        <p:spPr>
          <a:xfrm>
            <a:off x="6446520" y="1920240"/>
            <a:ext cx="594360" cy="59436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595110" y="2068830"/>
            <a:ext cx="297180" cy="297180"/>
          </a:xfrm>
          <a:prstGeom prst="rect">
            <a:avLst/>
          </a:prstGeom>
        </p:spPr>
      </p:pic>
      <p:sp>
        <p:nvSpPr>
          <p:cNvPr id="12" name="Text 8"/>
          <p:cNvSpPr txBox="1"/>
          <p:nvPr/>
        </p:nvSpPr>
        <p:spPr>
          <a:xfrm>
            <a:off x="7178040" y="1920240"/>
            <a:ext cx="4114800" cy="594360"/>
          </a:xfrm>
          <a:prstGeom prst="rect">
            <a:avLst/>
          </a:prstGeom>
          <a:noFill/>
          <a:ln/>
        </p:spPr>
        <p:txBody>
          <a:bodyPr wrap="square" lIns="0" tIns="0" rIns="0" bIns="0" rtlCol="0" anchor="ctr"/>
          <a:lstStyle/>
          <a:p>
            <a:pPr indent="0" marL="0">
              <a:buNone/>
            </a:pPr>
            <a:r>
              <a:rPr lang="en-US" sz="1900" b="1" dirty="0">
                <a:solidFill>
                  <a:schemeClr val="accent1"/>
                </a:solidFill>
              </a:rPr>
              <a:t>Limitaciones</a:t>
            </a:r>
            <a:endParaRPr lang="en-US" sz="1900" dirty="0"/>
          </a:p>
        </p:txBody>
      </p:sp>
      <p:sp>
        <p:nvSpPr>
          <p:cNvPr id="13" name="Text 9"/>
          <p:cNvSpPr txBox="1"/>
          <p:nvPr/>
        </p:nvSpPr>
        <p:spPr>
          <a:xfrm>
            <a:off x="6492240" y="2651760"/>
            <a:ext cx="4937760" cy="21945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10 × 10 × 10 = 1000</a:t>
            </a:r>
            <a:endParaRPr lang="en-US" sz="1600" dirty="0"/>
          </a:p>
          <a:p>
            <a:pPr indent="0" marL="0">
              <a:buNone/>
            </a:pPr>
            <a:r>
              <a:rPr lang="en-US" sz="1500" dirty="0">
                <a:solidFill>
                  <a:schemeClr val="tx1"/>
                </a:solidFill>
              </a:rPr>
              <a:t>Tres componentes de 10 estados cada uno, combinados, pueden generar 1000 estados: explosión de estados.</a:t>
            </a:r>
            <a:endParaRPr lang="en-US" sz="1600" dirty="0"/>
          </a:p>
          <a:p>
            <a:pPr indent="0" marL="0">
              <a:buNone/>
            </a:pPr>
            <a:r>
              <a:rPr lang="en-US" sz="800" dirty="0">
                <a:solidFill>
                  <a:schemeClr val="tx1"/>
                </a:solidFill>
              </a:rPr>
              <a:t> </a:t>
            </a:r>
            <a:endParaRPr lang="en-US" sz="1600" dirty="0"/>
          </a:p>
          <a:p>
            <a:pPr indent="0" marL="0">
              <a:buNone/>
            </a:pPr>
            <a:r>
              <a:rPr lang="en-US" sz="1500" dirty="0">
                <a:solidFill>
                  <a:schemeClr val="tx1"/>
                </a:solidFill>
              </a:rPr>
              <a:t>Sin concurrencia explícita; no representa datos no acotados.</a:t>
            </a:r>
            <a:endParaRPr lang="en-US" sz="1600" dirty="0"/>
          </a:p>
        </p:txBody>
      </p:sp>
      <p:sp>
        <p:nvSpPr>
          <p:cNvPr id="14" name="Shape 10"/>
          <p:cNvSpPr/>
          <p:nvPr/>
        </p:nvSpPr>
        <p:spPr>
          <a:xfrm>
            <a:off x="548640" y="5212080"/>
            <a:ext cx="11064240" cy="868680"/>
          </a:xfrm>
          <a:prstGeom prst="roundRect">
            <a:avLst>
              <a:gd name="adj" fmla="val 8421"/>
            </a:avLst>
          </a:prstGeom>
          <a:solidFill>
            <a:schemeClr val="tx2"/>
          </a:solidFill>
          <a:ln w="12700">
            <a:solidFill>
              <a:schemeClr val="tx2"/>
            </a:solidFill>
            <a:prstDash val="solid"/>
          </a:ln>
        </p:spPr>
      </p:sp>
      <p:sp>
        <p:nvSpPr>
          <p:cNvPr id="15" name="Text 11"/>
          <p:cNvSpPr txBox="1"/>
          <p:nvPr/>
        </p:nvSpPr>
        <p:spPr>
          <a:xfrm>
            <a:off x="822960" y="5212080"/>
            <a:ext cx="10515600" cy="868680"/>
          </a:xfrm>
          <a:prstGeom prst="rect">
            <a:avLst/>
          </a:prstGeom>
          <a:noFill/>
          <a:ln/>
        </p:spPr>
        <p:txBody>
          <a:bodyPr wrap="square" lIns="0" tIns="0" rIns="0" bIns="0" rtlCol="0" anchor="ctr"/>
          <a:lstStyle/>
          <a:p>
            <a:pPr indent="0" marL="0">
              <a:buNone/>
            </a:pPr>
            <a:r>
              <a:rPr lang="en-US" sz="1600" b="1" dirty="0">
                <a:solidFill>
                  <a:schemeClr val="bg1"/>
                </a:solidFill>
              </a:rPr>
              <a:t>Extensiones: </a:t>
            </a:r>
            <a:pPr indent="0" marL="0">
              <a:buNone/>
            </a:pPr>
            <a:r>
              <a:rPr lang="en-US" sz="1600" dirty="0">
                <a:solidFill>
                  <a:schemeClr val="bg1"/>
                </a:solidFill>
              </a:rPr>
              <a:t>Statecharts (Harel, 1987) y máquinas de estado UML agregan jerarquía, concurrencia y acciones asociadas a las transiciones.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5.5 · ESPECIFICACIONES OPERACIONALES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Redes de Petri: elementos y regla de disparo</a:t>
            </a:r>
            <a:endParaRPr lang="en-US" sz="3400" dirty="0"/>
          </a:p>
        </p:txBody>
      </p:sp>
      <p:sp>
        <p:nvSpPr>
          <p:cNvPr id="4" name="Shape 2"/>
          <p:cNvSpPr/>
          <p:nvPr/>
        </p:nvSpPr>
        <p:spPr>
          <a:xfrm>
            <a:off x="731520" y="1920240"/>
            <a:ext cx="548640" cy="548640"/>
          </a:xfrm>
          <a:prstGeom prst="ellipse">
            <a:avLst/>
          </a:prstGeom>
          <a:solidFill>
            <a:schemeClr val="bg1"/>
          </a:solidFill>
          <a:ln w="25400">
            <a:solidFill>
              <a:schemeClr val="tx2"/>
            </a:solidFill>
            <a:prstDash val="solid"/>
          </a:ln>
        </p:spPr>
      </p:sp>
      <p:sp>
        <p:nvSpPr>
          <p:cNvPr id="5" name="Text 3"/>
          <p:cNvSpPr txBox="1"/>
          <p:nvPr/>
        </p:nvSpPr>
        <p:spPr>
          <a:xfrm>
            <a:off x="1645920" y="1828800"/>
            <a:ext cx="3291840" cy="731520"/>
          </a:xfrm>
          <a:prstGeom prst="rect">
            <a:avLst/>
          </a:prstGeom>
          <a:noFill/>
          <a:ln/>
        </p:spPr>
        <p:txBody>
          <a:bodyPr wrap="square" lIns="0" tIns="0" rIns="0" bIns="0" rtlCol="0" anchor="ctr"/>
          <a:lstStyle/>
          <a:p>
            <a:pPr indent="0" marL="0">
              <a:buNone/>
            </a:pPr>
            <a:r>
              <a:rPr lang="en-US" sz="1600" b="1" dirty="0">
                <a:solidFill>
                  <a:schemeClr val="tx2"/>
                </a:solidFill>
              </a:rPr>
              <a:t>Lugar</a:t>
            </a:r>
            <a:endParaRPr lang="en-US" sz="1600" dirty="0"/>
          </a:p>
          <a:p>
            <a:pPr indent="0" marL="0">
              <a:buNone/>
            </a:pPr>
            <a:r>
              <a:rPr lang="en-US" sz="1400" dirty="0">
                <a:solidFill>
                  <a:schemeClr val="tx1"/>
                </a:solidFill>
              </a:rPr>
              <a:t>Condición o recurso disponible</a:t>
            </a:r>
            <a:endParaRPr lang="en-US" sz="1600" dirty="0"/>
          </a:p>
        </p:txBody>
      </p:sp>
      <p:sp>
        <p:nvSpPr>
          <p:cNvPr id="6" name="Shape 4"/>
          <p:cNvSpPr/>
          <p:nvPr/>
        </p:nvSpPr>
        <p:spPr>
          <a:xfrm>
            <a:off x="640080" y="2999232"/>
            <a:ext cx="731520" cy="128016"/>
          </a:xfrm>
          <a:prstGeom prst="rect">
            <a:avLst/>
          </a:prstGeom>
          <a:solidFill>
            <a:schemeClr val="tx1"/>
          </a:solidFill>
          <a:ln w="12700">
            <a:solidFill>
              <a:schemeClr val="tx1"/>
            </a:solidFill>
            <a:prstDash val="solid"/>
          </a:ln>
        </p:spPr>
      </p:sp>
      <p:sp>
        <p:nvSpPr>
          <p:cNvPr id="7" name="Text 5"/>
          <p:cNvSpPr txBox="1"/>
          <p:nvPr/>
        </p:nvSpPr>
        <p:spPr>
          <a:xfrm>
            <a:off x="1645920" y="2697480"/>
            <a:ext cx="3291840" cy="731520"/>
          </a:xfrm>
          <a:prstGeom prst="rect">
            <a:avLst/>
          </a:prstGeom>
          <a:noFill/>
          <a:ln/>
        </p:spPr>
        <p:txBody>
          <a:bodyPr wrap="square" lIns="0" tIns="0" rIns="0" bIns="0" rtlCol="0" anchor="ctr"/>
          <a:lstStyle/>
          <a:p>
            <a:pPr indent="0" marL="0">
              <a:buNone/>
            </a:pPr>
            <a:r>
              <a:rPr lang="en-US" sz="1600" b="1" dirty="0">
                <a:solidFill>
                  <a:schemeClr val="tx2"/>
                </a:solidFill>
              </a:rPr>
              <a:t>Transición</a:t>
            </a:r>
            <a:endParaRPr lang="en-US" sz="1600" dirty="0"/>
          </a:p>
          <a:p>
            <a:pPr indent="0" marL="0">
              <a:buNone/>
            </a:pPr>
            <a:r>
              <a:rPr lang="en-US" sz="1400" dirty="0">
                <a:solidFill>
                  <a:schemeClr val="tx1"/>
                </a:solidFill>
              </a:rPr>
              <a:t>Evento que puede ocurrir</a:t>
            </a:r>
            <a:endParaRPr lang="en-US" sz="1600" dirty="0"/>
          </a:p>
        </p:txBody>
      </p:sp>
      <p:sp>
        <p:nvSpPr>
          <p:cNvPr id="8" name="Shape 6"/>
          <p:cNvSpPr/>
          <p:nvPr/>
        </p:nvSpPr>
        <p:spPr>
          <a:xfrm>
            <a:off x="640080" y="3931920"/>
            <a:ext cx="731520" cy="914"/>
          </a:xfrm>
          <a:prstGeom prst="line">
            <a:avLst/>
          </a:prstGeom>
          <a:noFill/>
          <a:ln w="25400">
            <a:solidFill>
              <a:schemeClr val="tx2"/>
            </a:solidFill>
            <a:prstDash val="solid"/>
            <a:tailEnd type="triangle"/>
          </a:ln>
        </p:spPr>
      </p:sp>
      <p:sp>
        <p:nvSpPr>
          <p:cNvPr id="9" name="Text 7"/>
          <p:cNvSpPr txBox="1"/>
          <p:nvPr/>
        </p:nvSpPr>
        <p:spPr>
          <a:xfrm>
            <a:off x="1645920" y="3566160"/>
            <a:ext cx="3291840" cy="731520"/>
          </a:xfrm>
          <a:prstGeom prst="rect">
            <a:avLst/>
          </a:prstGeom>
          <a:noFill/>
          <a:ln/>
        </p:spPr>
        <p:txBody>
          <a:bodyPr wrap="square" lIns="0" tIns="0" rIns="0" bIns="0" rtlCol="0" anchor="ctr"/>
          <a:lstStyle/>
          <a:p>
            <a:pPr indent="0" marL="0">
              <a:buNone/>
            </a:pPr>
            <a:r>
              <a:rPr lang="en-US" sz="1600" b="1" dirty="0">
                <a:solidFill>
                  <a:schemeClr val="tx2"/>
                </a:solidFill>
              </a:rPr>
              <a:t>Arco</a:t>
            </a:r>
            <a:endParaRPr lang="en-US" sz="1600" dirty="0"/>
          </a:p>
          <a:p>
            <a:pPr indent="0" marL="0">
              <a:buNone/>
            </a:pPr>
            <a:r>
              <a:rPr lang="en-US" sz="1400" dirty="0">
                <a:solidFill>
                  <a:schemeClr val="tx1"/>
                </a:solidFill>
              </a:rPr>
              <a:t>Conecta lugares con transiciones</a:t>
            </a:r>
            <a:endParaRPr lang="en-US" sz="1600" dirty="0"/>
          </a:p>
        </p:txBody>
      </p:sp>
      <p:sp>
        <p:nvSpPr>
          <p:cNvPr id="10" name="Shape 8"/>
          <p:cNvSpPr/>
          <p:nvPr/>
        </p:nvSpPr>
        <p:spPr>
          <a:xfrm>
            <a:off x="923544" y="4718304"/>
            <a:ext cx="164592" cy="164592"/>
          </a:xfrm>
          <a:prstGeom prst="ellipse">
            <a:avLst/>
          </a:prstGeom>
          <a:solidFill>
            <a:schemeClr val="tx1"/>
          </a:solidFill>
          <a:ln w="12700">
            <a:solidFill>
              <a:schemeClr val="tx1"/>
            </a:solidFill>
            <a:prstDash val="solid"/>
          </a:ln>
        </p:spPr>
      </p:sp>
      <p:sp>
        <p:nvSpPr>
          <p:cNvPr id="11" name="Text 9"/>
          <p:cNvSpPr txBox="1"/>
          <p:nvPr/>
        </p:nvSpPr>
        <p:spPr>
          <a:xfrm>
            <a:off x="1645920" y="4434840"/>
            <a:ext cx="3291840" cy="731520"/>
          </a:xfrm>
          <a:prstGeom prst="rect">
            <a:avLst/>
          </a:prstGeom>
          <a:noFill/>
          <a:ln/>
        </p:spPr>
        <p:txBody>
          <a:bodyPr wrap="square" lIns="0" tIns="0" rIns="0" bIns="0" rtlCol="0" anchor="ctr"/>
          <a:lstStyle/>
          <a:p>
            <a:pPr indent="0" marL="0">
              <a:buNone/>
            </a:pPr>
            <a:r>
              <a:rPr lang="en-US" sz="1600" b="1" dirty="0">
                <a:solidFill>
                  <a:schemeClr val="tx2"/>
                </a:solidFill>
              </a:rPr>
              <a:t>Token</a:t>
            </a:r>
            <a:endParaRPr lang="en-US" sz="1600" dirty="0"/>
          </a:p>
          <a:p>
            <a:pPr indent="0" marL="0">
              <a:buNone/>
            </a:pPr>
            <a:r>
              <a:rPr lang="en-US" sz="1400" dirty="0">
                <a:solidFill>
                  <a:schemeClr val="tx1"/>
                </a:solidFill>
              </a:rPr>
              <a:t>Marca: la condición se cumple</a:t>
            </a:r>
            <a:endParaRPr lang="en-US" sz="1600" dirty="0"/>
          </a:p>
        </p:txBody>
      </p:sp>
      <p:sp>
        <p:nvSpPr>
          <p:cNvPr id="12" name="Shape 10"/>
          <p:cNvSpPr/>
          <p:nvPr/>
        </p:nvSpPr>
        <p:spPr>
          <a:xfrm>
            <a:off x="548640" y="5349240"/>
            <a:ext cx="4480560" cy="777240"/>
          </a:xfrm>
          <a:prstGeom prst="roundRect">
            <a:avLst>
              <a:gd name="adj" fmla="val 9412"/>
            </a:avLst>
          </a:prstGeom>
          <a:solidFill>
            <a:schemeClr val="accent4"/>
          </a:solidFill>
          <a:ln w="12700">
            <a:solidFill>
              <a:schemeClr val="accent4"/>
            </a:solidFill>
            <a:prstDash val="solid"/>
          </a:ln>
        </p:spPr>
      </p:sp>
      <p:sp>
        <p:nvSpPr>
          <p:cNvPr id="13" name="Text 11"/>
          <p:cNvSpPr txBox="1"/>
          <p:nvPr/>
        </p:nvSpPr>
        <p:spPr>
          <a:xfrm>
            <a:off x="731520" y="5349240"/>
            <a:ext cx="4160520" cy="777240"/>
          </a:xfrm>
          <a:prstGeom prst="rect">
            <a:avLst/>
          </a:prstGeom>
          <a:noFill/>
          <a:ln/>
        </p:spPr>
        <p:txBody>
          <a:bodyPr wrap="square" lIns="0" tIns="0" rIns="0" bIns="0" rtlCol="0" anchor="ctr"/>
          <a:lstStyle/>
          <a:p>
            <a:pPr indent="0" marL="0">
              <a:buNone/>
            </a:pPr>
            <a:r>
              <a:rPr lang="en-US" sz="1400" b="1" dirty="0">
                <a:solidFill>
                  <a:schemeClr val="accent1"/>
                </a:solidFill>
              </a:rPr>
              <a:t>Una transición está habilitada si todos sus lugares de entrada tienen al menos un token.</a:t>
            </a:r>
            <a:endParaRPr lang="en-US" sz="1400" dirty="0"/>
          </a:p>
        </p:txBody>
      </p:sp>
      <p:sp>
        <p:nvSpPr>
          <p:cNvPr id="14" name="Shape 12"/>
          <p:cNvSpPr/>
          <p:nvPr/>
        </p:nvSpPr>
        <p:spPr>
          <a:xfrm>
            <a:off x="5303520" y="1737360"/>
            <a:ext cx="3017520" cy="4389120"/>
          </a:xfrm>
          <a:prstGeom prst="roundRect">
            <a:avLst>
              <a:gd name="adj" fmla="val 2424"/>
            </a:avLst>
          </a:prstGeom>
          <a:solidFill>
            <a:schemeClr val="bg1"/>
          </a:solidFill>
          <a:ln w="12700">
            <a:solidFill>
              <a:schemeClr val="accent3"/>
            </a:solidFill>
            <a:prstDash val="solid"/>
          </a:ln>
        </p:spPr>
      </p:sp>
      <p:sp>
        <p:nvSpPr>
          <p:cNvPr id="15" name="Text 13"/>
          <p:cNvSpPr txBox="1"/>
          <p:nvPr/>
        </p:nvSpPr>
        <p:spPr>
          <a:xfrm>
            <a:off x="5303520" y="1828800"/>
            <a:ext cx="3017520" cy="365760"/>
          </a:xfrm>
          <a:prstGeom prst="rect">
            <a:avLst/>
          </a:prstGeom>
          <a:noFill/>
          <a:ln/>
        </p:spPr>
        <p:txBody>
          <a:bodyPr wrap="square" lIns="0" tIns="0" rIns="0" bIns="0" rtlCol="0" anchor="t"/>
          <a:lstStyle/>
          <a:p>
            <a:pPr algn="ctr" indent="0" marL="0">
              <a:buNone/>
            </a:pPr>
            <a:r>
              <a:rPr lang="en-US" sz="1500" b="1" dirty="0">
                <a:solidFill>
                  <a:schemeClr val="tx2"/>
                </a:solidFill>
              </a:rPr>
              <a:t>Antes del disparo</a:t>
            </a:r>
            <a:endParaRPr lang="en-US" sz="1500" dirty="0"/>
          </a:p>
        </p:txBody>
      </p:sp>
      <p:sp>
        <p:nvSpPr>
          <p:cNvPr id="16" name="Shape 14"/>
          <p:cNvSpPr/>
          <p:nvPr/>
        </p:nvSpPr>
        <p:spPr>
          <a:xfrm>
            <a:off x="5879592" y="2404872"/>
            <a:ext cx="585216" cy="585216"/>
          </a:xfrm>
          <a:prstGeom prst="ellipse">
            <a:avLst/>
          </a:prstGeom>
          <a:solidFill>
            <a:schemeClr val="bg1"/>
          </a:solidFill>
          <a:ln w="25400">
            <a:solidFill>
              <a:schemeClr val="tx2"/>
            </a:solidFill>
            <a:prstDash val="solid"/>
          </a:ln>
        </p:spPr>
      </p:sp>
      <p:sp>
        <p:nvSpPr>
          <p:cNvPr id="17" name="Shape 15"/>
          <p:cNvSpPr/>
          <p:nvPr/>
        </p:nvSpPr>
        <p:spPr>
          <a:xfrm>
            <a:off x="6089904" y="2615184"/>
            <a:ext cx="164592" cy="164592"/>
          </a:xfrm>
          <a:prstGeom prst="ellipse">
            <a:avLst/>
          </a:prstGeom>
          <a:solidFill>
            <a:schemeClr val="tx1"/>
          </a:solidFill>
          <a:ln w="12700">
            <a:solidFill>
              <a:schemeClr val="tx1"/>
            </a:solidFill>
            <a:prstDash val="solid"/>
          </a:ln>
        </p:spPr>
      </p:sp>
      <p:sp>
        <p:nvSpPr>
          <p:cNvPr id="18" name="Text 16"/>
          <p:cNvSpPr txBox="1"/>
          <p:nvPr/>
        </p:nvSpPr>
        <p:spPr>
          <a:xfrm>
            <a:off x="5257800" y="3017520"/>
            <a:ext cx="1828800" cy="320040"/>
          </a:xfrm>
          <a:prstGeom prst="rect">
            <a:avLst/>
          </a:prstGeom>
          <a:noFill/>
          <a:ln/>
        </p:spPr>
        <p:txBody>
          <a:bodyPr wrap="square" lIns="0" tIns="0" rIns="0" bIns="0" rtlCol="0" anchor="ctr"/>
          <a:lstStyle/>
          <a:p>
            <a:pPr algn="ctr" indent="0" marL="0">
              <a:buNone/>
            </a:pPr>
            <a:r>
              <a:rPr lang="en-US" sz="1300" dirty="0">
                <a:solidFill>
                  <a:schemeClr val="tx2"/>
                </a:solidFill>
              </a:rPr>
              <a:t>p1</a:t>
            </a:r>
            <a:endParaRPr lang="en-US" sz="1300" dirty="0"/>
          </a:p>
        </p:txBody>
      </p:sp>
      <p:sp>
        <p:nvSpPr>
          <p:cNvPr id="19" name="Shape 17"/>
          <p:cNvSpPr/>
          <p:nvPr/>
        </p:nvSpPr>
        <p:spPr>
          <a:xfrm>
            <a:off x="7159752" y="2404872"/>
            <a:ext cx="585216" cy="585216"/>
          </a:xfrm>
          <a:prstGeom prst="ellipse">
            <a:avLst/>
          </a:prstGeom>
          <a:solidFill>
            <a:schemeClr val="bg1"/>
          </a:solidFill>
          <a:ln w="25400">
            <a:solidFill>
              <a:schemeClr val="tx2"/>
            </a:solidFill>
            <a:prstDash val="solid"/>
          </a:ln>
        </p:spPr>
      </p:sp>
      <p:sp>
        <p:nvSpPr>
          <p:cNvPr id="20" name="Shape 18"/>
          <p:cNvSpPr/>
          <p:nvPr/>
        </p:nvSpPr>
        <p:spPr>
          <a:xfrm>
            <a:off x="7370064" y="2615184"/>
            <a:ext cx="164592" cy="164592"/>
          </a:xfrm>
          <a:prstGeom prst="ellipse">
            <a:avLst/>
          </a:prstGeom>
          <a:solidFill>
            <a:schemeClr val="tx1"/>
          </a:solidFill>
          <a:ln w="12700">
            <a:solidFill>
              <a:schemeClr val="tx1"/>
            </a:solidFill>
            <a:prstDash val="solid"/>
          </a:ln>
        </p:spPr>
      </p:sp>
      <p:sp>
        <p:nvSpPr>
          <p:cNvPr id="21" name="Text 19"/>
          <p:cNvSpPr txBox="1"/>
          <p:nvPr/>
        </p:nvSpPr>
        <p:spPr>
          <a:xfrm>
            <a:off x="6537960" y="3017520"/>
            <a:ext cx="1828800" cy="320040"/>
          </a:xfrm>
          <a:prstGeom prst="rect">
            <a:avLst/>
          </a:prstGeom>
          <a:noFill/>
          <a:ln/>
        </p:spPr>
        <p:txBody>
          <a:bodyPr wrap="square" lIns="0" tIns="0" rIns="0" bIns="0" rtlCol="0" anchor="ctr"/>
          <a:lstStyle/>
          <a:p>
            <a:pPr algn="ctr" indent="0" marL="0">
              <a:buNone/>
            </a:pPr>
            <a:r>
              <a:rPr lang="en-US" sz="1300" dirty="0">
                <a:solidFill>
                  <a:schemeClr val="tx2"/>
                </a:solidFill>
              </a:rPr>
              <a:t>p2</a:t>
            </a:r>
            <a:endParaRPr lang="en-US" sz="1300" dirty="0"/>
          </a:p>
        </p:txBody>
      </p:sp>
      <p:sp>
        <p:nvSpPr>
          <p:cNvPr id="22" name="Shape 20"/>
          <p:cNvSpPr/>
          <p:nvPr/>
        </p:nvSpPr>
        <p:spPr>
          <a:xfrm>
            <a:off x="6172200" y="3867912"/>
            <a:ext cx="1280160" cy="128016"/>
          </a:xfrm>
          <a:prstGeom prst="rect">
            <a:avLst/>
          </a:prstGeom>
          <a:solidFill>
            <a:schemeClr val="tx1"/>
          </a:solidFill>
          <a:ln w="12700">
            <a:solidFill>
              <a:schemeClr val="tx1"/>
            </a:solidFill>
            <a:prstDash val="solid"/>
          </a:ln>
        </p:spPr>
      </p:sp>
      <p:sp>
        <p:nvSpPr>
          <p:cNvPr id="23" name="Text 21"/>
          <p:cNvSpPr txBox="1"/>
          <p:nvPr/>
        </p:nvSpPr>
        <p:spPr>
          <a:xfrm>
            <a:off x="7516368" y="3749040"/>
            <a:ext cx="365760" cy="365760"/>
          </a:xfrm>
          <a:prstGeom prst="rect">
            <a:avLst/>
          </a:prstGeom>
          <a:noFill/>
          <a:ln/>
        </p:spPr>
        <p:txBody>
          <a:bodyPr wrap="square" lIns="0" tIns="0" rIns="0" bIns="0" rtlCol="0" anchor="ctr"/>
          <a:lstStyle/>
          <a:p>
            <a:pPr indent="0" marL="0">
              <a:buNone/>
            </a:pPr>
            <a:r>
              <a:rPr lang="en-US" sz="1400" b="1" i="1" dirty="0">
                <a:solidFill>
                  <a:schemeClr val="accent1"/>
                </a:solidFill>
              </a:rPr>
              <a:t>t</a:t>
            </a:r>
            <a:endParaRPr lang="en-US" sz="1400" dirty="0"/>
          </a:p>
        </p:txBody>
      </p:sp>
      <p:sp>
        <p:nvSpPr>
          <p:cNvPr id="24" name="Shape 22"/>
          <p:cNvSpPr/>
          <p:nvPr/>
        </p:nvSpPr>
        <p:spPr>
          <a:xfrm>
            <a:off x="6519672" y="4828032"/>
            <a:ext cx="585216" cy="585216"/>
          </a:xfrm>
          <a:prstGeom prst="ellipse">
            <a:avLst/>
          </a:prstGeom>
          <a:solidFill>
            <a:schemeClr val="bg1"/>
          </a:solidFill>
          <a:ln w="25400">
            <a:solidFill>
              <a:schemeClr val="tx2"/>
            </a:solidFill>
            <a:prstDash val="solid"/>
          </a:ln>
        </p:spPr>
      </p:sp>
      <p:sp>
        <p:nvSpPr>
          <p:cNvPr id="25" name="Text 23"/>
          <p:cNvSpPr txBox="1"/>
          <p:nvPr/>
        </p:nvSpPr>
        <p:spPr>
          <a:xfrm>
            <a:off x="7150608" y="4937760"/>
            <a:ext cx="1828800" cy="365760"/>
          </a:xfrm>
          <a:prstGeom prst="rect">
            <a:avLst/>
          </a:prstGeom>
          <a:noFill/>
          <a:ln/>
        </p:spPr>
        <p:txBody>
          <a:bodyPr wrap="square" lIns="0" tIns="0" rIns="0" bIns="0" rtlCol="0" anchor="ctr"/>
          <a:lstStyle/>
          <a:p>
            <a:pPr algn="l" indent="0" marL="0">
              <a:buNone/>
            </a:pPr>
            <a:r>
              <a:rPr lang="en-US" sz="1300" dirty="0">
                <a:solidFill>
                  <a:schemeClr val="tx2"/>
                </a:solidFill>
              </a:rPr>
              <a:t>p3</a:t>
            </a:r>
            <a:endParaRPr lang="en-US" sz="1300" dirty="0"/>
          </a:p>
        </p:txBody>
      </p:sp>
      <p:sp>
        <p:nvSpPr>
          <p:cNvPr id="26" name="Shape 24"/>
          <p:cNvSpPr/>
          <p:nvPr/>
        </p:nvSpPr>
        <p:spPr>
          <a:xfrm>
            <a:off x="6263640" y="2990088"/>
            <a:ext cx="320040" cy="868680"/>
          </a:xfrm>
          <a:prstGeom prst="line">
            <a:avLst/>
          </a:prstGeom>
          <a:noFill/>
          <a:ln w="19050">
            <a:solidFill>
              <a:schemeClr val="tx2"/>
            </a:solidFill>
            <a:prstDash val="solid"/>
            <a:tailEnd type="triangle"/>
          </a:ln>
        </p:spPr>
      </p:sp>
      <p:sp>
        <p:nvSpPr>
          <p:cNvPr id="27" name="Shape 25"/>
          <p:cNvSpPr/>
          <p:nvPr/>
        </p:nvSpPr>
        <p:spPr>
          <a:xfrm flipH="1">
            <a:off x="7040880" y="2990088"/>
            <a:ext cx="320040" cy="868680"/>
          </a:xfrm>
          <a:prstGeom prst="line">
            <a:avLst/>
          </a:prstGeom>
          <a:noFill/>
          <a:ln w="19050">
            <a:solidFill>
              <a:schemeClr val="tx2"/>
            </a:solidFill>
            <a:prstDash val="solid"/>
            <a:tailEnd type="triangle"/>
          </a:ln>
        </p:spPr>
      </p:sp>
      <p:sp>
        <p:nvSpPr>
          <p:cNvPr id="28" name="Shape 26"/>
          <p:cNvSpPr/>
          <p:nvPr/>
        </p:nvSpPr>
        <p:spPr>
          <a:xfrm>
            <a:off x="6812280" y="4005072"/>
            <a:ext cx="914" cy="813816"/>
          </a:xfrm>
          <a:prstGeom prst="line">
            <a:avLst/>
          </a:prstGeom>
          <a:noFill/>
          <a:ln w="19050">
            <a:solidFill>
              <a:schemeClr val="tx2"/>
            </a:solidFill>
            <a:prstDash val="solid"/>
            <a:tailEnd type="triangle"/>
          </a:ln>
        </p:spPr>
      </p:sp>
      <p:sp>
        <p:nvSpPr>
          <p:cNvPr id="29" name="Shape 27"/>
          <p:cNvSpPr/>
          <p:nvPr/>
        </p:nvSpPr>
        <p:spPr>
          <a:xfrm>
            <a:off x="8549640" y="1737360"/>
            <a:ext cx="3017520" cy="4389120"/>
          </a:xfrm>
          <a:prstGeom prst="roundRect">
            <a:avLst>
              <a:gd name="adj" fmla="val 2424"/>
            </a:avLst>
          </a:prstGeom>
          <a:solidFill>
            <a:schemeClr val="bg1"/>
          </a:solidFill>
          <a:ln w="12700">
            <a:solidFill>
              <a:schemeClr val="accent3"/>
            </a:solidFill>
            <a:prstDash val="solid"/>
          </a:ln>
        </p:spPr>
      </p:sp>
      <p:sp>
        <p:nvSpPr>
          <p:cNvPr id="30" name="Text 28"/>
          <p:cNvSpPr txBox="1"/>
          <p:nvPr/>
        </p:nvSpPr>
        <p:spPr>
          <a:xfrm>
            <a:off x="8549640" y="1828800"/>
            <a:ext cx="3017520" cy="365760"/>
          </a:xfrm>
          <a:prstGeom prst="rect">
            <a:avLst/>
          </a:prstGeom>
          <a:noFill/>
          <a:ln/>
        </p:spPr>
        <p:txBody>
          <a:bodyPr wrap="square" lIns="0" tIns="0" rIns="0" bIns="0" rtlCol="0" anchor="t"/>
          <a:lstStyle/>
          <a:p>
            <a:pPr algn="ctr" indent="0" marL="0">
              <a:buNone/>
            </a:pPr>
            <a:r>
              <a:rPr lang="en-US" sz="1500" b="1" dirty="0">
                <a:solidFill>
                  <a:schemeClr val="tx2"/>
                </a:solidFill>
              </a:rPr>
              <a:t>Después del disparo</a:t>
            </a:r>
            <a:endParaRPr lang="en-US" sz="1500" dirty="0"/>
          </a:p>
        </p:txBody>
      </p:sp>
      <p:sp>
        <p:nvSpPr>
          <p:cNvPr id="31" name="Shape 29"/>
          <p:cNvSpPr/>
          <p:nvPr/>
        </p:nvSpPr>
        <p:spPr>
          <a:xfrm>
            <a:off x="9125712" y="2404872"/>
            <a:ext cx="585216" cy="585216"/>
          </a:xfrm>
          <a:prstGeom prst="ellipse">
            <a:avLst/>
          </a:prstGeom>
          <a:solidFill>
            <a:schemeClr val="bg1"/>
          </a:solidFill>
          <a:ln w="25400">
            <a:solidFill>
              <a:schemeClr val="tx2"/>
            </a:solidFill>
            <a:prstDash val="solid"/>
          </a:ln>
        </p:spPr>
      </p:sp>
      <p:sp>
        <p:nvSpPr>
          <p:cNvPr id="32" name="Text 30"/>
          <p:cNvSpPr txBox="1"/>
          <p:nvPr/>
        </p:nvSpPr>
        <p:spPr>
          <a:xfrm>
            <a:off x="8503920" y="3017520"/>
            <a:ext cx="1828800" cy="320040"/>
          </a:xfrm>
          <a:prstGeom prst="rect">
            <a:avLst/>
          </a:prstGeom>
          <a:noFill/>
          <a:ln/>
        </p:spPr>
        <p:txBody>
          <a:bodyPr wrap="square" lIns="0" tIns="0" rIns="0" bIns="0" rtlCol="0" anchor="ctr"/>
          <a:lstStyle/>
          <a:p>
            <a:pPr algn="ctr" indent="0" marL="0">
              <a:buNone/>
            </a:pPr>
            <a:r>
              <a:rPr lang="en-US" sz="1300" dirty="0">
                <a:solidFill>
                  <a:schemeClr val="tx2"/>
                </a:solidFill>
              </a:rPr>
              <a:t>p1</a:t>
            </a:r>
            <a:endParaRPr lang="en-US" sz="1300" dirty="0"/>
          </a:p>
        </p:txBody>
      </p:sp>
      <p:sp>
        <p:nvSpPr>
          <p:cNvPr id="33" name="Shape 31"/>
          <p:cNvSpPr/>
          <p:nvPr/>
        </p:nvSpPr>
        <p:spPr>
          <a:xfrm>
            <a:off x="10405872" y="2404872"/>
            <a:ext cx="585216" cy="585216"/>
          </a:xfrm>
          <a:prstGeom prst="ellipse">
            <a:avLst/>
          </a:prstGeom>
          <a:solidFill>
            <a:schemeClr val="bg1"/>
          </a:solidFill>
          <a:ln w="25400">
            <a:solidFill>
              <a:schemeClr val="tx2"/>
            </a:solidFill>
            <a:prstDash val="solid"/>
          </a:ln>
        </p:spPr>
      </p:sp>
      <p:sp>
        <p:nvSpPr>
          <p:cNvPr id="34" name="Text 32"/>
          <p:cNvSpPr txBox="1"/>
          <p:nvPr/>
        </p:nvSpPr>
        <p:spPr>
          <a:xfrm>
            <a:off x="9784080" y="3017520"/>
            <a:ext cx="1828800" cy="320040"/>
          </a:xfrm>
          <a:prstGeom prst="rect">
            <a:avLst/>
          </a:prstGeom>
          <a:noFill/>
          <a:ln/>
        </p:spPr>
        <p:txBody>
          <a:bodyPr wrap="square" lIns="0" tIns="0" rIns="0" bIns="0" rtlCol="0" anchor="ctr"/>
          <a:lstStyle/>
          <a:p>
            <a:pPr algn="ctr" indent="0" marL="0">
              <a:buNone/>
            </a:pPr>
            <a:r>
              <a:rPr lang="en-US" sz="1300" dirty="0">
                <a:solidFill>
                  <a:schemeClr val="tx2"/>
                </a:solidFill>
              </a:rPr>
              <a:t>p2</a:t>
            </a:r>
            <a:endParaRPr lang="en-US" sz="1300" dirty="0"/>
          </a:p>
        </p:txBody>
      </p:sp>
      <p:sp>
        <p:nvSpPr>
          <p:cNvPr id="35" name="Shape 33"/>
          <p:cNvSpPr/>
          <p:nvPr/>
        </p:nvSpPr>
        <p:spPr>
          <a:xfrm>
            <a:off x="9418320" y="3867912"/>
            <a:ext cx="1280160" cy="128016"/>
          </a:xfrm>
          <a:prstGeom prst="rect">
            <a:avLst/>
          </a:prstGeom>
          <a:solidFill>
            <a:schemeClr val="tx1"/>
          </a:solidFill>
          <a:ln w="12700">
            <a:solidFill>
              <a:schemeClr val="tx1"/>
            </a:solidFill>
            <a:prstDash val="solid"/>
          </a:ln>
        </p:spPr>
      </p:sp>
      <p:sp>
        <p:nvSpPr>
          <p:cNvPr id="36" name="Text 34"/>
          <p:cNvSpPr txBox="1"/>
          <p:nvPr/>
        </p:nvSpPr>
        <p:spPr>
          <a:xfrm>
            <a:off x="10762488" y="3749040"/>
            <a:ext cx="365760" cy="365760"/>
          </a:xfrm>
          <a:prstGeom prst="rect">
            <a:avLst/>
          </a:prstGeom>
          <a:noFill/>
          <a:ln/>
        </p:spPr>
        <p:txBody>
          <a:bodyPr wrap="square" lIns="0" tIns="0" rIns="0" bIns="0" rtlCol="0" anchor="ctr"/>
          <a:lstStyle/>
          <a:p>
            <a:pPr indent="0" marL="0">
              <a:buNone/>
            </a:pPr>
            <a:r>
              <a:rPr lang="en-US" sz="1400" b="1" i="1" dirty="0">
                <a:solidFill>
                  <a:schemeClr val="accent1"/>
                </a:solidFill>
              </a:rPr>
              <a:t>t</a:t>
            </a:r>
            <a:endParaRPr lang="en-US" sz="1400" dirty="0"/>
          </a:p>
        </p:txBody>
      </p:sp>
      <p:sp>
        <p:nvSpPr>
          <p:cNvPr id="37" name="Shape 35"/>
          <p:cNvSpPr/>
          <p:nvPr/>
        </p:nvSpPr>
        <p:spPr>
          <a:xfrm>
            <a:off x="9765792" y="4828032"/>
            <a:ext cx="585216" cy="585216"/>
          </a:xfrm>
          <a:prstGeom prst="ellipse">
            <a:avLst/>
          </a:prstGeom>
          <a:solidFill>
            <a:schemeClr val="bg1"/>
          </a:solidFill>
          <a:ln w="25400">
            <a:solidFill>
              <a:schemeClr val="tx2"/>
            </a:solidFill>
            <a:prstDash val="solid"/>
          </a:ln>
        </p:spPr>
      </p:sp>
      <p:sp>
        <p:nvSpPr>
          <p:cNvPr id="38" name="Shape 36"/>
          <p:cNvSpPr/>
          <p:nvPr/>
        </p:nvSpPr>
        <p:spPr>
          <a:xfrm>
            <a:off x="9976104" y="5038344"/>
            <a:ext cx="164592" cy="164592"/>
          </a:xfrm>
          <a:prstGeom prst="ellipse">
            <a:avLst/>
          </a:prstGeom>
          <a:solidFill>
            <a:schemeClr val="tx1"/>
          </a:solidFill>
          <a:ln w="12700">
            <a:solidFill>
              <a:schemeClr val="tx1"/>
            </a:solidFill>
            <a:prstDash val="solid"/>
          </a:ln>
        </p:spPr>
      </p:sp>
      <p:sp>
        <p:nvSpPr>
          <p:cNvPr id="39" name="Text 37"/>
          <p:cNvSpPr txBox="1"/>
          <p:nvPr/>
        </p:nvSpPr>
        <p:spPr>
          <a:xfrm>
            <a:off x="10396728" y="4937760"/>
            <a:ext cx="1828800" cy="365760"/>
          </a:xfrm>
          <a:prstGeom prst="rect">
            <a:avLst/>
          </a:prstGeom>
          <a:noFill/>
          <a:ln/>
        </p:spPr>
        <p:txBody>
          <a:bodyPr wrap="square" lIns="0" tIns="0" rIns="0" bIns="0" rtlCol="0" anchor="ctr"/>
          <a:lstStyle/>
          <a:p>
            <a:pPr algn="l" indent="0" marL="0">
              <a:buNone/>
            </a:pPr>
            <a:r>
              <a:rPr lang="en-US" sz="1300" dirty="0">
                <a:solidFill>
                  <a:schemeClr val="tx2"/>
                </a:solidFill>
              </a:rPr>
              <a:t>p3</a:t>
            </a:r>
            <a:endParaRPr lang="en-US" sz="1300" dirty="0"/>
          </a:p>
        </p:txBody>
      </p:sp>
      <p:sp>
        <p:nvSpPr>
          <p:cNvPr id="40" name="Shape 38"/>
          <p:cNvSpPr/>
          <p:nvPr/>
        </p:nvSpPr>
        <p:spPr>
          <a:xfrm>
            <a:off x="9509760" y="2990088"/>
            <a:ext cx="320040" cy="868680"/>
          </a:xfrm>
          <a:prstGeom prst="line">
            <a:avLst/>
          </a:prstGeom>
          <a:noFill/>
          <a:ln w="19050">
            <a:solidFill>
              <a:schemeClr val="tx2"/>
            </a:solidFill>
            <a:prstDash val="solid"/>
            <a:tailEnd type="triangle"/>
          </a:ln>
        </p:spPr>
      </p:sp>
      <p:sp>
        <p:nvSpPr>
          <p:cNvPr id="41" name="Shape 39"/>
          <p:cNvSpPr/>
          <p:nvPr/>
        </p:nvSpPr>
        <p:spPr>
          <a:xfrm flipH="1">
            <a:off x="10287000" y="2990088"/>
            <a:ext cx="320040" cy="868680"/>
          </a:xfrm>
          <a:prstGeom prst="line">
            <a:avLst/>
          </a:prstGeom>
          <a:noFill/>
          <a:ln w="19050">
            <a:solidFill>
              <a:schemeClr val="tx2"/>
            </a:solidFill>
            <a:prstDash val="solid"/>
            <a:tailEnd type="triangle"/>
          </a:ln>
        </p:spPr>
      </p:sp>
      <p:sp>
        <p:nvSpPr>
          <p:cNvPr id="42" name="Shape 40"/>
          <p:cNvSpPr/>
          <p:nvPr/>
        </p:nvSpPr>
        <p:spPr>
          <a:xfrm>
            <a:off x="10058400" y="4005072"/>
            <a:ext cx="914" cy="813816"/>
          </a:xfrm>
          <a:prstGeom prst="line">
            <a:avLst/>
          </a:prstGeom>
          <a:noFill/>
          <a:ln w="19050">
            <a:solidFill>
              <a:schemeClr val="tx2"/>
            </a:solidFill>
            <a:prstDash val="solid"/>
            <a:tailEnd type="triangle"/>
          </a:ln>
        </p:spPr>
      </p:sp>
      <p:sp>
        <p:nvSpPr>
          <p:cNvPr id="43" name="Text 41"/>
          <p:cNvSpPr txBox="1"/>
          <p:nvPr/>
        </p:nvSpPr>
        <p:spPr>
          <a:xfrm>
            <a:off x="5303520" y="6172200"/>
            <a:ext cx="6309360" cy="228600"/>
          </a:xfrm>
          <a:prstGeom prst="rect">
            <a:avLst/>
          </a:prstGeom>
          <a:noFill/>
          <a:ln/>
        </p:spPr>
        <p:txBody>
          <a:bodyPr wrap="square" lIns="0" tIns="0" rIns="0" bIns="0" rtlCol="0" anchor="t"/>
          <a:lstStyle/>
          <a:p>
            <a:pPr indent="0" marL="0">
              <a:buNone/>
            </a:pPr>
            <a:r>
              <a:rPr lang="en-US" sz="1200" i="1" dirty="0">
                <a:solidFill>
                  <a:schemeClr val="accent5"/>
                </a:solidFill>
              </a:rPr>
              <a:t>Al dispararse, t consume un token de cada entrada y produce uno en cada salida.</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5.5 · ESPECIFICACIONES OPERACIONALES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Ejemplo: exclusión mutua entre dos procesos</a:t>
            </a:r>
            <a:endParaRPr lang="en-US" sz="3400" dirty="0"/>
          </a:p>
        </p:txBody>
      </p:sp>
      <p:sp>
        <p:nvSpPr>
          <p:cNvPr id="4" name="Shape 2"/>
          <p:cNvSpPr/>
          <p:nvPr/>
        </p:nvSpPr>
        <p:spPr>
          <a:xfrm>
            <a:off x="548640" y="1691640"/>
            <a:ext cx="6766560" cy="4434840"/>
          </a:xfrm>
          <a:prstGeom prst="roundRect">
            <a:avLst>
              <a:gd name="adj" fmla="val 1649"/>
            </a:avLst>
          </a:prstGeom>
          <a:solidFill>
            <a:schemeClr val="bg1"/>
          </a:solidFill>
          <a:ln w="12700">
            <a:solidFill>
              <a:schemeClr val="accent3"/>
            </a:solidFill>
            <a:prstDash val="solid"/>
          </a:ln>
        </p:spPr>
      </p:sp>
      <p:sp>
        <p:nvSpPr>
          <p:cNvPr id="5" name="Shape 3"/>
          <p:cNvSpPr/>
          <p:nvPr/>
        </p:nvSpPr>
        <p:spPr>
          <a:xfrm>
            <a:off x="1892808" y="1938528"/>
            <a:ext cx="603504" cy="603504"/>
          </a:xfrm>
          <a:prstGeom prst="ellipse">
            <a:avLst/>
          </a:prstGeom>
          <a:solidFill>
            <a:schemeClr val="bg1"/>
          </a:solidFill>
          <a:ln w="25400">
            <a:solidFill>
              <a:schemeClr val="tx2"/>
            </a:solidFill>
            <a:prstDash val="solid"/>
          </a:ln>
        </p:spPr>
      </p:sp>
      <p:sp>
        <p:nvSpPr>
          <p:cNvPr id="6" name="Shape 4"/>
          <p:cNvSpPr/>
          <p:nvPr/>
        </p:nvSpPr>
        <p:spPr>
          <a:xfrm>
            <a:off x="2112264" y="2157984"/>
            <a:ext cx="164592" cy="164592"/>
          </a:xfrm>
          <a:prstGeom prst="ellipse">
            <a:avLst/>
          </a:prstGeom>
          <a:solidFill>
            <a:schemeClr val="tx1"/>
          </a:solidFill>
          <a:ln w="12700">
            <a:solidFill>
              <a:schemeClr val="tx1"/>
            </a:solidFill>
            <a:prstDash val="solid"/>
          </a:ln>
        </p:spPr>
      </p:sp>
      <p:sp>
        <p:nvSpPr>
          <p:cNvPr id="7" name="Text 5"/>
          <p:cNvSpPr txBox="1"/>
          <p:nvPr/>
        </p:nvSpPr>
        <p:spPr>
          <a:xfrm>
            <a:off x="18288" y="2057400"/>
            <a:ext cx="1828800" cy="365760"/>
          </a:xfrm>
          <a:prstGeom prst="rect">
            <a:avLst/>
          </a:prstGeom>
          <a:noFill/>
          <a:ln/>
        </p:spPr>
        <p:txBody>
          <a:bodyPr wrap="square" lIns="0" tIns="0" rIns="0" bIns="0" rtlCol="0" anchor="ctr"/>
          <a:lstStyle/>
          <a:p>
            <a:pPr algn="r" indent="0" marL="0">
              <a:buNone/>
            </a:pPr>
            <a:r>
              <a:rPr lang="en-US" sz="1300" dirty="0">
                <a:solidFill>
                  <a:schemeClr val="tx2"/>
                </a:solidFill>
              </a:rPr>
              <a:t>esperando₁</a:t>
            </a:r>
            <a:endParaRPr lang="en-US" sz="1300" dirty="0"/>
          </a:p>
        </p:txBody>
      </p:sp>
      <p:sp>
        <p:nvSpPr>
          <p:cNvPr id="8" name="Shape 6"/>
          <p:cNvSpPr/>
          <p:nvPr/>
        </p:nvSpPr>
        <p:spPr>
          <a:xfrm>
            <a:off x="5367528" y="1938528"/>
            <a:ext cx="603504" cy="603504"/>
          </a:xfrm>
          <a:prstGeom prst="ellipse">
            <a:avLst/>
          </a:prstGeom>
          <a:solidFill>
            <a:schemeClr val="bg1"/>
          </a:solidFill>
          <a:ln w="25400">
            <a:solidFill>
              <a:schemeClr val="tx2"/>
            </a:solidFill>
            <a:prstDash val="solid"/>
          </a:ln>
        </p:spPr>
      </p:sp>
      <p:sp>
        <p:nvSpPr>
          <p:cNvPr id="9" name="Shape 7"/>
          <p:cNvSpPr/>
          <p:nvPr/>
        </p:nvSpPr>
        <p:spPr>
          <a:xfrm>
            <a:off x="5586984" y="2157984"/>
            <a:ext cx="164592" cy="164592"/>
          </a:xfrm>
          <a:prstGeom prst="ellipse">
            <a:avLst/>
          </a:prstGeom>
          <a:solidFill>
            <a:schemeClr val="tx1"/>
          </a:solidFill>
          <a:ln w="12700">
            <a:solidFill>
              <a:schemeClr val="tx1"/>
            </a:solidFill>
            <a:prstDash val="solid"/>
          </a:ln>
        </p:spPr>
      </p:sp>
      <p:sp>
        <p:nvSpPr>
          <p:cNvPr id="10" name="Text 8"/>
          <p:cNvSpPr txBox="1"/>
          <p:nvPr/>
        </p:nvSpPr>
        <p:spPr>
          <a:xfrm>
            <a:off x="6016752" y="2057400"/>
            <a:ext cx="1828800" cy="365760"/>
          </a:xfrm>
          <a:prstGeom prst="rect">
            <a:avLst/>
          </a:prstGeom>
          <a:noFill/>
          <a:ln/>
        </p:spPr>
        <p:txBody>
          <a:bodyPr wrap="square" lIns="0" tIns="0" rIns="0" bIns="0" rtlCol="0" anchor="ctr"/>
          <a:lstStyle/>
          <a:p>
            <a:pPr algn="l" indent="0" marL="0">
              <a:buNone/>
            </a:pPr>
            <a:r>
              <a:rPr lang="en-US" sz="1300" dirty="0">
                <a:solidFill>
                  <a:schemeClr val="tx2"/>
                </a:solidFill>
              </a:rPr>
              <a:t>esperando₂</a:t>
            </a:r>
            <a:endParaRPr lang="en-US" sz="1300" dirty="0"/>
          </a:p>
        </p:txBody>
      </p:sp>
      <p:sp>
        <p:nvSpPr>
          <p:cNvPr id="11" name="Shape 9"/>
          <p:cNvSpPr/>
          <p:nvPr/>
        </p:nvSpPr>
        <p:spPr>
          <a:xfrm>
            <a:off x="1737360" y="3090672"/>
            <a:ext cx="914400" cy="128016"/>
          </a:xfrm>
          <a:prstGeom prst="rect">
            <a:avLst/>
          </a:prstGeom>
          <a:solidFill>
            <a:schemeClr val="tx1"/>
          </a:solidFill>
          <a:ln w="12700">
            <a:solidFill>
              <a:schemeClr val="tx1"/>
            </a:solidFill>
            <a:prstDash val="solid"/>
          </a:ln>
        </p:spPr>
      </p:sp>
      <p:sp>
        <p:nvSpPr>
          <p:cNvPr id="12" name="Text 10"/>
          <p:cNvSpPr txBox="1"/>
          <p:nvPr/>
        </p:nvSpPr>
        <p:spPr>
          <a:xfrm>
            <a:off x="-164592" y="2971800"/>
            <a:ext cx="1828800" cy="365760"/>
          </a:xfrm>
          <a:prstGeom prst="rect">
            <a:avLst/>
          </a:prstGeom>
          <a:noFill/>
          <a:ln/>
        </p:spPr>
        <p:txBody>
          <a:bodyPr wrap="square" lIns="0" tIns="0" rIns="0" bIns="0" rtlCol="0" anchor="ctr"/>
          <a:lstStyle/>
          <a:p>
            <a:pPr algn="r" indent="0" marL="0">
              <a:buNone/>
            </a:pPr>
            <a:r>
              <a:rPr lang="en-US" sz="1300" b="1" i="1" dirty="0">
                <a:solidFill>
                  <a:schemeClr val="accent1"/>
                </a:solidFill>
              </a:rPr>
              <a:t>entrar₁</a:t>
            </a:r>
            <a:endParaRPr lang="en-US" sz="1300" dirty="0"/>
          </a:p>
        </p:txBody>
      </p:sp>
      <p:sp>
        <p:nvSpPr>
          <p:cNvPr id="13" name="Shape 11"/>
          <p:cNvSpPr/>
          <p:nvPr/>
        </p:nvSpPr>
        <p:spPr>
          <a:xfrm>
            <a:off x="5212080" y="3090672"/>
            <a:ext cx="914400" cy="128016"/>
          </a:xfrm>
          <a:prstGeom prst="rect">
            <a:avLst/>
          </a:prstGeom>
          <a:solidFill>
            <a:schemeClr val="tx1"/>
          </a:solidFill>
          <a:ln w="12700">
            <a:solidFill>
              <a:schemeClr val="tx1"/>
            </a:solidFill>
            <a:prstDash val="solid"/>
          </a:ln>
        </p:spPr>
      </p:sp>
      <p:sp>
        <p:nvSpPr>
          <p:cNvPr id="14" name="Text 12"/>
          <p:cNvSpPr txBox="1"/>
          <p:nvPr/>
        </p:nvSpPr>
        <p:spPr>
          <a:xfrm>
            <a:off x="6199632" y="2971800"/>
            <a:ext cx="1828800" cy="365760"/>
          </a:xfrm>
          <a:prstGeom prst="rect">
            <a:avLst/>
          </a:prstGeom>
          <a:noFill/>
          <a:ln/>
        </p:spPr>
        <p:txBody>
          <a:bodyPr wrap="square" lIns="0" tIns="0" rIns="0" bIns="0" rtlCol="0" anchor="ctr"/>
          <a:lstStyle/>
          <a:p>
            <a:pPr algn="l" indent="0" marL="0">
              <a:buNone/>
            </a:pPr>
            <a:r>
              <a:rPr lang="en-US" sz="1300" b="1" i="1" dirty="0">
                <a:solidFill>
                  <a:schemeClr val="accent1"/>
                </a:solidFill>
              </a:rPr>
              <a:t>entrar₂</a:t>
            </a:r>
            <a:endParaRPr lang="en-US" sz="1300" dirty="0"/>
          </a:p>
        </p:txBody>
      </p:sp>
      <p:sp>
        <p:nvSpPr>
          <p:cNvPr id="15" name="Shape 13"/>
          <p:cNvSpPr/>
          <p:nvPr/>
        </p:nvSpPr>
        <p:spPr>
          <a:xfrm>
            <a:off x="1892808" y="3813048"/>
            <a:ext cx="603504" cy="603504"/>
          </a:xfrm>
          <a:prstGeom prst="ellipse">
            <a:avLst/>
          </a:prstGeom>
          <a:solidFill>
            <a:schemeClr val="bg1"/>
          </a:solidFill>
          <a:ln w="25400">
            <a:solidFill>
              <a:schemeClr val="tx2"/>
            </a:solidFill>
            <a:prstDash val="solid"/>
          </a:ln>
        </p:spPr>
      </p:sp>
      <p:sp>
        <p:nvSpPr>
          <p:cNvPr id="16" name="Text 14"/>
          <p:cNvSpPr txBox="1"/>
          <p:nvPr/>
        </p:nvSpPr>
        <p:spPr>
          <a:xfrm>
            <a:off x="18288" y="3931920"/>
            <a:ext cx="1828800" cy="365760"/>
          </a:xfrm>
          <a:prstGeom prst="rect">
            <a:avLst/>
          </a:prstGeom>
          <a:noFill/>
          <a:ln/>
        </p:spPr>
        <p:txBody>
          <a:bodyPr wrap="square" lIns="0" tIns="0" rIns="0" bIns="0" rtlCol="0" anchor="ctr"/>
          <a:lstStyle/>
          <a:p>
            <a:pPr algn="r" indent="0" marL="0">
              <a:buNone/>
            </a:pPr>
            <a:r>
              <a:rPr lang="en-US" sz="1300" dirty="0">
                <a:solidFill>
                  <a:schemeClr val="tx2"/>
                </a:solidFill>
              </a:rPr>
              <a:t>en sección</a:t>
            </a:r>
            <a:endParaRPr lang="en-US" sz="1300" dirty="0"/>
          </a:p>
          <a:p>
            <a:pPr algn="r" indent="0" marL="0">
              <a:buNone/>
            </a:pPr>
            <a:r>
              <a:rPr lang="en-US" sz="1300" dirty="0">
                <a:solidFill>
                  <a:schemeClr val="tx2"/>
                </a:solidFill>
              </a:rPr>
              <a:t>crítica₁</a:t>
            </a:r>
            <a:endParaRPr lang="en-US" sz="1300" dirty="0"/>
          </a:p>
        </p:txBody>
      </p:sp>
      <p:sp>
        <p:nvSpPr>
          <p:cNvPr id="17" name="Shape 15"/>
          <p:cNvSpPr/>
          <p:nvPr/>
        </p:nvSpPr>
        <p:spPr>
          <a:xfrm>
            <a:off x="5367528" y="3813048"/>
            <a:ext cx="603504" cy="603504"/>
          </a:xfrm>
          <a:prstGeom prst="ellipse">
            <a:avLst/>
          </a:prstGeom>
          <a:solidFill>
            <a:schemeClr val="bg1"/>
          </a:solidFill>
          <a:ln w="25400">
            <a:solidFill>
              <a:schemeClr val="tx2"/>
            </a:solidFill>
            <a:prstDash val="solid"/>
          </a:ln>
        </p:spPr>
      </p:sp>
      <p:sp>
        <p:nvSpPr>
          <p:cNvPr id="18" name="Text 16"/>
          <p:cNvSpPr txBox="1"/>
          <p:nvPr/>
        </p:nvSpPr>
        <p:spPr>
          <a:xfrm>
            <a:off x="6016752" y="3931920"/>
            <a:ext cx="1828800" cy="365760"/>
          </a:xfrm>
          <a:prstGeom prst="rect">
            <a:avLst/>
          </a:prstGeom>
          <a:noFill/>
          <a:ln/>
        </p:spPr>
        <p:txBody>
          <a:bodyPr wrap="square" lIns="0" tIns="0" rIns="0" bIns="0" rtlCol="0" anchor="ctr"/>
          <a:lstStyle/>
          <a:p>
            <a:pPr algn="l" indent="0" marL="0">
              <a:buNone/>
            </a:pPr>
            <a:r>
              <a:rPr lang="en-US" sz="1300" dirty="0">
                <a:solidFill>
                  <a:schemeClr val="tx2"/>
                </a:solidFill>
              </a:rPr>
              <a:t>en sección</a:t>
            </a:r>
            <a:endParaRPr lang="en-US" sz="1300" dirty="0"/>
          </a:p>
          <a:p>
            <a:pPr algn="l" indent="0" marL="0">
              <a:buNone/>
            </a:pPr>
            <a:r>
              <a:rPr lang="en-US" sz="1300" dirty="0">
                <a:solidFill>
                  <a:schemeClr val="tx2"/>
                </a:solidFill>
              </a:rPr>
              <a:t>crítica₂</a:t>
            </a:r>
            <a:endParaRPr lang="en-US" sz="1300" dirty="0"/>
          </a:p>
        </p:txBody>
      </p:sp>
      <p:sp>
        <p:nvSpPr>
          <p:cNvPr id="19" name="Shape 17"/>
          <p:cNvSpPr/>
          <p:nvPr/>
        </p:nvSpPr>
        <p:spPr>
          <a:xfrm>
            <a:off x="1737360" y="5102352"/>
            <a:ext cx="914400" cy="128016"/>
          </a:xfrm>
          <a:prstGeom prst="rect">
            <a:avLst/>
          </a:prstGeom>
          <a:solidFill>
            <a:schemeClr val="tx1"/>
          </a:solidFill>
          <a:ln w="12700">
            <a:solidFill>
              <a:schemeClr val="tx1"/>
            </a:solidFill>
            <a:prstDash val="solid"/>
          </a:ln>
        </p:spPr>
      </p:sp>
      <p:sp>
        <p:nvSpPr>
          <p:cNvPr id="20" name="Text 18"/>
          <p:cNvSpPr txBox="1"/>
          <p:nvPr/>
        </p:nvSpPr>
        <p:spPr>
          <a:xfrm>
            <a:off x="-164592" y="4983480"/>
            <a:ext cx="1828800" cy="365760"/>
          </a:xfrm>
          <a:prstGeom prst="rect">
            <a:avLst/>
          </a:prstGeom>
          <a:noFill/>
          <a:ln/>
        </p:spPr>
        <p:txBody>
          <a:bodyPr wrap="square" lIns="0" tIns="0" rIns="0" bIns="0" rtlCol="0" anchor="ctr"/>
          <a:lstStyle/>
          <a:p>
            <a:pPr algn="r" indent="0" marL="0">
              <a:buNone/>
            </a:pPr>
            <a:r>
              <a:rPr lang="en-US" sz="1300" b="1" i="1" dirty="0">
                <a:solidFill>
                  <a:schemeClr val="accent1"/>
                </a:solidFill>
              </a:rPr>
              <a:t>salir₁</a:t>
            </a:r>
            <a:endParaRPr lang="en-US" sz="1300" dirty="0"/>
          </a:p>
        </p:txBody>
      </p:sp>
      <p:sp>
        <p:nvSpPr>
          <p:cNvPr id="21" name="Shape 19"/>
          <p:cNvSpPr/>
          <p:nvPr/>
        </p:nvSpPr>
        <p:spPr>
          <a:xfrm>
            <a:off x="5212080" y="5102352"/>
            <a:ext cx="914400" cy="128016"/>
          </a:xfrm>
          <a:prstGeom prst="rect">
            <a:avLst/>
          </a:prstGeom>
          <a:solidFill>
            <a:schemeClr val="tx1"/>
          </a:solidFill>
          <a:ln w="12700">
            <a:solidFill>
              <a:schemeClr val="tx1"/>
            </a:solidFill>
            <a:prstDash val="solid"/>
          </a:ln>
        </p:spPr>
      </p:sp>
      <p:sp>
        <p:nvSpPr>
          <p:cNvPr id="22" name="Text 20"/>
          <p:cNvSpPr txBox="1"/>
          <p:nvPr/>
        </p:nvSpPr>
        <p:spPr>
          <a:xfrm>
            <a:off x="6199632" y="4983480"/>
            <a:ext cx="1828800" cy="365760"/>
          </a:xfrm>
          <a:prstGeom prst="rect">
            <a:avLst/>
          </a:prstGeom>
          <a:noFill/>
          <a:ln/>
        </p:spPr>
        <p:txBody>
          <a:bodyPr wrap="square" lIns="0" tIns="0" rIns="0" bIns="0" rtlCol="0" anchor="ctr"/>
          <a:lstStyle/>
          <a:p>
            <a:pPr algn="l" indent="0" marL="0">
              <a:buNone/>
            </a:pPr>
            <a:r>
              <a:rPr lang="en-US" sz="1300" b="1" i="1" dirty="0">
                <a:solidFill>
                  <a:schemeClr val="accent1"/>
                </a:solidFill>
              </a:rPr>
              <a:t>salir₂</a:t>
            </a:r>
            <a:endParaRPr lang="en-US" sz="1300" dirty="0"/>
          </a:p>
        </p:txBody>
      </p:sp>
      <p:sp>
        <p:nvSpPr>
          <p:cNvPr id="23" name="Shape 21"/>
          <p:cNvSpPr/>
          <p:nvPr/>
        </p:nvSpPr>
        <p:spPr>
          <a:xfrm>
            <a:off x="3584448" y="3419856"/>
            <a:ext cx="694944" cy="694944"/>
          </a:xfrm>
          <a:prstGeom prst="ellipse">
            <a:avLst/>
          </a:prstGeom>
          <a:solidFill>
            <a:schemeClr val="accent4"/>
          </a:solidFill>
          <a:ln w="28575">
            <a:solidFill>
              <a:schemeClr val="accent1"/>
            </a:solidFill>
            <a:prstDash val="solid"/>
          </a:ln>
        </p:spPr>
      </p:sp>
      <p:sp>
        <p:nvSpPr>
          <p:cNvPr id="24" name="Shape 22"/>
          <p:cNvSpPr/>
          <p:nvPr/>
        </p:nvSpPr>
        <p:spPr>
          <a:xfrm>
            <a:off x="3849624" y="3685032"/>
            <a:ext cx="164592" cy="164592"/>
          </a:xfrm>
          <a:prstGeom prst="ellipse">
            <a:avLst/>
          </a:prstGeom>
          <a:solidFill>
            <a:schemeClr val="tx1"/>
          </a:solidFill>
          <a:ln w="12700">
            <a:solidFill>
              <a:schemeClr val="tx1"/>
            </a:solidFill>
            <a:prstDash val="solid"/>
          </a:ln>
        </p:spPr>
      </p:sp>
      <p:sp>
        <p:nvSpPr>
          <p:cNvPr id="25" name="Text 23"/>
          <p:cNvSpPr txBox="1"/>
          <p:nvPr/>
        </p:nvSpPr>
        <p:spPr>
          <a:xfrm>
            <a:off x="3291840" y="4160520"/>
            <a:ext cx="1280160" cy="320040"/>
          </a:xfrm>
          <a:prstGeom prst="rect">
            <a:avLst/>
          </a:prstGeom>
          <a:noFill/>
          <a:ln/>
        </p:spPr>
        <p:txBody>
          <a:bodyPr wrap="square" lIns="0" tIns="0" rIns="0" bIns="0" rtlCol="0" anchor="t"/>
          <a:lstStyle/>
          <a:p>
            <a:pPr algn="ctr" indent="0" marL="0">
              <a:buNone/>
            </a:pPr>
            <a:r>
              <a:rPr lang="en-US" sz="1400" b="1" dirty="0">
                <a:solidFill>
                  <a:schemeClr val="accent1"/>
                </a:solidFill>
              </a:rPr>
              <a:t>mutex</a:t>
            </a:r>
            <a:endParaRPr lang="en-US" sz="1400" dirty="0"/>
          </a:p>
        </p:txBody>
      </p:sp>
      <p:sp>
        <p:nvSpPr>
          <p:cNvPr id="26" name="Shape 24"/>
          <p:cNvSpPr/>
          <p:nvPr/>
        </p:nvSpPr>
        <p:spPr>
          <a:xfrm>
            <a:off x="2194560" y="2551176"/>
            <a:ext cx="914" cy="530352"/>
          </a:xfrm>
          <a:prstGeom prst="line">
            <a:avLst/>
          </a:prstGeom>
          <a:noFill/>
          <a:ln w="19050">
            <a:solidFill>
              <a:schemeClr val="tx2"/>
            </a:solidFill>
            <a:prstDash val="solid"/>
            <a:tailEnd type="triangle"/>
          </a:ln>
        </p:spPr>
      </p:sp>
      <p:sp>
        <p:nvSpPr>
          <p:cNvPr id="27" name="Shape 25"/>
          <p:cNvSpPr/>
          <p:nvPr/>
        </p:nvSpPr>
        <p:spPr>
          <a:xfrm>
            <a:off x="2194560" y="3227832"/>
            <a:ext cx="914" cy="576072"/>
          </a:xfrm>
          <a:prstGeom prst="line">
            <a:avLst/>
          </a:prstGeom>
          <a:noFill/>
          <a:ln w="19050">
            <a:solidFill>
              <a:schemeClr val="tx2"/>
            </a:solidFill>
            <a:prstDash val="solid"/>
            <a:tailEnd type="triangle"/>
          </a:ln>
        </p:spPr>
      </p:sp>
      <p:sp>
        <p:nvSpPr>
          <p:cNvPr id="28" name="Shape 26"/>
          <p:cNvSpPr/>
          <p:nvPr/>
        </p:nvSpPr>
        <p:spPr>
          <a:xfrm>
            <a:off x="2194560" y="4425696"/>
            <a:ext cx="914" cy="667512"/>
          </a:xfrm>
          <a:prstGeom prst="line">
            <a:avLst/>
          </a:prstGeom>
          <a:noFill/>
          <a:ln w="19050">
            <a:solidFill>
              <a:schemeClr val="tx2"/>
            </a:solidFill>
            <a:prstDash val="solid"/>
            <a:tailEnd type="triangle"/>
          </a:ln>
        </p:spPr>
      </p:sp>
      <p:sp>
        <p:nvSpPr>
          <p:cNvPr id="29" name="Shape 27"/>
          <p:cNvSpPr/>
          <p:nvPr/>
        </p:nvSpPr>
        <p:spPr>
          <a:xfrm>
            <a:off x="2194560" y="5230368"/>
            <a:ext cx="914" cy="530352"/>
          </a:xfrm>
          <a:prstGeom prst="line">
            <a:avLst/>
          </a:prstGeom>
          <a:noFill/>
          <a:ln w="19050">
            <a:solidFill>
              <a:schemeClr val="tx2"/>
            </a:solidFill>
            <a:prstDash val="solid"/>
          </a:ln>
        </p:spPr>
      </p:sp>
      <p:sp>
        <p:nvSpPr>
          <p:cNvPr id="30" name="Shape 28"/>
          <p:cNvSpPr/>
          <p:nvPr/>
        </p:nvSpPr>
        <p:spPr>
          <a:xfrm>
            <a:off x="2194560" y="5760720"/>
            <a:ext cx="685800" cy="914"/>
          </a:xfrm>
          <a:prstGeom prst="line">
            <a:avLst/>
          </a:prstGeom>
          <a:noFill/>
          <a:ln w="19050">
            <a:solidFill>
              <a:schemeClr val="tx2"/>
            </a:solidFill>
            <a:prstDash val="solid"/>
          </a:ln>
        </p:spPr>
      </p:sp>
      <p:sp>
        <p:nvSpPr>
          <p:cNvPr id="31" name="Shape 29"/>
          <p:cNvSpPr/>
          <p:nvPr/>
        </p:nvSpPr>
        <p:spPr>
          <a:xfrm flipV="1">
            <a:off x="2880360" y="2240280"/>
            <a:ext cx="914" cy="3520440"/>
          </a:xfrm>
          <a:prstGeom prst="line">
            <a:avLst/>
          </a:prstGeom>
          <a:noFill/>
          <a:ln w="19050">
            <a:solidFill>
              <a:schemeClr val="tx2"/>
            </a:solidFill>
            <a:prstDash val="solid"/>
          </a:ln>
        </p:spPr>
      </p:sp>
      <p:sp>
        <p:nvSpPr>
          <p:cNvPr id="32" name="Shape 30"/>
          <p:cNvSpPr/>
          <p:nvPr/>
        </p:nvSpPr>
        <p:spPr>
          <a:xfrm flipH="1">
            <a:off x="2514600" y="2240280"/>
            <a:ext cx="365760" cy="914"/>
          </a:xfrm>
          <a:prstGeom prst="line">
            <a:avLst/>
          </a:prstGeom>
          <a:noFill/>
          <a:ln w="19050">
            <a:solidFill>
              <a:schemeClr val="tx2"/>
            </a:solidFill>
            <a:prstDash val="solid"/>
            <a:tailEnd type="triangle"/>
          </a:ln>
        </p:spPr>
      </p:sp>
      <p:sp>
        <p:nvSpPr>
          <p:cNvPr id="33" name="Shape 31"/>
          <p:cNvSpPr/>
          <p:nvPr/>
        </p:nvSpPr>
        <p:spPr>
          <a:xfrm flipH="1" flipV="1">
            <a:off x="2670048" y="3200400"/>
            <a:ext cx="987552" cy="320040"/>
          </a:xfrm>
          <a:prstGeom prst="line">
            <a:avLst/>
          </a:prstGeom>
          <a:noFill/>
          <a:ln w="19050">
            <a:solidFill>
              <a:schemeClr val="accent1"/>
            </a:solidFill>
            <a:prstDash val="solid"/>
            <a:tailEnd type="triangle"/>
          </a:ln>
        </p:spPr>
      </p:sp>
      <p:sp>
        <p:nvSpPr>
          <p:cNvPr id="34" name="Shape 32"/>
          <p:cNvSpPr/>
          <p:nvPr/>
        </p:nvSpPr>
        <p:spPr>
          <a:xfrm flipV="1">
            <a:off x="2670048" y="4041648"/>
            <a:ext cx="1014984" cy="1078992"/>
          </a:xfrm>
          <a:prstGeom prst="line">
            <a:avLst/>
          </a:prstGeom>
          <a:noFill/>
          <a:ln w="19050">
            <a:solidFill>
              <a:schemeClr val="accent1"/>
            </a:solidFill>
            <a:prstDash val="solid"/>
            <a:tailEnd type="triangle"/>
          </a:ln>
        </p:spPr>
      </p:sp>
      <p:sp>
        <p:nvSpPr>
          <p:cNvPr id="35" name="Shape 33"/>
          <p:cNvSpPr/>
          <p:nvPr/>
        </p:nvSpPr>
        <p:spPr>
          <a:xfrm>
            <a:off x="5669280" y="2551176"/>
            <a:ext cx="914" cy="530352"/>
          </a:xfrm>
          <a:prstGeom prst="line">
            <a:avLst/>
          </a:prstGeom>
          <a:noFill/>
          <a:ln w="19050">
            <a:solidFill>
              <a:schemeClr val="tx2"/>
            </a:solidFill>
            <a:prstDash val="solid"/>
            <a:tailEnd type="triangle"/>
          </a:ln>
        </p:spPr>
      </p:sp>
      <p:sp>
        <p:nvSpPr>
          <p:cNvPr id="36" name="Shape 34"/>
          <p:cNvSpPr/>
          <p:nvPr/>
        </p:nvSpPr>
        <p:spPr>
          <a:xfrm>
            <a:off x="5669280" y="3227832"/>
            <a:ext cx="914" cy="576072"/>
          </a:xfrm>
          <a:prstGeom prst="line">
            <a:avLst/>
          </a:prstGeom>
          <a:noFill/>
          <a:ln w="19050">
            <a:solidFill>
              <a:schemeClr val="tx2"/>
            </a:solidFill>
            <a:prstDash val="solid"/>
            <a:tailEnd type="triangle"/>
          </a:ln>
        </p:spPr>
      </p:sp>
      <p:sp>
        <p:nvSpPr>
          <p:cNvPr id="37" name="Shape 35"/>
          <p:cNvSpPr/>
          <p:nvPr/>
        </p:nvSpPr>
        <p:spPr>
          <a:xfrm>
            <a:off x="5669280" y="4425696"/>
            <a:ext cx="914" cy="667512"/>
          </a:xfrm>
          <a:prstGeom prst="line">
            <a:avLst/>
          </a:prstGeom>
          <a:noFill/>
          <a:ln w="19050">
            <a:solidFill>
              <a:schemeClr val="tx2"/>
            </a:solidFill>
            <a:prstDash val="solid"/>
            <a:tailEnd type="triangle"/>
          </a:ln>
        </p:spPr>
      </p:sp>
      <p:sp>
        <p:nvSpPr>
          <p:cNvPr id="38" name="Shape 36"/>
          <p:cNvSpPr/>
          <p:nvPr/>
        </p:nvSpPr>
        <p:spPr>
          <a:xfrm>
            <a:off x="5669280" y="5230368"/>
            <a:ext cx="914" cy="530352"/>
          </a:xfrm>
          <a:prstGeom prst="line">
            <a:avLst/>
          </a:prstGeom>
          <a:noFill/>
          <a:ln w="19050">
            <a:solidFill>
              <a:schemeClr val="tx2"/>
            </a:solidFill>
            <a:prstDash val="solid"/>
          </a:ln>
        </p:spPr>
      </p:sp>
      <p:sp>
        <p:nvSpPr>
          <p:cNvPr id="39" name="Shape 37"/>
          <p:cNvSpPr/>
          <p:nvPr/>
        </p:nvSpPr>
        <p:spPr>
          <a:xfrm flipH="1">
            <a:off x="4983480" y="5760720"/>
            <a:ext cx="685800" cy="914"/>
          </a:xfrm>
          <a:prstGeom prst="line">
            <a:avLst/>
          </a:prstGeom>
          <a:noFill/>
          <a:ln w="19050">
            <a:solidFill>
              <a:schemeClr val="tx2"/>
            </a:solidFill>
            <a:prstDash val="solid"/>
          </a:ln>
        </p:spPr>
      </p:sp>
      <p:sp>
        <p:nvSpPr>
          <p:cNvPr id="40" name="Shape 38"/>
          <p:cNvSpPr/>
          <p:nvPr/>
        </p:nvSpPr>
        <p:spPr>
          <a:xfrm flipV="1">
            <a:off x="4983480" y="2240280"/>
            <a:ext cx="914" cy="3520440"/>
          </a:xfrm>
          <a:prstGeom prst="line">
            <a:avLst/>
          </a:prstGeom>
          <a:noFill/>
          <a:ln w="19050">
            <a:solidFill>
              <a:schemeClr val="tx2"/>
            </a:solidFill>
            <a:prstDash val="solid"/>
          </a:ln>
        </p:spPr>
      </p:sp>
      <p:sp>
        <p:nvSpPr>
          <p:cNvPr id="41" name="Shape 39"/>
          <p:cNvSpPr/>
          <p:nvPr/>
        </p:nvSpPr>
        <p:spPr>
          <a:xfrm>
            <a:off x="4983480" y="2240280"/>
            <a:ext cx="365760" cy="914"/>
          </a:xfrm>
          <a:prstGeom prst="line">
            <a:avLst/>
          </a:prstGeom>
          <a:noFill/>
          <a:ln w="19050">
            <a:solidFill>
              <a:schemeClr val="tx2"/>
            </a:solidFill>
            <a:prstDash val="solid"/>
            <a:tailEnd type="triangle"/>
          </a:ln>
        </p:spPr>
      </p:sp>
      <p:sp>
        <p:nvSpPr>
          <p:cNvPr id="42" name="Shape 40"/>
          <p:cNvSpPr/>
          <p:nvPr/>
        </p:nvSpPr>
        <p:spPr>
          <a:xfrm flipV="1">
            <a:off x="4206240" y="3200400"/>
            <a:ext cx="987552" cy="320040"/>
          </a:xfrm>
          <a:prstGeom prst="line">
            <a:avLst/>
          </a:prstGeom>
          <a:noFill/>
          <a:ln w="19050">
            <a:solidFill>
              <a:schemeClr val="accent1"/>
            </a:solidFill>
            <a:prstDash val="solid"/>
            <a:tailEnd type="triangle"/>
          </a:ln>
        </p:spPr>
      </p:sp>
      <p:sp>
        <p:nvSpPr>
          <p:cNvPr id="43" name="Shape 41"/>
          <p:cNvSpPr/>
          <p:nvPr/>
        </p:nvSpPr>
        <p:spPr>
          <a:xfrm flipH="1" flipV="1">
            <a:off x="4178808" y="4041648"/>
            <a:ext cx="1014984" cy="1078992"/>
          </a:xfrm>
          <a:prstGeom prst="line">
            <a:avLst/>
          </a:prstGeom>
          <a:noFill/>
          <a:ln w="19050">
            <a:solidFill>
              <a:schemeClr val="accent1"/>
            </a:solidFill>
            <a:prstDash val="solid"/>
            <a:tailEnd type="triangle"/>
          </a:ln>
        </p:spPr>
      </p:sp>
      <p:sp>
        <p:nvSpPr>
          <p:cNvPr id="44" name="Shape 42"/>
          <p:cNvSpPr/>
          <p:nvPr/>
        </p:nvSpPr>
        <p:spPr>
          <a:xfrm>
            <a:off x="7589520" y="1691640"/>
            <a:ext cx="4023360" cy="4434840"/>
          </a:xfrm>
          <a:prstGeom prst="roundRect">
            <a:avLst>
              <a:gd name="adj" fmla="val 1818"/>
            </a:avLst>
          </a:prstGeom>
          <a:solidFill>
            <a:schemeClr val="bg2"/>
          </a:solidFill>
          <a:ln w="12700">
            <a:solidFill>
              <a:schemeClr val="accent3"/>
            </a:solidFill>
            <a:prstDash val="solid"/>
          </a:ln>
        </p:spPr>
      </p:sp>
      <p:sp>
        <p:nvSpPr>
          <p:cNvPr id="45" name="Text 43"/>
          <p:cNvSpPr txBox="1"/>
          <p:nvPr/>
        </p:nvSpPr>
        <p:spPr>
          <a:xfrm>
            <a:off x="7818120" y="1828800"/>
            <a:ext cx="3566160" cy="411480"/>
          </a:xfrm>
          <a:prstGeom prst="rect">
            <a:avLst/>
          </a:prstGeom>
          <a:noFill/>
          <a:ln/>
        </p:spPr>
        <p:txBody>
          <a:bodyPr wrap="square" lIns="0" tIns="0" rIns="0" bIns="0" rtlCol="0" anchor="t"/>
          <a:lstStyle/>
          <a:p>
            <a:pPr indent="0" marL="0">
              <a:buNone/>
            </a:pPr>
            <a:r>
              <a:rPr lang="en-US" sz="1800" b="1" dirty="0">
                <a:solidFill>
                  <a:schemeClr val="tx2"/>
                </a:solidFill>
              </a:rPr>
              <a:t>Qué muestra la red</a:t>
            </a:r>
            <a:endParaRPr lang="en-US" sz="1800" dirty="0"/>
          </a:p>
        </p:txBody>
      </p:sp>
      <p:sp>
        <p:nvSpPr>
          <p:cNvPr id="46" name="Text 44"/>
          <p:cNvSpPr txBox="1"/>
          <p:nvPr/>
        </p:nvSpPr>
        <p:spPr>
          <a:xfrm>
            <a:off x="7818120" y="2331720"/>
            <a:ext cx="3611880" cy="36576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Cada proceso cicla: esperar → entrar → salir.</a:t>
            </a:r>
            <a:endParaRPr lang="en-US" sz="1500" dirty="0"/>
          </a:p>
          <a:p>
            <a:pPr marL="342900" indent="-342900">
              <a:spcAft>
                <a:spcPts val="900"/>
              </a:spcAft>
              <a:buSzPct val="100000"/>
              <a:buChar char="•"/>
            </a:pPr>
            <a:r>
              <a:rPr lang="en-US" sz="1500" dirty="0">
                <a:solidFill>
                  <a:schemeClr val="tx1"/>
                </a:solidFill>
              </a:rPr>
              <a:t>El token de mutex representa el recurso compartido.</a:t>
            </a:r>
            <a:endParaRPr lang="en-US" sz="1500" dirty="0"/>
          </a:p>
          <a:p>
            <a:pPr marL="342900" indent="-342900">
              <a:spcAft>
                <a:spcPts val="900"/>
              </a:spcAft>
              <a:buSzPct val="100000"/>
              <a:buChar char="•"/>
            </a:pPr>
            <a:r>
              <a:rPr lang="en-US" sz="1500" dirty="0">
                <a:solidFill>
                  <a:schemeClr val="tx1"/>
                </a:solidFill>
              </a:rPr>
              <a:t>Si ambos esperan, entrar₁ y entrar₂ están en conflicto: solo una se dispara (no determinismo).</a:t>
            </a:r>
            <a:endParaRPr lang="en-US" sz="1500" dirty="0"/>
          </a:p>
          <a:p>
            <a:pPr marL="342900" indent="-342900">
              <a:spcAft>
                <a:spcPts val="900"/>
              </a:spcAft>
              <a:buSzPct val="100000"/>
              <a:buChar char="•"/>
            </a:pPr>
            <a:r>
              <a:rPr lang="en-US" sz="1500" dirty="0">
                <a:solidFill>
                  <a:schemeClr val="tx1"/>
                </a:solidFill>
              </a:rPr>
              <a:t>Propiedad verificable: nunca hay dos tokens en sección crítica a la vez.</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5.5 · ESPECIFICACIONES OPERACIONALES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Redes de Petri: qué permiten modelar</a:t>
            </a:r>
            <a:endParaRPr lang="en-US" sz="3400" dirty="0"/>
          </a:p>
        </p:txBody>
      </p:sp>
      <p:sp>
        <p:nvSpPr>
          <p:cNvPr id="4" name="Shape 2"/>
          <p:cNvSpPr/>
          <p:nvPr/>
        </p:nvSpPr>
        <p:spPr>
          <a:xfrm>
            <a:off x="548640" y="1783080"/>
            <a:ext cx="3520440" cy="1965960"/>
          </a:xfrm>
          <a:prstGeom prst="roundRect">
            <a:avLst>
              <a:gd name="adj" fmla="val 3721"/>
            </a:avLst>
          </a:prstGeom>
          <a:solidFill>
            <a:schemeClr val="bg2"/>
          </a:solidFill>
          <a:ln w="12700">
            <a:solidFill>
              <a:schemeClr val="accent3"/>
            </a:solidFill>
            <a:prstDash val="solid"/>
          </a:ln>
        </p:spPr>
      </p:sp>
      <p:sp>
        <p:nvSpPr>
          <p:cNvPr id="5" name="Shape 3"/>
          <p:cNvSpPr/>
          <p:nvPr/>
        </p:nvSpPr>
        <p:spPr>
          <a:xfrm>
            <a:off x="777240" y="2011680"/>
            <a:ext cx="640080" cy="64008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937260" y="2171700"/>
            <a:ext cx="320040" cy="320040"/>
          </a:xfrm>
          <a:prstGeom prst="rect">
            <a:avLst/>
          </a:prstGeom>
        </p:spPr>
      </p:pic>
      <p:sp>
        <p:nvSpPr>
          <p:cNvPr id="7" name="Text 4"/>
          <p:cNvSpPr txBox="1"/>
          <p:nvPr/>
        </p:nvSpPr>
        <p:spPr>
          <a:xfrm>
            <a:off x="1554480" y="201168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Secuencia</a:t>
            </a:r>
            <a:endParaRPr lang="en-US" sz="1800" dirty="0"/>
          </a:p>
        </p:txBody>
      </p:sp>
      <p:sp>
        <p:nvSpPr>
          <p:cNvPr id="8" name="Text 5"/>
          <p:cNvSpPr txBox="1"/>
          <p:nvPr/>
        </p:nvSpPr>
        <p:spPr>
          <a:xfrm>
            <a:off x="777240" y="2788920"/>
            <a:ext cx="3108960" cy="868680"/>
          </a:xfrm>
          <a:prstGeom prst="rect">
            <a:avLst/>
          </a:prstGeom>
          <a:noFill/>
          <a:ln/>
        </p:spPr>
        <p:txBody>
          <a:bodyPr wrap="square" lIns="0" tIns="0" rIns="0" bIns="0" rtlCol="0" anchor="t"/>
          <a:lstStyle/>
          <a:p>
            <a:pPr indent="0" marL="0">
              <a:buNone/>
            </a:pPr>
            <a:r>
              <a:rPr lang="en-US" sz="1500" dirty="0">
                <a:solidFill>
                  <a:schemeClr val="tx1"/>
                </a:solidFill>
              </a:rPr>
              <a:t>Una transición habilita a la siguiente: orden causal entre eventos.</a:t>
            </a:r>
            <a:endParaRPr lang="en-US" sz="1500" dirty="0"/>
          </a:p>
        </p:txBody>
      </p:sp>
      <p:sp>
        <p:nvSpPr>
          <p:cNvPr id="9" name="Shape 6"/>
          <p:cNvSpPr/>
          <p:nvPr/>
        </p:nvSpPr>
        <p:spPr>
          <a:xfrm>
            <a:off x="4297680" y="1783080"/>
            <a:ext cx="3520440" cy="1965960"/>
          </a:xfrm>
          <a:prstGeom prst="roundRect">
            <a:avLst>
              <a:gd name="adj" fmla="val 3721"/>
            </a:avLst>
          </a:prstGeom>
          <a:solidFill>
            <a:schemeClr val="bg2"/>
          </a:solidFill>
          <a:ln w="12700">
            <a:solidFill>
              <a:schemeClr val="accent3"/>
            </a:solidFill>
            <a:prstDash val="solid"/>
          </a:ln>
        </p:spPr>
      </p:sp>
      <p:sp>
        <p:nvSpPr>
          <p:cNvPr id="10" name="Shape 7"/>
          <p:cNvSpPr/>
          <p:nvPr/>
        </p:nvSpPr>
        <p:spPr>
          <a:xfrm>
            <a:off x="4526280" y="2011680"/>
            <a:ext cx="640080" cy="64008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4686300" y="2171700"/>
            <a:ext cx="320040" cy="320040"/>
          </a:xfrm>
          <a:prstGeom prst="rect">
            <a:avLst/>
          </a:prstGeom>
        </p:spPr>
      </p:pic>
      <p:sp>
        <p:nvSpPr>
          <p:cNvPr id="12" name="Text 8"/>
          <p:cNvSpPr txBox="1"/>
          <p:nvPr/>
        </p:nvSpPr>
        <p:spPr>
          <a:xfrm>
            <a:off x="5303520" y="201168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Concurrencia</a:t>
            </a:r>
            <a:endParaRPr lang="en-US" sz="1800" dirty="0"/>
          </a:p>
        </p:txBody>
      </p:sp>
      <p:sp>
        <p:nvSpPr>
          <p:cNvPr id="13" name="Text 9"/>
          <p:cNvSpPr txBox="1"/>
          <p:nvPr/>
        </p:nvSpPr>
        <p:spPr>
          <a:xfrm>
            <a:off x="4526280" y="2788920"/>
            <a:ext cx="3108960" cy="868680"/>
          </a:xfrm>
          <a:prstGeom prst="rect">
            <a:avLst/>
          </a:prstGeom>
          <a:noFill/>
          <a:ln/>
        </p:spPr>
        <p:txBody>
          <a:bodyPr wrap="square" lIns="0" tIns="0" rIns="0" bIns="0" rtlCol="0" anchor="t"/>
          <a:lstStyle/>
          <a:p>
            <a:pPr indent="0" marL="0">
              <a:buNone/>
            </a:pPr>
            <a:r>
              <a:rPr lang="en-US" sz="1500" dirty="0">
                <a:solidFill>
                  <a:schemeClr val="tx1"/>
                </a:solidFill>
              </a:rPr>
              <a:t>Transiciones independientes pueden dispararse en cualquier orden.</a:t>
            </a:r>
            <a:endParaRPr lang="en-US" sz="1500" dirty="0"/>
          </a:p>
        </p:txBody>
      </p:sp>
      <p:sp>
        <p:nvSpPr>
          <p:cNvPr id="14" name="Shape 10"/>
          <p:cNvSpPr/>
          <p:nvPr/>
        </p:nvSpPr>
        <p:spPr>
          <a:xfrm>
            <a:off x="8046720" y="1783080"/>
            <a:ext cx="3520440" cy="1965960"/>
          </a:xfrm>
          <a:prstGeom prst="roundRect">
            <a:avLst>
              <a:gd name="adj" fmla="val 3721"/>
            </a:avLst>
          </a:prstGeom>
          <a:solidFill>
            <a:schemeClr val="bg2"/>
          </a:solidFill>
          <a:ln w="12700">
            <a:solidFill>
              <a:schemeClr val="accent3"/>
            </a:solidFill>
            <a:prstDash val="solid"/>
          </a:ln>
        </p:spPr>
      </p:sp>
      <p:sp>
        <p:nvSpPr>
          <p:cNvPr id="15" name="Shape 11"/>
          <p:cNvSpPr/>
          <p:nvPr/>
        </p:nvSpPr>
        <p:spPr>
          <a:xfrm>
            <a:off x="8275320" y="2011680"/>
            <a:ext cx="640080" cy="64008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8435340" y="2171700"/>
            <a:ext cx="320040" cy="320040"/>
          </a:xfrm>
          <a:prstGeom prst="rect">
            <a:avLst/>
          </a:prstGeom>
        </p:spPr>
      </p:pic>
      <p:sp>
        <p:nvSpPr>
          <p:cNvPr id="17" name="Text 12"/>
          <p:cNvSpPr txBox="1"/>
          <p:nvPr/>
        </p:nvSpPr>
        <p:spPr>
          <a:xfrm>
            <a:off x="9052560" y="201168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Conflicto</a:t>
            </a:r>
            <a:endParaRPr lang="en-US" sz="1800" dirty="0"/>
          </a:p>
        </p:txBody>
      </p:sp>
      <p:sp>
        <p:nvSpPr>
          <p:cNvPr id="18" name="Text 13"/>
          <p:cNvSpPr txBox="1"/>
          <p:nvPr/>
        </p:nvSpPr>
        <p:spPr>
          <a:xfrm>
            <a:off x="8275320" y="2788920"/>
            <a:ext cx="3108960" cy="868680"/>
          </a:xfrm>
          <a:prstGeom prst="rect">
            <a:avLst/>
          </a:prstGeom>
          <a:noFill/>
          <a:ln/>
        </p:spPr>
        <p:txBody>
          <a:bodyPr wrap="square" lIns="0" tIns="0" rIns="0" bIns="0" rtlCol="0" anchor="t"/>
          <a:lstStyle/>
          <a:p>
            <a:pPr indent="0" marL="0">
              <a:buNone/>
            </a:pPr>
            <a:r>
              <a:rPr lang="en-US" sz="1500" dirty="0">
                <a:solidFill>
                  <a:schemeClr val="tx1"/>
                </a:solidFill>
              </a:rPr>
              <a:t>Dos transiciones compiten por el mismo token: elección no determinista.</a:t>
            </a:r>
            <a:endParaRPr lang="en-US" sz="1500" dirty="0"/>
          </a:p>
        </p:txBody>
      </p:sp>
      <p:sp>
        <p:nvSpPr>
          <p:cNvPr id="19" name="Shape 14"/>
          <p:cNvSpPr/>
          <p:nvPr/>
        </p:nvSpPr>
        <p:spPr>
          <a:xfrm>
            <a:off x="548640" y="3977640"/>
            <a:ext cx="3520440" cy="1965960"/>
          </a:xfrm>
          <a:prstGeom prst="roundRect">
            <a:avLst>
              <a:gd name="adj" fmla="val 3721"/>
            </a:avLst>
          </a:prstGeom>
          <a:solidFill>
            <a:schemeClr val="bg2"/>
          </a:solidFill>
          <a:ln w="12700">
            <a:solidFill>
              <a:schemeClr val="accent3"/>
            </a:solidFill>
            <a:prstDash val="solid"/>
          </a:ln>
        </p:spPr>
      </p:sp>
      <p:sp>
        <p:nvSpPr>
          <p:cNvPr id="20" name="Shape 15"/>
          <p:cNvSpPr/>
          <p:nvPr/>
        </p:nvSpPr>
        <p:spPr>
          <a:xfrm>
            <a:off x="777240" y="4206240"/>
            <a:ext cx="640080" cy="640080"/>
          </a:xfrm>
          <a:prstGeom prst="ellipse">
            <a:avLst/>
          </a:prstGeom>
          <a:solidFill>
            <a:schemeClr val="tx2"/>
          </a:solidFill>
          <a:ln w="12700">
            <a:solidFill>
              <a:schemeClr val="tx2"/>
            </a:solidFill>
            <a:prstDash val="solid"/>
          </a:ln>
        </p:spPr>
      </p:sp>
      <p:pic>
        <p:nvPicPr>
          <p:cNvPr id="21" name="Image 3" descr="preencoded.png">    </p:cNvPr>
          <p:cNvPicPr>
            <a:picLocks noChangeAspect="1"/>
          </p:cNvPicPr>
          <p:nvPr/>
        </p:nvPicPr>
        <p:blipFill>
          <a:blip r:embed="rId4"/>
          <a:stretch>
            <a:fillRect/>
          </a:stretch>
        </p:blipFill>
        <p:spPr>
          <a:xfrm>
            <a:off x="937260" y="4366260"/>
            <a:ext cx="320040" cy="320040"/>
          </a:xfrm>
          <a:prstGeom prst="rect">
            <a:avLst/>
          </a:prstGeom>
        </p:spPr>
      </p:pic>
      <p:sp>
        <p:nvSpPr>
          <p:cNvPr id="22" name="Text 16"/>
          <p:cNvSpPr txBox="1"/>
          <p:nvPr/>
        </p:nvSpPr>
        <p:spPr>
          <a:xfrm>
            <a:off x="1554480" y="420624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Sincronización</a:t>
            </a:r>
            <a:endParaRPr lang="en-US" sz="1800" dirty="0"/>
          </a:p>
        </p:txBody>
      </p:sp>
      <p:sp>
        <p:nvSpPr>
          <p:cNvPr id="23" name="Text 17"/>
          <p:cNvSpPr txBox="1"/>
          <p:nvPr/>
        </p:nvSpPr>
        <p:spPr>
          <a:xfrm>
            <a:off x="777240" y="4983480"/>
            <a:ext cx="3108960" cy="868680"/>
          </a:xfrm>
          <a:prstGeom prst="rect">
            <a:avLst/>
          </a:prstGeom>
          <a:noFill/>
          <a:ln/>
        </p:spPr>
        <p:txBody>
          <a:bodyPr wrap="square" lIns="0" tIns="0" rIns="0" bIns="0" rtlCol="0" anchor="t"/>
          <a:lstStyle/>
          <a:p>
            <a:pPr indent="0" marL="0">
              <a:buNone/>
            </a:pPr>
            <a:r>
              <a:rPr lang="en-US" sz="1500" dirty="0">
                <a:solidFill>
                  <a:schemeClr val="tx1"/>
                </a:solidFill>
              </a:rPr>
              <a:t>Una transición con varias entradas espera a que todas estén listas.</a:t>
            </a:r>
            <a:endParaRPr lang="en-US" sz="1500" dirty="0"/>
          </a:p>
        </p:txBody>
      </p:sp>
      <p:sp>
        <p:nvSpPr>
          <p:cNvPr id="24" name="Shape 18"/>
          <p:cNvSpPr/>
          <p:nvPr/>
        </p:nvSpPr>
        <p:spPr>
          <a:xfrm>
            <a:off x="4297680" y="3977640"/>
            <a:ext cx="3520440" cy="1965960"/>
          </a:xfrm>
          <a:prstGeom prst="roundRect">
            <a:avLst>
              <a:gd name="adj" fmla="val 3721"/>
            </a:avLst>
          </a:prstGeom>
          <a:solidFill>
            <a:schemeClr val="accent4"/>
          </a:solidFill>
          <a:ln w="12700">
            <a:solidFill>
              <a:schemeClr val="accent4"/>
            </a:solidFill>
            <a:prstDash val="solid"/>
          </a:ln>
        </p:spPr>
      </p:sp>
      <p:sp>
        <p:nvSpPr>
          <p:cNvPr id="25" name="Shape 19"/>
          <p:cNvSpPr/>
          <p:nvPr/>
        </p:nvSpPr>
        <p:spPr>
          <a:xfrm>
            <a:off x="4526280" y="4206240"/>
            <a:ext cx="640080" cy="64008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4686300" y="4366260"/>
            <a:ext cx="320040" cy="320040"/>
          </a:xfrm>
          <a:prstGeom prst="rect">
            <a:avLst/>
          </a:prstGeom>
        </p:spPr>
      </p:pic>
      <p:sp>
        <p:nvSpPr>
          <p:cNvPr id="27" name="Text 20"/>
          <p:cNvSpPr txBox="1"/>
          <p:nvPr/>
        </p:nvSpPr>
        <p:spPr>
          <a:xfrm>
            <a:off x="5303520" y="4206240"/>
            <a:ext cx="2377440" cy="640080"/>
          </a:xfrm>
          <a:prstGeom prst="rect">
            <a:avLst/>
          </a:prstGeom>
          <a:noFill/>
          <a:ln/>
        </p:spPr>
        <p:txBody>
          <a:bodyPr wrap="square" lIns="0" tIns="0" rIns="0" bIns="0" rtlCol="0" anchor="ctr"/>
          <a:lstStyle/>
          <a:p>
            <a:pPr indent="0" marL="0">
              <a:buNone/>
            </a:pPr>
            <a:r>
              <a:rPr lang="en-US" sz="1800" b="1" dirty="0">
                <a:solidFill>
                  <a:schemeClr val="accent1"/>
                </a:solidFill>
              </a:rPr>
              <a:t>Análisis</a:t>
            </a:r>
            <a:endParaRPr lang="en-US" sz="1800" dirty="0"/>
          </a:p>
        </p:txBody>
      </p:sp>
      <p:sp>
        <p:nvSpPr>
          <p:cNvPr id="28" name="Text 21"/>
          <p:cNvSpPr txBox="1"/>
          <p:nvPr/>
        </p:nvSpPr>
        <p:spPr>
          <a:xfrm>
            <a:off x="4526280" y="4983480"/>
            <a:ext cx="3108960" cy="868680"/>
          </a:xfrm>
          <a:prstGeom prst="rect">
            <a:avLst/>
          </a:prstGeom>
          <a:noFill/>
          <a:ln/>
        </p:spPr>
        <p:txBody>
          <a:bodyPr wrap="square" lIns="0" tIns="0" rIns="0" bIns="0" rtlCol="0" anchor="t"/>
          <a:lstStyle/>
          <a:p>
            <a:pPr indent="0" marL="0">
              <a:buNone/>
            </a:pPr>
            <a:r>
              <a:rPr lang="en-US" sz="1500" dirty="0">
                <a:solidFill>
                  <a:schemeClr val="tx1"/>
                </a:solidFill>
              </a:rPr>
              <a:t>Bloqueo (deadlock), inanición (starvation), alcanzabilidad de estados.</a:t>
            </a:r>
            <a:endParaRPr lang="en-US" sz="1500" dirty="0"/>
          </a:p>
        </p:txBody>
      </p:sp>
      <p:sp>
        <p:nvSpPr>
          <p:cNvPr id="29" name="Shape 22"/>
          <p:cNvSpPr/>
          <p:nvPr/>
        </p:nvSpPr>
        <p:spPr>
          <a:xfrm>
            <a:off x="8046720" y="3977640"/>
            <a:ext cx="3520440" cy="1965960"/>
          </a:xfrm>
          <a:prstGeom prst="roundRect">
            <a:avLst>
              <a:gd name="adj" fmla="val 3721"/>
            </a:avLst>
          </a:prstGeom>
          <a:solidFill>
            <a:schemeClr val="accent4"/>
          </a:solidFill>
          <a:ln w="12700">
            <a:solidFill>
              <a:schemeClr val="accent4"/>
            </a:solidFill>
            <a:prstDash val="solid"/>
          </a:ln>
        </p:spPr>
      </p:sp>
      <p:sp>
        <p:nvSpPr>
          <p:cNvPr id="30" name="Shape 23"/>
          <p:cNvSpPr/>
          <p:nvPr/>
        </p:nvSpPr>
        <p:spPr>
          <a:xfrm>
            <a:off x="8275320" y="4206240"/>
            <a:ext cx="640080" cy="640080"/>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8435340" y="4366260"/>
            <a:ext cx="320040" cy="320040"/>
          </a:xfrm>
          <a:prstGeom prst="rect">
            <a:avLst/>
          </a:prstGeom>
        </p:spPr>
      </p:pic>
      <p:sp>
        <p:nvSpPr>
          <p:cNvPr id="32" name="Text 24"/>
          <p:cNvSpPr txBox="1"/>
          <p:nvPr/>
        </p:nvSpPr>
        <p:spPr>
          <a:xfrm>
            <a:off x="9052560" y="4206240"/>
            <a:ext cx="2377440" cy="640080"/>
          </a:xfrm>
          <a:prstGeom prst="rect">
            <a:avLst/>
          </a:prstGeom>
          <a:noFill/>
          <a:ln/>
        </p:spPr>
        <p:txBody>
          <a:bodyPr wrap="square" lIns="0" tIns="0" rIns="0" bIns="0" rtlCol="0" anchor="ctr"/>
          <a:lstStyle/>
          <a:p>
            <a:pPr indent="0" marL="0">
              <a:buNone/>
            </a:pPr>
            <a:r>
              <a:rPr lang="en-US" sz="1800" b="1" dirty="0">
                <a:solidFill>
                  <a:schemeClr val="accent1"/>
                </a:solidFill>
              </a:rPr>
              <a:t>Extensiones</a:t>
            </a:r>
            <a:endParaRPr lang="en-US" sz="1800" dirty="0"/>
          </a:p>
        </p:txBody>
      </p:sp>
      <p:sp>
        <p:nvSpPr>
          <p:cNvPr id="33" name="Text 25"/>
          <p:cNvSpPr txBox="1"/>
          <p:nvPr/>
        </p:nvSpPr>
        <p:spPr>
          <a:xfrm>
            <a:off x="8275320" y="4983480"/>
            <a:ext cx="3108960" cy="868680"/>
          </a:xfrm>
          <a:prstGeom prst="rect">
            <a:avLst/>
          </a:prstGeom>
          <a:noFill/>
          <a:ln/>
        </p:spPr>
        <p:txBody>
          <a:bodyPr wrap="square" lIns="0" tIns="0" rIns="0" bIns="0" rtlCol="0" anchor="t"/>
          <a:lstStyle/>
          <a:p>
            <a:pPr indent="0" marL="0">
              <a:buNone/>
            </a:pPr>
            <a:r>
              <a:rPr lang="en-US" sz="1500" dirty="0">
                <a:solidFill>
                  <a:schemeClr val="tx1"/>
                </a:solidFill>
              </a:rPr>
              <a:t>Redes temporizadas, coloreadas (tokens con datos) y con prioridades.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5.6 · ESPECIFICACIONES DESCRIPTIVAS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Diagramas Entidad-Relación (E-R)</a:t>
            </a:r>
            <a:endParaRPr lang="en-US" sz="3400" dirty="0"/>
          </a:p>
        </p:txBody>
      </p:sp>
      <p:sp>
        <p:nvSpPr>
          <p:cNvPr id="4" name="Text 2"/>
          <p:cNvSpPr txBox="1"/>
          <p:nvPr/>
        </p:nvSpPr>
        <p:spPr>
          <a:xfrm>
            <a:off x="548640" y="1691640"/>
            <a:ext cx="4023360" cy="1097280"/>
          </a:xfrm>
          <a:prstGeom prst="rect">
            <a:avLst/>
          </a:prstGeom>
          <a:noFill/>
          <a:ln/>
        </p:spPr>
        <p:txBody>
          <a:bodyPr wrap="square" lIns="0" tIns="0" rIns="0" bIns="0" rtlCol="0" anchor="t"/>
          <a:lstStyle/>
          <a:p>
            <a:pPr indent="0" marL="0">
              <a:buNone/>
            </a:pPr>
            <a:r>
              <a:rPr lang="en-US" sz="1700" dirty="0">
                <a:solidFill>
                  <a:schemeClr val="tx1"/>
                </a:solidFill>
              </a:rPr>
              <a:t>Describen la estructura conceptual de los datos: </a:t>
            </a:r>
            <a:pPr indent="0" marL="0">
              <a:buNone/>
            </a:pPr>
            <a:r>
              <a:rPr lang="en-US" sz="1700" b="1" dirty="0">
                <a:solidFill>
                  <a:schemeClr val="tx2"/>
                </a:solidFill>
              </a:rPr>
              <a:t>entidades, relaciones, atributos y cardinalidades.</a:t>
            </a:r>
            <a:endParaRPr lang="en-US" sz="1700" dirty="0"/>
          </a:p>
        </p:txBody>
      </p:sp>
      <p:sp>
        <p:nvSpPr>
          <p:cNvPr id="5" name="Text 3"/>
          <p:cNvSpPr txBox="1"/>
          <p:nvPr/>
        </p:nvSpPr>
        <p:spPr>
          <a:xfrm>
            <a:off x="548640" y="2834640"/>
            <a:ext cx="4023360" cy="914400"/>
          </a:xfrm>
          <a:prstGeom prst="rect">
            <a:avLst/>
          </a:prstGeom>
          <a:noFill/>
          <a:ln/>
        </p:spPr>
        <p:txBody>
          <a:bodyPr wrap="square" lIns="0" tIns="0" rIns="0" bIns="0" rtlCol="0" anchor="t"/>
          <a:lstStyle/>
          <a:p>
            <a:pPr indent="0" marL="0">
              <a:buNone/>
            </a:pPr>
            <a:r>
              <a:rPr lang="en-US" sz="1600" dirty="0">
                <a:solidFill>
                  <a:schemeClr val="tx1"/>
                </a:solidFill>
              </a:rPr>
              <a:t>Son descriptivos: dicen qué datos existen y cómo se vinculan, no cómo se procesan.</a:t>
            </a:r>
            <a:endParaRPr lang="en-US" sz="1600" dirty="0"/>
          </a:p>
        </p:txBody>
      </p:sp>
      <p:sp>
        <p:nvSpPr>
          <p:cNvPr id="6" name="Shape 4"/>
          <p:cNvSpPr/>
          <p:nvPr/>
        </p:nvSpPr>
        <p:spPr>
          <a:xfrm>
            <a:off x="548640" y="4023360"/>
            <a:ext cx="4023360" cy="2057400"/>
          </a:xfrm>
          <a:prstGeom prst="roundRect">
            <a:avLst>
              <a:gd name="adj" fmla="val 3556"/>
            </a:avLst>
          </a:prstGeom>
          <a:solidFill>
            <a:schemeClr val="accent4"/>
          </a:solidFill>
          <a:ln w="12700">
            <a:solidFill>
              <a:schemeClr val="accent4"/>
            </a:solidFill>
            <a:prstDash val="solid"/>
          </a:ln>
        </p:spPr>
      </p:sp>
      <p:sp>
        <p:nvSpPr>
          <p:cNvPr id="7" name="Text 5"/>
          <p:cNvSpPr txBox="1"/>
          <p:nvPr/>
        </p:nvSpPr>
        <p:spPr>
          <a:xfrm>
            <a:off x="777240" y="4160520"/>
            <a:ext cx="3611880" cy="1783080"/>
          </a:xfrm>
          <a:prstGeom prst="rect">
            <a:avLst/>
          </a:prstGeom>
          <a:noFill/>
          <a:ln/>
        </p:spPr>
        <p:txBody>
          <a:bodyPr wrap="square" lIns="0" tIns="0" rIns="0" bIns="0" rtlCol="0" anchor="ctr"/>
          <a:lstStyle/>
          <a:p>
            <a:pPr indent="0" marL="0">
              <a:buNone/>
            </a:pPr>
            <a:r>
              <a:rPr lang="en-US" sz="1500" b="1" dirty="0">
                <a:solidFill>
                  <a:schemeClr val="accent1"/>
                </a:solidFill>
              </a:rPr>
              <a:t>Límite: </a:t>
            </a:r>
            <a:pPr indent="0" marL="0">
              <a:buNone/>
            </a:pPr>
            <a:r>
              <a:rPr lang="en-US" sz="1500" dirty="0">
                <a:solidFill>
                  <a:schemeClr val="tx1"/>
                </a:solidFill>
              </a:rPr>
              <a:t>no expresan restricciones como «un alumno no puede cursar más de 7 materias por semestre». Se complementan con especificaciones lógicas u OCL.</a:t>
            </a:r>
            <a:endParaRPr lang="en-US" sz="1500" dirty="0"/>
          </a:p>
        </p:txBody>
      </p:sp>
      <p:sp>
        <p:nvSpPr>
          <p:cNvPr id="8" name="Shape 6"/>
          <p:cNvSpPr/>
          <p:nvPr/>
        </p:nvSpPr>
        <p:spPr>
          <a:xfrm>
            <a:off x="4846320" y="1691640"/>
            <a:ext cx="6766560" cy="4389120"/>
          </a:xfrm>
          <a:prstGeom prst="roundRect">
            <a:avLst>
              <a:gd name="adj" fmla="val 1667"/>
            </a:avLst>
          </a:prstGeom>
          <a:solidFill>
            <a:schemeClr val="bg1"/>
          </a:solidFill>
          <a:ln w="12700">
            <a:solidFill>
              <a:schemeClr val="accent3"/>
            </a:solidFill>
            <a:prstDash val="solid"/>
          </a:ln>
        </p:spPr>
      </p:sp>
      <p:sp>
        <p:nvSpPr>
          <p:cNvPr id="9" name="Shape 7"/>
          <p:cNvSpPr/>
          <p:nvPr/>
        </p:nvSpPr>
        <p:spPr>
          <a:xfrm flipH="1" flipV="1">
            <a:off x="5669280" y="2834640"/>
            <a:ext cx="274320" cy="1005840"/>
          </a:xfrm>
          <a:prstGeom prst="line">
            <a:avLst/>
          </a:prstGeom>
          <a:noFill/>
          <a:ln w="15875">
            <a:solidFill>
              <a:schemeClr val="accent5"/>
            </a:solidFill>
            <a:prstDash val="solid"/>
          </a:ln>
        </p:spPr>
      </p:sp>
      <p:sp>
        <p:nvSpPr>
          <p:cNvPr id="10" name="Shape 8"/>
          <p:cNvSpPr/>
          <p:nvPr/>
        </p:nvSpPr>
        <p:spPr>
          <a:xfrm>
            <a:off x="5943600" y="3840480"/>
            <a:ext cx="91440" cy="1280160"/>
          </a:xfrm>
          <a:prstGeom prst="line">
            <a:avLst/>
          </a:prstGeom>
          <a:noFill/>
          <a:ln w="15875">
            <a:solidFill>
              <a:schemeClr val="accent5"/>
            </a:solidFill>
            <a:prstDash val="solid"/>
          </a:ln>
        </p:spPr>
      </p:sp>
      <p:sp>
        <p:nvSpPr>
          <p:cNvPr id="11" name="Shape 9"/>
          <p:cNvSpPr/>
          <p:nvPr/>
        </p:nvSpPr>
        <p:spPr>
          <a:xfrm flipH="1" flipV="1">
            <a:off x="9966960" y="2834640"/>
            <a:ext cx="548640" cy="1005840"/>
          </a:xfrm>
          <a:prstGeom prst="line">
            <a:avLst/>
          </a:prstGeom>
          <a:noFill/>
          <a:ln w="15875">
            <a:solidFill>
              <a:schemeClr val="accent5"/>
            </a:solidFill>
            <a:prstDash val="solid"/>
          </a:ln>
        </p:spPr>
      </p:sp>
      <p:sp>
        <p:nvSpPr>
          <p:cNvPr id="12" name="Shape 10"/>
          <p:cNvSpPr/>
          <p:nvPr/>
        </p:nvSpPr>
        <p:spPr>
          <a:xfrm flipV="1">
            <a:off x="10515600" y="2834640"/>
            <a:ext cx="457200" cy="1005840"/>
          </a:xfrm>
          <a:prstGeom prst="line">
            <a:avLst/>
          </a:prstGeom>
          <a:noFill/>
          <a:ln w="15875">
            <a:solidFill>
              <a:schemeClr val="accent5"/>
            </a:solidFill>
            <a:prstDash val="solid"/>
          </a:ln>
        </p:spPr>
      </p:sp>
      <p:sp>
        <p:nvSpPr>
          <p:cNvPr id="13" name="Shape 11"/>
          <p:cNvSpPr/>
          <p:nvPr/>
        </p:nvSpPr>
        <p:spPr>
          <a:xfrm flipH="1">
            <a:off x="10424160" y="3840480"/>
            <a:ext cx="91440" cy="1280160"/>
          </a:xfrm>
          <a:prstGeom prst="line">
            <a:avLst/>
          </a:prstGeom>
          <a:noFill/>
          <a:ln w="15875">
            <a:solidFill>
              <a:schemeClr val="accent5"/>
            </a:solidFill>
            <a:prstDash val="solid"/>
          </a:ln>
        </p:spPr>
      </p:sp>
      <p:sp>
        <p:nvSpPr>
          <p:cNvPr id="14" name="Shape 12"/>
          <p:cNvSpPr/>
          <p:nvPr/>
        </p:nvSpPr>
        <p:spPr>
          <a:xfrm>
            <a:off x="8229600" y="3840480"/>
            <a:ext cx="914" cy="1097280"/>
          </a:xfrm>
          <a:prstGeom prst="line">
            <a:avLst/>
          </a:prstGeom>
          <a:noFill/>
          <a:ln w="15875">
            <a:solidFill>
              <a:schemeClr val="accent5"/>
            </a:solidFill>
            <a:prstDash val="solid"/>
          </a:ln>
        </p:spPr>
      </p:sp>
      <p:sp>
        <p:nvSpPr>
          <p:cNvPr id="15" name="Shape 13"/>
          <p:cNvSpPr/>
          <p:nvPr/>
        </p:nvSpPr>
        <p:spPr>
          <a:xfrm>
            <a:off x="5029200" y="2240280"/>
            <a:ext cx="1280160" cy="548640"/>
          </a:xfrm>
          <a:prstGeom prst="ellipse">
            <a:avLst/>
          </a:prstGeom>
          <a:solidFill>
            <a:schemeClr val="bg1"/>
          </a:solidFill>
          <a:ln w="15875">
            <a:solidFill>
              <a:schemeClr val="accent5"/>
            </a:solidFill>
            <a:prstDash val="solid"/>
          </a:ln>
        </p:spPr>
      </p:sp>
      <p:sp>
        <p:nvSpPr>
          <p:cNvPr id="16" name="Text 14"/>
          <p:cNvSpPr txBox="1"/>
          <p:nvPr/>
        </p:nvSpPr>
        <p:spPr>
          <a:xfrm>
            <a:off x="5029200" y="2240280"/>
            <a:ext cx="1280160" cy="548640"/>
          </a:xfrm>
          <a:prstGeom prst="rect">
            <a:avLst/>
          </a:prstGeom>
          <a:noFill/>
          <a:ln/>
        </p:spPr>
        <p:txBody>
          <a:bodyPr wrap="square" lIns="0" tIns="0" rIns="0" bIns="0" rtlCol="0" anchor="ctr"/>
          <a:lstStyle/>
          <a:p>
            <a:pPr algn="ctr" indent="0" marL="0">
              <a:buNone/>
            </a:pPr>
            <a:r>
              <a:rPr lang="en-US" sz="1300" u="sng" dirty="0">
                <a:solidFill>
                  <a:schemeClr val="tx1"/>
                </a:solidFill>
              </a:rPr>
              <a:t>legajo</a:t>
            </a:r>
            <a:endParaRPr lang="en-US" sz="1300" dirty="0"/>
          </a:p>
        </p:txBody>
      </p:sp>
      <p:sp>
        <p:nvSpPr>
          <p:cNvPr id="17" name="Shape 15"/>
          <p:cNvSpPr/>
          <p:nvPr/>
        </p:nvSpPr>
        <p:spPr>
          <a:xfrm>
            <a:off x="5394960" y="5074920"/>
            <a:ext cx="1280160" cy="548640"/>
          </a:xfrm>
          <a:prstGeom prst="ellipse">
            <a:avLst/>
          </a:prstGeom>
          <a:solidFill>
            <a:schemeClr val="bg1"/>
          </a:solidFill>
          <a:ln w="15875">
            <a:solidFill>
              <a:schemeClr val="accent5"/>
            </a:solidFill>
            <a:prstDash val="solid"/>
          </a:ln>
        </p:spPr>
      </p:sp>
      <p:sp>
        <p:nvSpPr>
          <p:cNvPr id="18" name="Text 16"/>
          <p:cNvSpPr txBox="1"/>
          <p:nvPr/>
        </p:nvSpPr>
        <p:spPr>
          <a:xfrm>
            <a:off x="5394960" y="5074920"/>
            <a:ext cx="1280160" cy="548640"/>
          </a:xfrm>
          <a:prstGeom prst="rect">
            <a:avLst/>
          </a:prstGeom>
          <a:noFill/>
          <a:ln/>
        </p:spPr>
        <p:txBody>
          <a:bodyPr wrap="square" lIns="0" tIns="0" rIns="0" bIns="0" rtlCol="0" anchor="ctr"/>
          <a:lstStyle/>
          <a:p>
            <a:pPr algn="ctr" indent="0" marL="0">
              <a:buNone/>
            </a:pPr>
            <a:r>
              <a:rPr lang="en-US" sz="1300" dirty="0">
                <a:solidFill>
                  <a:schemeClr val="tx1"/>
                </a:solidFill>
              </a:rPr>
              <a:t>nombre</a:t>
            </a:r>
            <a:endParaRPr lang="en-US" sz="1300" dirty="0"/>
          </a:p>
        </p:txBody>
      </p:sp>
      <p:sp>
        <p:nvSpPr>
          <p:cNvPr id="19" name="Shape 17"/>
          <p:cNvSpPr/>
          <p:nvPr/>
        </p:nvSpPr>
        <p:spPr>
          <a:xfrm>
            <a:off x="9189720" y="2240280"/>
            <a:ext cx="1280160" cy="548640"/>
          </a:xfrm>
          <a:prstGeom prst="ellipse">
            <a:avLst/>
          </a:prstGeom>
          <a:solidFill>
            <a:schemeClr val="bg1"/>
          </a:solidFill>
          <a:ln w="15875">
            <a:solidFill>
              <a:schemeClr val="accent5"/>
            </a:solidFill>
            <a:prstDash val="solid"/>
          </a:ln>
        </p:spPr>
      </p:sp>
      <p:sp>
        <p:nvSpPr>
          <p:cNvPr id="20" name="Text 18"/>
          <p:cNvSpPr txBox="1"/>
          <p:nvPr/>
        </p:nvSpPr>
        <p:spPr>
          <a:xfrm>
            <a:off x="9189720" y="2240280"/>
            <a:ext cx="1280160" cy="548640"/>
          </a:xfrm>
          <a:prstGeom prst="rect">
            <a:avLst/>
          </a:prstGeom>
          <a:noFill/>
          <a:ln/>
        </p:spPr>
        <p:txBody>
          <a:bodyPr wrap="square" lIns="0" tIns="0" rIns="0" bIns="0" rtlCol="0" anchor="ctr"/>
          <a:lstStyle/>
          <a:p>
            <a:pPr algn="ctr" indent="0" marL="0">
              <a:buNone/>
            </a:pPr>
            <a:r>
              <a:rPr lang="en-US" sz="1300" u="sng" dirty="0">
                <a:solidFill>
                  <a:schemeClr val="tx1"/>
                </a:solidFill>
              </a:rPr>
              <a:t>código</a:t>
            </a:r>
            <a:endParaRPr lang="en-US" sz="1300" dirty="0"/>
          </a:p>
        </p:txBody>
      </p:sp>
      <p:sp>
        <p:nvSpPr>
          <p:cNvPr id="21" name="Shape 19"/>
          <p:cNvSpPr/>
          <p:nvPr/>
        </p:nvSpPr>
        <p:spPr>
          <a:xfrm>
            <a:off x="10332720" y="2240280"/>
            <a:ext cx="1280160" cy="548640"/>
          </a:xfrm>
          <a:prstGeom prst="ellipse">
            <a:avLst/>
          </a:prstGeom>
          <a:solidFill>
            <a:schemeClr val="bg1"/>
          </a:solidFill>
          <a:ln w="15875">
            <a:solidFill>
              <a:schemeClr val="accent5"/>
            </a:solidFill>
            <a:prstDash val="solid"/>
          </a:ln>
        </p:spPr>
      </p:sp>
      <p:sp>
        <p:nvSpPr>
          <p:cNvPr id="22" name="Text 20"/>
          <p:cNvSpPr txBox="1"/>
          <p:nvPr/>
        </p:nvSpPr>
        <p:spPr>
          <a:xfrm>
            <a:off x="10332720" y="2240280"/>
            <a:ext cx="1280160" cy="548640"/>
          </a:xfrm>
          <a:prstGeom prst="rect">
            <a:avLst/>
          </a:prstGeom>
          <a:noFill/>
          <a:ln/>
        </p:spPr>
        <p:txBody>
          <a:bodyPr wrap="square" lIns="0" tIns="0" rIns="0" bIns="0" rtlCol="0" anchor="ctr"/>
          <a:lstStyle/>
          <a:p>
            <a:pPr algn="ctr" indent="0" marL="0">
              <a:buNone/>
            </a:pPr>
            <a:r>
              <a:rPr lang="en-US" sz="1300" dirty="0">
                <a:solidFill>
                  <a:schemeClr val="tx1"/>
                </a:solidFill>
              </a:rPr>
              <a:t>cupo</a:t>
            </a:r>
            <a:endParaRPr lang="en-US" sz="1300" dirty="0"/>
          </a:p>
        </p:txBody>
      </p:sp>
      <p:sp>
        <p:nvSpPr>
          <p:cNvPr id="23" name="Shape 21"/>
          <p:cNvSpPr/>
          <p:nvPr/>
        </p:nvSpPr>
        <p:spPr>
          <a:xfrm>
            <a:off x="9784080" y="5074920"/>
            <a:ext cx="1280160" cy="548640"/>
          </a:xfrm>
          <a:prstGeom prst="ellipse">
            <a:avLst/>
          </a:prstGeom>
          <a:solidFill>
            <a:schemeClr val="bg1"/>
          </a:solidFill>
          <a:ln w="15875">
            <a:solidFill>
              <a:schemeClr val="accent5"/>
            </a:solidFill>
            <a:prstDash val="solid"/>
          </a:ln>
        </p:spPr>
      </p:sp>
      <p:sp>
        <p:nvSpPr>
          <p:cNvPr id="24" name="Text 22"/>
          <p:cNvSpPr txBox="1"/>
          <p:nvPr/>
        </p:nvSpPr>
        <p:spPr>
          <a:xfrm>
            <a:off x="9784080" y="5074920"/>
            <a:ext cx="1280160" cy="548640"/>
          </a:xfrm>
          <a:prstGeom prst="rect">
            <a:avLst/>
          </a:prstGeom>
          <a:noFill/>
          <a:ln/>
        </p:spPr>
        <p:txBody>
          <a:bodyPr wrap="square" lIns="0" tIns="0" rIns="0" bIns="0" rtlCol="0" anchor="ctr"/>
          <a:lstStyle/>
          <a:p>
            <a:pPr algn="ctr" indent="0" marL="0">
              <a:buNone/>
            </a:pPr>
            <a:r>
              <a:rPr lang="en-US" sz="1300" dirty="0">
                <a:solidFill>
                  <a:schemeClr val="tx1"/>
                </a:solidFill>
              </a:rPr>
              <a:t>nombre</a:t>
            </a:r>
            <a:endParaRPr lang="en-US" sz="1300" dirty="0"/>
          </a:p>
        </p:txBody>
      </p:sp>
      <p:sp>
        <p:nvSpPr>
          <p:cNvPr id="25" name="Shape 23"/>
          <p:cNvSpPr/>
          <p:nvPr/>
        </p:nvSpPr>
        <p:spPr>
          <a:xfrm>
            <a:off x="7589520" y="4937760"/>
            <a:ext cx="1280160" cy="548640"/>
          </a:xfrm>
          <a:prstGeom prst="ellipse">
            <a:avLst/>
          </a:prstGeom>
          <a:solidFill>
            <a:schemeClr val="bg1"/>
          </a:solidFill>
          <a:ln w="15875">
            <a:solidFill>
              <a:schemeClr val="accent5"/>
            </a:solidFill>
            <a:prstDash val="solid"/>
          </a:ln>
        </p:spPr>
      </p:sp>
      <p:sp>
        <p:nvSpPr>
          <p:cNvPr id="26" name="Text 24"/>
          <p:cNvSpPr txBox="1"/>
          <p:nvPr/>
        </p:nvSpPr>
        <p:spPr>
          <a:xfrm>
            <a:off x="7589520" y="4937760"/>
            <a:ext cx="1280160" cy="548640"/>
          </a:xfrm>
          <a:prstGeom prst="rect">
            <a:avLst/>
          </a:prstGeom>
          <a:noFill/>
          <a:ln/>
        </p:spPr>
        <p:txBody>
          <a:bodyPr wrap="square" lIns="0" tIns="0" rIns="0" bIns="0" rtlCol="0" anchor="ctr"/>
          <a:lstStyle/>
          <a:p>
            <a:pPr algn="ctr" indent="0" marL="0">
              <a:buNone/>
            </a:pPr>
            <a:r>
              <a:rPr lang="en-US" sz="1300" dirty="0">
                <a:solidFill>
                  <a:schemeClr val="tx1"/>
                </a:solidFill>
              </a:rPr>
              <a:t>nota</a:t>
            </a:r>
            <a:endParaRPr lang="en-US" sz="1300" dirty="0"/>
          </a:p>
        </p:txBody>
      </p:sp>
      <p:sp>
        <p:nvSpPr>
          <p:cNvPr id="27" name="Shape 25"/>
          <p:cNvSpPr/>
          <p:nvPr/>
        </p:nvSpPr>
        <p:spPr>
          <a:xfrm>
            <a:off x="6720840" y="3840480"/>
            <a:ext cx="731520" cy="914"/>
          </a:xfrm>
          <a:prstGeom prst="line">
            <a:avLst/>
          </a:prstGeom>
          <a:noFill/>
          <a:ln w="15875">
            <a:solidFill>
              <a:schemeClr val="accent5"/>
            </a:solidFill>
            <a:prstDash val="solid"/>
          </a:ln>
        </p:spPr>
      </p:sp>
      <p:sp>
        <p:nvSpPr>
          <p:cNvPr id="28" name="Shape 26"/>
          <p:cNvSpPr/>
          <p:nvPr/>
        </p:nvSpPr>
        <p:spPr>
          <a:xfrm>
            <a:off x="9006840" y="3840480"/>
            <a:ext cx="731520" cy="914"/>
          </a:xfrm>
          <a:prstGeom prst="line">
            <a:avLst/>
          </a:prstGeom>
          <a:noFill/>
          <a:ln w="15875">
            <a:solidFill>
              <a:schemeClr val="accent5"/>
            </a:solidFill>
            <a:prstDash val="solid"/>
          </a:ln>
        </p:spPr>
      </p:sp>
      <p:sp>
        <p:nvSpPr>
          <p:cNvPr id="29" name="Shape 27"/>
          <p:cNvSpPr/>
          <p:nvPr/>
        </p:nvSpPr>
        <p:spPr>
          <a:xfrm>
            <a:off x="5166360" y="3474720"/>
            <a:ext cx="1554480" cy="731520"/>
          </a:xfrm>
          <a:prstGeom prst="rect">
            <a:avLst/>
          </a:prstGeom>
          <a:solidFill>
            <a:schemeClr val="bg2"/>
          </a:solidFill>
          <a:ln w="28575">
            <a:solidFill>
              <a:schemeClr val="tx2"/>
            </a:solidFill>
            <a:prstDash val="solid"/>
          </a:ln>
        </p:spPr>
      </p:sp>
      <p:sp>
        <p:nvSpPr>
          <p:cNvPr id="30" name="Text 28"/>
          <p:cNvSpPr txBox="1"/>
          <p:nvPr/>
        </p:nvSpPr>
        <p:spPr>
          <a:xfrm>
            <a:off x="5166360" y="3474720"/>
            <a:ext cx="1554480" cy="731520"/>
          </a:xfrm>
          <a:prstGeom prst="rect">
            <a:avLst/>
          </a:prstGeom>
          <a:noFill/>
          <a:ln/>
        </p:spPr>
        <p:txBody>
          <a:bodyPr wrap="square" lIns="0" tIns="0" rIns="0" bIns="0" rtlCol="0" anchor="ctr"/>
          <a:lstStyle/>
          <a:p>
            <a:pPr algn="ctr" indent="0" marL="0">
              <a:buNone/>
            </a:pPr>
            <a:r>
              <a:rPr lang="en-US" sz="1600" b="1" dirty="0">
                <a:solidFill>
                  <a:schemeClr val="tx2"/>
                </a:solidFill>
              </a:rPr>
              <a:t>Alumno</a:t>
            </a:r>
            <a:endParaRPr lang="en-US" sz="1600" dirty="0"/>
          </a:p>
        </p:txBody>
      </p:sp>
      <p:sp>
        <p:nvSpPr>
          <p:cNvPr id="31" name="Shape 29"/>
          <p:cNvSpPr/>
          <p:nvPr/>
        </p:nvSpPr>
        <p:spPr>
          <a:xfrm>
            <a:off x="9738360" y="3474720"/>
            <a:ext cx="1554480" cy="731520"/>
          </a:xfrm>
          <a:prstGeom prst="rect">
            <a:avLst/>
          </a:prstGeom>
          <a:solidFill>
            <a:schemeClr val="bg2"/>
          </a:solidFill>
          <a:ln w="28575">
            <a:solidFill>
              <a:schemeClr val="tx2"/>
            </a:solidFill>
            <a:prstDash val="solid"/>
          </a:ln>
        </p:spPr>
      </p:sp>
      <p:sp>
        <p:nvSpPr>
          <p:cNvPr id="32" name="Text 30"/>
          <p:cNvSpPr txBox="1"/>
          <p:nvPr/>
        </p:nvSpPr>
        <p:spPr>
          <a:xfrm>
            <a:off x="9738360" y="3474720"/>
            <a:ext cx="1554480" cy="731520"/>
          </a:xfrm>
          <a:prstGeom prst="rect">
            <a:avLst/>
          </a:prstGeom>
          <a:noFill/>
          <a:ln/>
        </p:spPr>
        <p:txBody>
          <a:bodyPr wrap="square" lIns="0" tIns="0" rIns="0" bIns="0" rtlCol="0" anchor="ctr"/>
          <a:lstStyle/>
          <a:p>
            <a:pPr algn="ctr" indent="0" marL="0">
              <a:buNone/>
            </a:pPr>
            <a:r>
              <a:rPr lang="en-US" sz="1600" b="1" dirty="0">
                <a:solidFill>
                  <a:schemeClr val="tx2"/>
                </a:solidFill>
              </a:rPr>
              <a:t>Materia</a:t>
            </a:r>
            <a:endParaRPr lang="en-US" sz="1600" dirty="0"/>
          </a:p>
        </p:txBody>
      </p:sp>
      <p:sp>
        <p:nvSpPr>
          <p:cNvPr id="33" name="Shape 31"/>
          <p:cNvSpPr/>
          <p:nvPr/>
        </p:nvSpPr>
        <p:spPr>
          <a:xfrm>
            <a:off x="7452360" y="3337560"/>
            <a:ext cx="1554480" cy="1005840"/>
          </a:xfrm>
          <a:prstGeom prst="diamond">
            <a:avLst/>
          </a:prstGeom>
          <a:solidFill>
            <a:schemeClr val="accent4"/>
          </a:solidFill>
          <a:ln w="28575">
            <a:solidFill>
              <a:schemeClr val="accent1"/>
            </a:solidFill>
            <a:prstDash val="solid"/>
          </a:ln>
        </p:spPr>
      </p:sp>
      <p:sp>
        <p:nvSpPr>
          <p:cNvPr id="34" name="Text 32"/>
          <p:cNvSpPr txBox="1"/>
          <p:nvPr/>
        </p:nvSpPr>
        <p:spPr>
          <a:xfrm>
            <a:off x="7452360" y="3337560"/>
            <a:ext cx="1554480" cy="1005840"/>
          </a:xfrm>
          <a:prstGeom prst="rect">
            <a:avLst/>
          </a:prstGeom>
          <a:noFill/>
          <a:ln/>
        </p:spPr>
        <p:txBody>
          <a:bodyPr wrap="square" lIns="0" tIns="0" rIns="0" bIns="0" rtlCol="0" anchor="ctr"/>
          <a:lstStyle/>
          <a:p>
            <a:pPr algn="ctr" indent="0" marL="0">
              <a:buNone/>
            </a:pPr>
            <a:r>
              <a:rPr lang="en-US" sz="1500" b="1" dirty="0">
                <a:solidFill>
                  <a:schemeClr val="accent1"/>
                </a:solidFill>
              </a:rPr>
              <a:t>cursa</a:t>
            </a:r>
            <a:endParaRPr lang="en-US" sz="1500" dirty="0"/>
          </a:p>
        </p:txBody>
      </p:sp>
      <p:sp>
        <p:nvSpPr>
          <p:cNvPr id="35" name="Text 33"/>
          <p:cNvSpPr txBox="1"/>
          <p:nvPr/>
        </p:nvSpPr>
        <p:spPr>
          <a:xfrm>
            <a:off x="6903720" y="3474720"/>
            <a:ext cx="365760" cy="320040"/>
          </a:xfrm>
          <a:prstGeom prst="rect">
            <a:avLst/>
          </a:prstGeom>
          <a:noFill/>
          <a:ln/>
        </p:spPr>
        <p:txBody>
          <a:bodyPr wrap="square" lIns="0" tIns="0" rIns="0" bIns="0" rtlCol="0" anchor="t"/>
          <a:lstStyle/>
          <a:p>
            <a:pPr algn="ctr" indent="0" marL="0">
              <a:buNone/>
            </a:pPr>
            <a:r>
              <a:rPr lang="en-US" sz="1500" b="1" dirty="0">
                <a:solidFill>
                  <a:schemeClr val="accent1"/>
                </a:solidFill>
              </a:rPr>
              <a:t>N</a:t>
            </a:r>
            <a:endParaRPr lang="en-US" sz="1500" dirty="0"/>
          </a:p>
        </p:txBody>
      </p:sp>
      <p:sp>
        <p:nvSpPr>
          <p:cNvPr id="36" name="Text 34"/>
          <p:cNvSpPr txBox="1"/>
          <p:nvPr/>
        </p:nvSpPr>
        <p:spPr>
          <a:xfrm>
            <a:off x="9189720" y="3474720"/>
            <a:ext cx="365760" cy="320040"/>
          </a:xfrm>
          <a:prstGeom prst="rect">
            <a:avLst/>
          </a:prstGeom>
          <a:noFill/>
          <a:ln/>
        </p:spPr>
        <p:txBody>
          <a:bodyPr wrap="square" lIns="0" tIns="0" rIns="0" bIns="0" rtlCol="0" anchor="t"/>
          <a:lstStyle/>
          <a:p>
            <a:pPr algn="ctr" indent="0" marL="0">
              <a:buNone/>
            </a:pPr>
            <a:r>
              <a:rPr lang="en-US" sz="1500" b="1" dirty="0">
                <a:solidFill>
                  <a:schemeClr val="accent1"/>
                </a:solidFill>
              </a:rPr>
              <a:t>M</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5.6 · ESPECIFICACIONES DESCRIPTIVAS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Especificaciones lógicas: pre y postcondiciones</a:t>
            </a:r>
            <a:endParaRPr lang="en-US" sz="3400" dirty="0"/>
          </a:p>
        </p:txBody>
      </p:sp>
      <p:sp>
        <p:nvSpPr>
          <p:cNvPr id="4" name="Shape 2"/>
          <p:cNvSpPr/>
          <p:nvPr/>
        </p:nvSpPr>
        <p:spPr>
          <a:xfrm>
            <a:off x="548640" y="1737360"/>
            <a:ext cx="4572000" cy="4343400"/>
          </a:xfrm>
          <a:prstGeom prst="roundRect">
            <a:avLst>
              <a:gd name="adj" fmla="val 1684"/>
            </a:avLst>
          </a:prstGeom>
          <a:solidFill>
            <a:schemeClr val="bg2"/>
          </a:solidFill>
          <a:ln w="12700">
            <a:solidFill>
              <a:schemeClr val="accent3"/>
            </a:solidFill>
            <a:prstDash val="solid"/>
          </a:ln>
        </p:spPr>
      </p:sp>
      <p:sp>
        <p:nvSpPr>
          <p:cNvPr id="5" name="Text 3"/>
          <p:cNvSpPr txBox="1"/>
          <p:nvPr/>
        </p:nvSpPr>
        <p:spPr>
          <a:xfrm>
            <a:off x="822960" y="1874520"/>
            <a:ext cx="4023360" cy="411480"/>
          </a:xfrm>
          <a:prstGeom prst="rect">
            <a:avLst/>
          </a:prstGeom>
          <a:noFill/>
          <a:ln/>
        </p:spPr>
        <p:txBody>
          <a:bodyPr wrap="square" lIns="0" tIns="0" rIns="0" bIns="0" rtlCol="0" anchor="t"/>
          <a:lstStyle/>
          <a:p>
            <a:pPr indent="0" marL="0">
              <a:buNone/>
            </a:pPr>
            <a:r>
              <a:rPr lang="en-US" sz="1900" b="1" dirty="0">
                <a:solidFill>
                  <a:schemeClr val="tx2"/>
                </a:solidFill>
              </a:rPr>
              <a:t>Elementos</a:t>
            </a:r>
            <a:endParaRPr lang="en-US" sz="1900" dirty="0"/>
          </a:p>
        </p:txBody>
      </p:sp>
      <p:sp>
        <p:nvSpPr>
          <p:cNvPr id="6" name="Text 4"/>
          <p:cNvSpPr txBox="1"/>
          <p:nvPr/>
        </p:nvSpPr>
        <p:spPr>
          <a:xfrm>
            <a:off x="822960" y="2377440"/>
            <a:ext cx="41148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Lógica de predicados de primer orden</a:t>
            </a:r>
            <a:endParaRPr lang="en-US" sz="1600" dirty="0"/>
          </a:p>
          <a:p>
            <a:pPr marL="342900" indent="-342900">
              <a:spcAft>
                <a:spcPts val="600"/>
              </a:spcAft>
              <a:buSzPct val="100000"/>
              <a:buChar char="•"/>
            </a:pPr>
            <a:r>
              <a:rPr lang="en-US" sz="1600" dirty="0">
                <a:solidFill>
                  <a:schemeClr val="tx1"/>
                </a:solidFill>
                <a:latin typeface="Cambria Math" pitchFamily="34" charset="0"/>
                <a:ea typeface="Cambria Math" pitchFamily="34" charset="-122"/>
                <a:cs typeface="Cambria Math" pitchFamily="34" charset="-120"/>
              </a:rPr>
              <a:t>Conectivos  ∧  ∨  ¬  ⇒  ⇔</a:t>
            </a:r>
            <a:endParaRPr lang="en-US" sz="1600" dirty="0"/>
          </a:p>
          <a:p>
            <a:pPr marL="342900" indent="-342900">
              <a:spcAft>
                <a:spcPts val="600"/>
              </a:spcAft>
              <a:buSzPct val="100000"/>
              <a:buChar char="•"/>
            </a:pPr>
            <a:r>
              <a:rPr lang="en-US" sz="1600" dirty="0">
                <a:solidFill>
                  <a:schemeClr val="tx1"/>
                </a:solidFill>
                <a:latin typeface="Cambria Math" pitchFamily="34" charset="0"/>
                <a:ea typeface="Cambria Math" pitchFamily="34" charset="-122"/>
                <a:cs typeface="Cambria Math" pitchFamily="34" charset="-120"/>
              </a:rPr>
              <a:t>Cuantificadores  ∀  ∃</a:t>
            </a:r>
            <a:endParaRPr lang="en-US" sz="1600" dirty="0"/>
          </a:p>
        </p:txBody>
      </p:sp>
      <p:sp>
        <p:nvSpPr>
          <p:cNvPr id="7" name="Text 5"/>
          <p:cNvSpPr txBox="1"/>
          <p:nvPr/>
        </p:nvSpPr>
        <p:spPr>
          <a:xfrm>
            <a:off x="822960" y="3886200"/>
            <a:ext cx="4114800" cy="2011680"/>
          </a:xfrm>
          <a:prstGeom prst="rect">
            <a:avLst/>
          </a:prstGeom>
          <a:noFill/>
          <a:ln/>
        </p:spPr>
        <p:txBody>
          <a:bodyPr wrap="square" lIns="0" tIns="0" rIns="0" bIns="0" rtlCol="0" anchor="t"/>
          <a:lstStyle/>
          <a:p>
            <a:pPr indent="0" marL="0">
              <a:spcAft>
                <a:spcPts val="800"/>
              </a:spcAft>
              <a:buNone/>
            </a:pPr>
            <a:r>
              <a:rPr lang="en-US" sz="1600" b="1" dirty="0">
                <a:solidFill>
                  <a:schemeClr val="accent1"/>
                </a:solidFill>
              </a:rPr>
              <a:t>Precondición: </a:t>
            </a:r>
            <a:pPr indent="0" marL="0">
              <a:spcAft>
                <a:spcPts val="800"/>
              </a:spcAft>
              <a:buNone/>
            </a:pPr>
            <a:r>
              <a:rPr lang="en-US" sz="1600" dirty="0">
                <a:solidFill>
                  <a:schemeClr val="tx1"/>
                </a:solidFill>
              </a:rPr>
              <a:t>lo que debe valer antes de invocar.</a:t>
            </a:r>
            <a:endParaRPr lang="en-US" sz="1600" dirty="0"/>
          </a:p>
          <a:p>
            <a:pPr indent="0" marL="0">
              <a:spcAft>
                <a:spcPts val="800"/>
              </a:spcAft>
              <a:buNone/>
            </a:pPr>
            <a:r>
              <a:rPr lang="en-US" sz="1600" b="1" dirty="0">
                <a:solidFill>
                  <a:schemeClr val="accent1"/>
                </a:solidFill>
              </a:rPr>
              <a:t>Postcondición: </a:t>
            </a:r>
            <a:pPr indent="0" marL="0">
              <a:spcAft>
                <a:spcPts val="800"/>
              </a:spcAft>
              <a:buNone/>
            </a:pPr>
            <a:r>
              <a:rPr lang="en-US" sz="1600" dirty="0">
                <a:solidFill>
                  <a:schemeClr val="tx1"/>
                </a:solidFill>
              </a:rPr>
              <a:t>lo que se garantiza al terminar.</a:t>
            </a:r>
            <a:endParaRPr lang="en-US" sz="1600" dirty="0"/>
          </a:p>
          <a:p>
            <a:pPr indent="0" marL="0">
              <a:spcAft>
                <a:spcPts val="800"/>
              </a:spcAft>
              <a:buNone/>
            </a:pPr>
            <a:r>
              <a:rPr lang="en-US" sz="1600" b="1" dirty="0">
                <a:solidFill>
                  <a:schemeClr val="accent1"/>
                </a:solidFill>
              </a:rPr>
              <a:t>Invariante: </a:t>
            </a:r>
            <a:pPr indent="0" marL="0">
              <a:spcAft>
                <a:spcPts val="800"/>
              </a:spcAft>
              <a:buNone/>
            </a:pPr>
            <a:r>
              <a:rPr lang="en-US" sz="1600" dirty="0">
                <a:solidFill>
                  <a:schemeClr val="tx1"/>
                </a:solidFill>
              </a:rPr>
              <a:t>lo que se mantiene siempre.</a:t>
            </a:r>
            <a:endParaRPr lang="en-US" sz="1600" dirty="0"/>
          </a:p>
        </p:txBody>
      </p:sp>
      <p:sp>
        <p:nvSpPr>
          <p:cNvPr id="8" name="Text 6"/>
          <p:cNvSpPr txBox="1"/>
          <p:nvPr/>
        </p:nvSpPr>
        <p:spPr>
          <a:xfrm>
            <a:off x="5394960" y="1737360"/>
            <a:ext cx="6217920" cy="411480"/>
          </a:xfrm>
          <a:prstGeom prst="rect">
            <a:avLst/>
          </a:prstGeom>
          <a:noFill/>
          <a:ln/>
        </p:spPr>
        <p:txBody>
          <a:bodyPr wrap="square" lIns="0" tIns="0" rIns="0" bIns="0" rtlCol="0" anchor="t"/>
          <a:lstStyle/>
          <a:p>
            <a:pPr indent="0" marL="0">
              <a:buNone/>
            </a:pPr>
            <a:r>
              <a:rPr lang="en-US" sz="1800" b="1" dirty="0">
                <a:solidFill>
                  <a:schemeClr val="tx2"/>
                </a:solidFill>
              </a:rPr>
              <a:t>Ejemplo: búsqueda en un arreglo</a:t>
            </a:r>
            <a:endParaRPr lang="en-US" sz="1800" dirty="0"/>
          </a:p>
        </p:txBody>
      </p:sp>
      <p:sp>
        <p:nvSpPr>
          <p:cNvPr id="9" name="Shape 7"/>
          <p:cNvSpPr/>
          <p:nvPr/>
        </p:nvSpPr>
        <p:spPr>
          <a:xfrm>
            <a:off x="5394960" y="2240280"/>
            <a:ext cx="6217920" cy="2331720"/>
          </a:xfrm>
          <a:prstGeom prst="roundRect">
            <a:avLst>
              <a:gd name="adj" fmla="val 3137"/>
            </a:avLst>
          </a:prstGeom>
          <a:solidFill>
            <a:schemeClr val="tx2"/>
          </a:solidFill>
          <a:ln w="12700">
            <a:solidFill>
              <a:schemeClr val="tx2"/>
            </a:solidFill>
            <a:prstDash val="solid"/>
          </a:ln>
        </p:spPr>
      </p:sp>
      <p:sp>
        <p:nvSpPr>
          <p:cNvPr id="10" name="Text 8"/>
          <p:cNvSpPr txBox="1"/>
          <p:nvPr/>
        </p:nvSpPr>
        <p:spPr>
          <a:xfrm>
            <a:off x="5669280" y="2377440"/>
            <a:ext cx="5760720" cy="2057400"/>
          </a:xfrm>
          <a:prstGeom prst="rect">
            <a:avLst/>
          </a:prstGeom>
          <a:noFill/>
          <a:ln/>
        </p:spPr>
        <p:txBody>
          <a:bodyPr wrap="square" lIns="0" tIns="0" rIns="0" bIns="0" rtlCol="0" anchor="ctr"/>
          <a:lstStyle/>
          <a:p>
            <a:pPr indent="0" marL="0">
              <a:spcAft>
                <a:spcPts val="1200"/>
              </a:spcAft>
              <a:buNone/>
            </a:pPr>
            <a:r>
              <a:rPr lang="en-US" sz="1900" dirty="0">
                <a:solidFill>
                  <a:srgbClr val="E8B4B0"/>
                </a:solidFill>
                <a:latin typeface="Cambria Math" pitchFamily="34" charset="0"/>
                <a:ea typeface="Cambria Math" pitchFamily="34" charset="-122"/>
                <a:cs typeface="Cambria Math" pitchFamily="34" charset="-120"/>
              </a:rPr>
              <a:t>{ n &gt; 0 }</a:t>
            </a:r>
            <a:endParaRPr lang="en-US" sz="1900" dirty="0"/>
          </a:p>
          <a:p>
            <a:pPr indent="0" marL="0">
              <a:spcAft>
                <a:spcPts val="1200"/>
              </a:spcAft>
              <a:buNone/>
            </a:pPr>
            <a:r>
              <a:rPr lang="en-US" sz="1900" b="1" dirty="0">
                <a:solidFill>
                  <a:schemeClr val="bg1"/>
                </a:solidFill>
                <a:latin typeface="Cambria Math" pitchFamily="34" charset="0"/>
                <a:ea typeface="Cambria Math" pitchFamily="34" charset="-122"/>
                <a:cs typeface="Cambria Math" pitchFamily="34" charset="-120"/>
              </a:rPr>
              <a:t>buscar(a, n, x, encontrado)</a:t>
            </a:r>
            <a:endParaRPr lang="en-US" sz="1900" dirty="0"/>
          </a:p>
          <a:p>
            <a:pPr indent="0" marL="0">
              <a:spcAft>
                <a:spcPts val="1200"/>
              </a:spcAft>
              <a:buNone/>
            </a:pPr>
            <a:r>
              <a:rPr lang="en-US" sz="1900" dirty="0">
                <a:solidFill>
                  <a:srgbClr val="E8B4B0"/>
                </a:solidFill>
                <a:latin typeface="Cambria Math" pitchFamily="34" charset="0"/>
                <a:ea typeface="Cambria Math" pitchFamily="34" charset="-122"/>
                <a:cs typeface="Cambria Math" pitchFamily="34" charset="-120"/>
              </a:rPr>
              <a:t>{ encontrado ⇔ ∃ i (1 ≤ i ≤ n  ∧  a[i] = x) }</a:t>
            </a:r>
            <a:endParaRPr lang="en-US" sz="1900" dirty="0"/>
          </a:p>
        </p:txBody>
      </p:sp>
      <p:sp>
        <p:nvSpPr>
          <p:cNvPr id="11" name="Text 9"/>
          <p:cNvSpPr txBox="1"/>
          <p:nvPr/>
        </p:nvSpPr>
        <p:spPr>
          <a:xfrm>
            <a:off x="5394960" y="4800600"/>
            <a:ext cx="6217920" cy="1188720"/>
          </a:xfrm>
          <a:prstGeom prst="rect">
            <a:avLst/>
          </a:prstGeom>
          <a:noFill/>
          <a:ln/>
        </p:spPr>
        <p:txBody>
          <a:bodyPr wrap="square" lIns="0" tIns="0" rIns="0" bIns="0" rtlCol="0" anchor="t"/>
          <a:lstStyle/>
          <a:p>
            <a:pPr indent="0" marL="0">
              <a:buNone/>
            </a:pPr>
            <a:r>
              <a:rPr lang="en-US" sz="1600" dirty="0">
                <a:solidFill>
                  <a:schemeClr val="tx1"/>
                </a:solidFill>
              </a:rPr>
              <a:t>La especificación no dice cómo buscar (secuencial, binaria, con índice): solo qué relación debe existir entre la entrada y la salida.</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5.6 · ESPECIFICACIONES DESCRIPTIVAS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Ejemplo: especificar el ordenamiento</a:t>
            </a:r>
            <a:endParaRPr lang="en-US" sz="3400" dirty="0"/>
          </a:p>
        </p:txBody>
      </p:sp>
      <p:sp>
        <p:nvSpPr>
          <p:cNvPr id="4" name="Shape 2"/>
          <p:cNvSpPr/>
          <p:nvPr/>
        </p:nvSpPr>
        <p:spPr>
          <a:xfrm>
            <a:off x="548640" y="1737360"/>
            <a:ext cx="5394960" cy="3611880"/>
          </a:xfrm>
          <a:prstGeom prst="roundRect">
            <a:avLst>
              <a:gd name="adj" fmla="val 2025"/>
            </a:avLst>
          </a:prstGeom>
          <a:solidFill>
            <a:schemeClr val="accent4"/>
          </a:solidFill>
          <a:ln w="12700">
            <a:solidFill>
              <a:schemeClr val="accent4"/>
            </a:solidFill>
            <a:prstDash val="solid"/>
          </a:ln>
        </p:spPr>
      </p:sp>
      <p:sp>
        <p:nvSpPr>
          <p:cNvPr id="5" name="Shape 3"/>
          <p:cNvSpPr/>
          <p:nvPr/>
        </p:nvSpPr>
        <p:spPr>
          <a:xfrm>
            <a:off x="822960" y="192024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82980" y="2080260"/>
            <a:ext cx="320040" cy="320040"/>
          </a:xfrm>
          <a:prstGeom prst="rect">
            <a:avLst/>
          </a:prstGeom>
        </p:spPr>
      </p:pic>
      <p:sp>
        <p:nvSpPr>
          <p:cNvPr id="7" name="Text 4"/>
          <p:cNvSpPr txBox="1"/>
          <p:nvPr/>
        </p:nvSpPr>
        <p:spPr>
          <a:xfrm>
            <a:off x="1645920" y="1920240"/>
            <a:ext cx="4114800" cy="640080"/>
          </a:xfrm>
          <a:prstGeom prst="rect">
            <a:avLst/>
          </a:prstGeom>
          <a:noFill/>
          <a:ln/>
        </p:spPr>
        <p:txBody>
          <a:bodyPr wrap="square" lIns="0" tIns="0" rIns="0" bIns="0" rtlCol="0" anchor="ctr"/>
          <a:lstStyle/>
          <a:p>
            <a:pPr indent="0" marL="0">
              <a:buNone/>
            </a:pPr>
            <a:r>
              <a:rPr lang="en-US" sz="1900" b="1" dirty="0">
                <a:solidFill>
                  <a:schemeClr val="accent1"/>
                </a:solidFill>
              </a:rPr>
              <a:t>Primer intento</a:t>
            </a:r>
            <a:endParaRPr lang="en-US" sz="1900" dirty="0"/>
          </a:p>
        </p:txBody>
      </p:sp>
      <p:sp>
        <p:nvSpPr>
          <p:cNvPr id="8" name="Text 5"/>
          <p:cNvSpPr txBox="1"/>
          <p:nvPr/>
        </p:nvSpPr>
        <p:spPr>
          <a:xfrm>
            <a:off x="822960" y="2743200"/>
            <a:ext cx="4892040" cy="1371600"/>
          </a:xfrm>
          <a:prstGeom prst="rect">
            <a:avLst/>
          </a:prstGeom>
          <a:noFill/>
          <a:ln/>
        </p:spPr>
        <p:txBody>
          <a:bodyPr wrap="square" lIns="0" tIns="0" rIns="0" bIns="0" rtlCol="0" anchor="ctr"/>
          <a:lstStyle/>
          <a:p>
            <a:pPr indent="0" marL="0">
              <a:buNone/>
            </a:pPr>
            <a:r>
              <a:rPr lang="en-US" sz="1600" dirty="0">
                <a:solidFill>
                  <a:schemeClr val="tx1"/>
                </a:solidFill>
                <a:latin typeface="Cambria Math" pitchFamily="34" charset="0"/>
                <a:ea typeface="Cambria Math" pitchFamily="34" charset="-122"/>
                <a:cs typeface="Cambria Math" pitchFamily="34" charset="-120"/>
              </a:rPr>
              <a:t>{ n &gt; 0 }  ordenar(a, b)</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 ∀ i (1 ≤ i &lt; n ⇒ b[i] ≤ b[i+1]) }</a:t>
            </a:r>
            <a:endParaRPr lang="en-US" sz="1600" dirty="0"/>
          </a:p>
        </p:txBody>
      </p:sp>
      <p:sp>
        <p:nvSpPr>
          <p:cNvPr id="9" name="Text 6"/>
          <p:cNvSpPr txBox="1"/>
          <p:nvPr/>
        </p:nvSpPr>
        <p:spPr>
          <a:xfrm>
            <a:off x="822960" y="4206240"/>
            <a:ext cx="4892040" cy="1005840"/>
          </a:xfrm>
          <a:prstGeom prst="rect">
            <a:avLst/>
          </a:prstGeom>
          <a:noFill/>
          <a:ln/>
        </p:spPr>
        <p:txBody>
          <a:bodyPr wrap="square" lIns="0" tIns="0" rIns="0" bIns="0" rtlCol="0" anchor="t"/>
          <a:lstStyle/>
          <a:p>
            <a:pPr indent="0" marL="0">
              <a:buNone/>
            </a:pPr>
            <a:r>
              <a:rPr lang="en-US" sz="1500" dirty="0">
                <a:solidFill>
                  <a:schemeClr val="tx1"/>
                </a:solidFill>
              </a:rPr>
              <a:t>Problema: b = [0, 0, …, 0] satisface la postcondición sin tener relación con a.</a:t>
            </a:r>
            <a:endParaRPr lang="en-US" sz="1500" dirty="0"/>
          </a:p>
        </p:txBody>
      </p:sp>
      <p:sp>
        <p:nvSpPr>
          <p:cNvPr id="10" name="Shape 7"/>
          <p:cNvSpPr/>
          <p:nvPr/>
        </p:nvSpPr>
        <p:spPr>
          <a:xfrm>
            <a:off x="6217920" y="1737360"/>
            <a:ext cx="5394960" cy="3611880"/>
          </a:xfrm>
          <a:prstGeom prst="roundRect">
            <a:avLst>
              <a:gd name="adj" fmla="val 2025"/>
            </a:avLst>
          </a:prstGeom>
          <a:solidFill>
            <a:schemeClr val="bg2"/>
          </a:solidFill>
          <a:ln w="12700">
            <a:solidFill>
              <a:schemeClr val="accent3"/>
            </a:solidFill>
            <a:prstDash val="solid"/>
          </a:ln>
        </p:spPr>
      </p:sp>
      <p:sp>
        <p:nvSpPr>
          <p:cNvPr id="11" name="Shape 8"/>
          <p:cNvSpPr/>
          <p:nvPr/>
        </p:nvSpPr>
        <p:spPr>
          <a:xfrm>
            <a:off x="6492240" y="1920240"/>
            <a:ext cx="640080" cy="640080"/>
          </a:xfrm>
          <a:prstGeom prst="ellipse">
            <a:avLst/>
          </a:prstGeom>
          <a:solidFill>
            <a:schemeClr val="accent2"/>
          </a:solidFill>
          <a:ln w="12700">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6652260" y="2080260"/>
            <a:ext cx="320040" cy="320040"/>
          </a:xfrm>
          <a:prstGeom prst="rect">
            <a:avLst/>
          </a:prstGeom>
        </p:spPr>
      </p:pic>
      <p:sp>
        <p:nvSpPr>
          <p:cNvPr id="13" name="Text 9"/>
          <p:cNvSpPr txBox="1"/>
          <p:nvPr/>
        </p:nvSpPr>
        <p:spPr>
          <a:xfrm>
            <a:off x="7315200" y="1920240"/>
            <a:ext cx="4114800" cy="640080"/>
          </a:xfrm>
          <a:prstGeom prst="rect">
            <a:avLst/>
          </a:prstGeom>
          <a:noFill/>
          <a:ln/>
        </p:spPr>
        <p:txBody>
          <a:bodyPr wrap="square" lIns="0" tIns="0" rIns="0" bIns="0" rtlCol="0" anchor="ctr"/>
          <a:lstStyle/>
          <a:p>
            <a:pPr indent="0" marL="0">
              <a:buNone/>
            </a:pPr>
            <a:r>
              <a:rPr lang="en-US" sz="1900" b="1" dirty="0">
                <a:solidFill>
                  <a:schemeClr val="accent2"/>
                </a:solidFill>
              </a:rPr>
              <a:t>Versión corregida</a:t>
            </a:r>
            <a:endParaRPr lang="en-US" sz="1900" dirty="0"/>
          </a:p>
        </p:txBody>
      </p:sp>
      <p:sp>
        <p:nvSpPr>
          <p:cNvPr id="14" name="Text 10"/>
          <p:cNvSpPr txBox="1"/>
          <p:nvPr/>
        </p:nvSpPr>
        <p:spPr>
          <a:xfrm>
            <a:off x="6492240" y="2743200"/>
            <a:ext cx="4892040" cy="1371600"/>
          </a:xfrm>
          <a:prstGeom prst="rect">
            <a:avLst/>
          </a:prstGeom>
          <a:noFill/>
          <a:ln/>
        </p:spPr>
        <p:txBody>
          <a:bodyPr wrap="square" lIns="0" tIns="0" rIns="0" bIns="0" rtlCol="0" anchor="ctr"/>
          <a:lstStyle/>
          <a:p>
            <a:pPr indent="0" marL="0">
              <a:buNone/>
            </a:pPr>
            <a:r>
              <a:rPr lang="en-US" sz="1600" dirty="0">
                <a:solidFill>
                  <a:schemeClr val="tx1"/>
                </a:solidFill>
                <a:latin typeface="Cambria Math" pitchFamily="34" charset="0"/>
                <a:ea typeface="Cambria Math" pitchFamily="34" charset="-122"/>
                <a:cs typeface="Cambria Math" pitchFamily="34" charset="-120"/>
              </a:rPr>
              <a:t>{ n &gt; 0 }  ordenar(a, b)</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 permutación(a, b)  ∧</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  ∀ i (1 ≤ i &lt; n ⇒ b[i] ≤ b[i+1]) }</a:t>
            </a:r>
            <a:endParaRPr lang="en-US" sz="1600" dirty="0"/>
          </a:p>
        </p:txBody>
      </p:sp>
      <p:sp>
        <p:nvSpPr>
          <p:cNvPr id="15" name="Text 11"/>
          <p:cNvSpPr txBox="1"/>
          <p:nvPr/>
        </p:nvSpPr>
        <p:spPr>
          <a:xfrm>
            <a:off x="6492240" y="4206240"/>
            <a:ext cx="4892040" cy="1005840"/>
          </a:xfrm>
          <a:prstGeom prst="rect">
            <a:avLst/>
          </a:prstGeom>
          <a:noFill/>
          <a:ln/>
        </p:spPr>
        <p:txBody>
          <a:bodyPr wrap="square" lIns="0" tIns="0" rIns="0" bIns="0" rtlCol="0" anchor="t"/>
          <a:lstStyle/>
          <a:p>
            <a:pPr indent="0" marL="0">
              <a:buNone/>
            </a:pPr>
            <a:r>
              <a:rPr lang="en-US" sz="1500" dirty="0">
                <a:solidFill>
                  <a:schemeClr val="tx1"/>
                </a:solidFill>
              </a:rPr>
              <a:t>Ahora b debe contener exactamente los mismos elementos que a, en orden.</a:t>
            </a:r>
            <a:endParaRPr lang="en-US" sz="1500" dirty="0"/>
          </a:p>
        </p:txBody>
      </p:sp>
      <p:sp>
        <p:nvSpPr>
          <p:cNvPr id="16" name="Shape 12"/>
          <p:cNvSpPr/>
          <p:nvPr/>
        </p:nvSpPr>
        <p:spPr>
          <a:xfrm>
            <a:off x="548640" y="5532120"/>
            <a:ext cx="11064240" cy="685800"/>
          </a:xfrm>
          <a:prstGeom prst="roundRect">
            <a:avLst>
              <a:gd name="adj" fmla="val 10667"/>
            </a:avLst>
          </a:prstGeom>
          <a:solidFill>
            <a:schemeClr val="tx2"/>
          </a:solidFill>
          <a:ln w="12700">
            <a:solidFill>
              <a:schemeClr val="tx2"/>
            </a:solidFill>
            <a:prstDash val="solid"/>
          </a:ln>
        </p:spPr>
      </p:sp>
      <p:sp>
        <p:nvSpPr>
          <p:cNvPr id="17" name="Text 13"/>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600" b="1" dirty="0">
                <a:solidFill>
                  <a:schemeClr val="bg1"/>
                </a:solidFill>
              </a:rPr>
              <a:t>Una especificación formal dice exactamente lo que está escrito: ni más ni menos. La completitud no se presupone.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5.6 · ESPECIFICACIONES DESCRIPTIVAS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Especificaciones algebraicas</a:t>
            </a:r>
            <a:endParaRPr lang="en-US" sz="3400" dirty="0"/>
          </a:p>
        </p:txBody>
      </p:sp>
      <p:sp>
        <p:nvSpPr>
          <p:cNvPr id="4" name="Shape 2"/>
          <p:cNvSpPr/>
          <p:nvPr/>
        </p:nvSpPr>
        <p:spPr>
          <a:xfrm>
            <a:off x="548640" y="1737360"/>
            <a:ext cx="6035040" cy="4389120"/>
          </a:xfrm>
          <a:prstGeom prst="roundRect">
            <a:avLst>
              <a:gd name="adj" fmla="val 1667"/>
            </a:avLst>
          </a:prstGeom>
          <a:solidFill>
            <a:schemeClr val="tx2"/>
          </a:solidFill>
          <a:ln w="12700">
            <a:solidFill>
              <a:schemeClr val="tx2"/>
            </a:solidFill>
            <a:prstDash val="solid"/>
          </a:ln>
        </p:spPr>
      </p:sp>
      <p:sp>
        <p:nvSpPr>
          <p:cNvPr id="5" name="Text 3"/>
          <p:cNvSpPr txBox="1"/>
          <p:nvPr/>
        </p:nvSpPr>
        <p:spPr>
          <a:xfrm>
            <a:off x="822960" y="1874520"/>
            <a:ext cx="5577840" cy="4114800"/>
          </a:xfrm>
          <a:prstGeom prst="rect">
            <a:avLst/>
          </a:prstGeom>
          <a:noFill/>
          <a:ln/>
        </p:spPr>
        <p:txBody>
          <a:bodyPr wrap="square" lIns="0" tIns="0" rIns="0" bIns="0" rtlCol="0" anchor="ctr"/>
          <a:lstStyle/>
          <a:p>
            <a:pPr indent="0" marL="0">
              <a:spcAft>
                <a:spcPts val="200"/>
              </a:spcAft>
              <a:buNone/>
            </a:pPr>
            <a:r>
              <a:rPr lang="en-US" sz="1500" b="1" dirty="0">
                <a:solidFill>
                  <a:srgbClr val="E8B4B0"/>
                </a:solidFill>
                <a:latin typeface="Courier New" pitchFamily="34" charset="0"/>
                <a:ea typeface="Courier New" pitchFamily="34" charset="-122"/>
                <a:cs typeface="Courier New" pitchFamily="34" charset="-120"/>
              </a:rPr>
              <a:t>TAD Pila</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géneros:  Pila, Elem, Bool</a:t>
            </a:r>
            <a:endParaRPr lang="en-US" sz="1500" dirty="0"/>
          </a:p>
          <a:p>
            <a:pPr indent="0" marL="0">
              <a:spcAft>
                <a:spcPts val="200"/>
              </a:spcAft>
              <a:buNone/>
            </a:pPr>
            <a:r>
              <a:rPr lang="en-US" sz="1500" b="1" dirty="0">
                <a:solidFill>
                  <a:srgbClr val="E8B4B0"/>
                </a:solidFill>
                <a:latin typeface="Courier New" pitchFamily="34" charset="0"/>
                <a:ea typeface="Courier New" pitchFamily="34" charset="-122"/>
                <a:cs typeface="Courier New" pitchFamily="34" charset="-120"/>
              </a:rPr>
              <a:t>operaciones:</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nueva     :              → Pila</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apilar    : Pila × Elem  → Pila</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desapilar : Pila         → Pila</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tope      : Pila         → Elem</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esVacía   : Pila         → Bool</a:t>
            </a:r>
            <a:endParaRPr lang="en-US" sz="1500" dirty="0"/>
          </a:p>
          <a:p>
            <a:pPr indent="0" marL="0">
              <a:spcAft>
                <a:spcPts val="200"/>
              </a:spcAft>
              <a:buNone/>
            </a:pPr>
            <a:r>
              <a:rPr lang="en-US" sz="1500" b="1" dirty="0">
                <a:solidFill>
                  <a:srgbClr val="E8B4B0"/>
                </a:solidFill>
                <a:latin typeface="Courier New" pitchFamily="34" charset="0"/>
                <a:ea typeface="Courier New" pitchFamily="34" charset="-122"/>
                <a:cs typeface="Courier New" pitchFamily="34" charset="-120"/>
              </a:rPr>
              <a:t>axiomas:  ∀ p : Pila, e : Elem</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esVacía(nueva)          = verdadero</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esVacía(apilar(p, e))   = falso</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tope(apilar(p, e))      = e</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desapilar(apilar(p, e)) = p</a:t>
            </a:r>
            <a:endParaRPr lang="en-US" sz="1500" dirty="0"/>
          </a:p>
        </p:txBody>
      </p:sp>
      <p:sp>
        <p:nvSpPr>
          <p:cNvPr id="6" name="Shape 4"/>
          <p:cNvSpPr/>
          <p:nvPr/>
        </p:nvSpPr>
        <p:spPr>
          <a:xfrm>
            <a:off x="6858000" y="1737360"/>
            <a:ext cx="4754880" cy="1325880"/>
          </a:xfrm>
          <a:prstGeom prst="roundRect">
            <a:avLst>
              <a:gd name="adj" fmla="val 5517"/>
            </a:avLst>
          </a:prstGeom>
          <a:solidFill>
            <a:schemeClr val="bg2"/>
          </a:solidFill>
          <a:ln w="12700">
            <a:solidFill>
              <a:schemeClr val="accent3"/>
            </a:solidFill>
            <a:prstDash val="solid"/>
          </a:ln>
        </p:spPr>
      </p:sp>
      <p:sp>
        <p:nvSpPr>
          <p:cNvPr id="7" name="Shape 5"/>
          <p:cNvSpPr/>
          <p:nvPr/>
        </p:nvSpPr>
        <p:spPr>
          <a:xfrm>
            <a:off x="7040880" y="2057400"/>
            <a:ext cx="685800" cy="685800"/>
          </a:xfrm>
          <a:prstGeom prst="ellipse">
            <a:avLst/>
          </a:prstGeom>
          <a:solidFill>
            <a:schemeClr val="tx2"/>
          </a:solidFill>
          <a:ln w="12700">
            <a:solidFill>
              <a:schemeClr val="tx2"/>
            </a:solidFill>
            <a:prstDash val="solid"/>
          </a:ln>
        </p:spPr>
      </p:sp>
      <p:pic>
        <p:nvPicPr>
          <p:cNvPr id="8" name="Image 0" descr="preencoded.png">    </p:cNvPr>
          <p:cNvPicPr>
            <a:picLocks noChangeAspect="1"/>
          </p:cNvPicPr>
          <p:nvPr/>
        </p:nvPicPr>
        <p:blipFill>
          <a:blip r:embed="rId1"/>
          <a:stretch>
            <a:fillRect/>
          </a:stretch>
        </p:blipFill>
        <p:spPr>
          <a:xfrm>
            <a:off x="7212330" y="2228850"/>
            <a:ext cx="342900" cy="342900"/>
          </a:xfrm>
          <a:prstGeom prst="rect">
            <a:avLst/>
          </a:prstGeom>
        </p:spPr>
      </p:pic>
      <p:sp>
        <p:nvSpPr>
          <p:cNvPr id="9" name="Text 6"/>
          <p:cNvSpPr txBox="1"/>
          <p:nvPr/>
        </p:nvSpPr>
        <p:spPr>
          <a:xfrm>
            <a:off x="7909560" y="1828800"/>
            <a:ext cx="3566160" cy="1143000"/>
          </a:xfrm>
          <a:prstGeom prst="rect">
            <a:avLst/>
          </a:prstGeom>
          <a:noFill/>
          <a:ln/>
        </p:spPr>
        <p:txBody>
          <a:bodyPr wrap="square" lIns="0" tIns="0" rIns="0" bIns="0" rtlCol="0" anchor="ctr"/>
          <a:lstStyle/>
          <a:p>
            <a:pPr indent="0" marL="0">
              <a:buNone/>
            </a:pPr>
            <a:r>
              <a:rPr lang="en-US" sz="1700" b="1" dirty="0">
                <a:solidFill>
                  <a:schemeClr val="tx2"/>
                </a:solidFill>
              </a:rPr>
              <a:t>Signatura</a:t>
            </a:r>
            <a:endParaRPr lang="en-US" sz="1600" dirty="0"/>
          </a:p>
          <a:p>
            <a:pPr indent="0" marL="0">
              <a:buNone/>
            </a:pPr>
            <a:r>
              <a:rPr lang="en-US" sz="1450" dirty="0">
                <a:solidFill>
                  <a:schemeClr val="tx1"/>
                </a:solidFill>
              </a:rPr>
              <a:t>Géneros (tipos) y operaciones con sus dominios y codominios.</a:t>
            </a:r>
            <a:endParaRPr lang="en-US" sz="1600" dirty="0"/>
          </a:p>
        </p:txBody>
      </p:sp>
      <p:sp>
        <p:nvSpPr>
          <p:cNvPr id="10" name="Shape 7"/>
          <p:cNvSpPr/>
          <p:nvPr/>
        </p:nvSpPr>
        <p:spPr>
          <a:xfrm>
            <a:off x="6858000" y="3246120"/>
            <a:ext cx="4754880" cy="1325880"/>
          </a:xfrm>
          <a:prstGeom prst="roundRect">
            <a:avLst>
              <a:gd name="adj" fmla="val 5517"/>
            </a:avLst>
          </a:prstGeom>
          <a:solidFill>
            <a:schemeClr val="bg2"/>
          </a:solidFill>
          <a:ln w="12700">
            <a:solidFill>
              <a:schemeClr val="accent3"/>
            </a:solidFill>
            <a:prstDash val="solid"/>
          </a:ln>
        </p:spPr>
      </p:sp>
      <p:sp>
        <p:nvSpPr>
          <p:cNvPr id="11" name="Shape 8"/>
          <p:cNvSpPr/>
          <p:nvPr/>
        </p:nvSpPr>
        <p:spPr>
          <a:xfrm>
            <a:off x="7040880" y="3566160"/>
            <a:ext cx="685800" cy="685800"/>
          </a:xfrm>
          <a:prstGeom prst="ellipse">
            <a:avLst/>
          </a:prstGeom>
          <a:solidFill>
            <a:schemeClr val="tx2"/>
          </a:solidFill>
          <a:ln w="12700">
            <a:solidFill>
              <a:schemeClr val="tx2"/>
            </a:solidFill>
            <a:prstDash val="solid"/>
          </a:ln>
        </p:spPr>
      </p:sp>
      <p:pic>
        <p:nvPicPr>
          <p:cNvPr id="12" name="Image 1" descr="preencoded.png">    </p:cNvPr>
          <p:cNvPicPr>
            <a:picLocks noChangeAspect="1"/>
          </p:cNvPicPr>
          <p:nvPr/>
        </p:nvPicPr>
        <p:blipFill>
          <a:blip r:embed="rId2"/>
          <a:stretch>
            <a:fillRect/>
          </a:stretch>
        </p:blipFill>
        <p:spPr>
          <a:xfrm>
            <a:off x="7212330" y="3737610"/>
            <a:ext cx="342900" cy="342900"/>
          </a:xfrm>
          <a:prstGeom prst="rect">
            <a:avLst/>
          </a:prstGeom>
        </p:spPr>
      </p:pic>
      <p:sp>
        <p:nvSpPr>
          <p:cNvPr id="13" name="Text 9"/>
          <p:cNvSpPr txBox="1"/>
          <p:nvPr/>
        </p:nvSpPr>
        <p:spPr>
          <a:xfrm>
            <a:off x="7909560" y="3337560"/>
            <a:ext cx="3566160" cy="1143000"/>
          </a:xfrm>
          <a:prstGeom prst="rect">
            <a:avLst/>
          </a:prstGeom>
          <a:noFill/>
          <a:ln/>
        </p:spPr>
        <p:txBody>
          <a:bodyPr wrap="square" lIns="0" tIns="0" rIns="0" bIns="0" rtlCol="0" anchor="ctr"/>
          <a:lstStyle/>
          <a:p>
            <a:pPr indent="0" marL="0">
              <a:buNone/>
            </a:pPr>
            <a:r>
              <a:rPr lang="en-US" sz="1700" b="1" dirty="0">
                <a:solidFill>
                  <a:schemeClr val="tx2"/>
                </a:solidFill>
              </a:rPr>
              <a:t>Axiomas</a:t>
            </a:r>
            <a:endParaRPr lang="en-US" sz="1600" dirty="0"/>
          </a:p>
          <a:p>
            <a:pPr indent="0" marL="0">
              <a:buNone/>
            </a:pPr>
            <a:r>
              <a:rPr lang="en-US" sz="1450" dirty="0">
                <a:solidFill>
                  <a:schemeClr val="tx1"/>
                </a:solidFill>
              </a:rPr>
              <a:t>Ecuaciones que relacionan las operaciones entre sí.</a:t>
            </a:r>
            <a:endParaRPr lang="en-US" sz="1600" dirty="0"/>
          </a:p>
        </p:txBody>
      </p:sp>
      <p:sp>
        <p:nvSpPr>
          <p:cNvPr id="14" name="Shape 10"/>
          <p:cNvSpPr/>
          <p:nvPr/>
        </p:nvSpPr>
        <p:spPr>
          <a:xfrm>
            <a:off x="6858000" y="4754880"/>
            <a:ext cx="4754880" cy="1325880"/>
          </a:xfrm>
          <a:prstGeom prst="roundRect">
            <a:avLst>
              <a:gd name="adj" fmla="val 5517"/>
            </a:avLst>
          </a:prstGeom>
          <a:solidFill>
            <a:schemeClr val="bg2"/>
          </a:solidFill>
          <a:ln w="12700">
            <a:solidFill>
              <a:schemeClr val="accent3"/>
            </a:solidFill>
            <a:prstDash val="solid"/>
          </a:ln>
        </p:spPr>
      </p:sp>
      <p:sp>
        <p:nvSpPr>
          <p:cNvPr id="15" name="Shape 11"/>
          <p:cNvSpPr/>
          <p:nvPr/>
        </p:nvSpPr>
        <p:spPr>
          <a:xfrm>
            <a:off x="7040880" y="5074920"/>
            <a:ext cx="685800" cy="68580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7212330" y="5246370"/>
            <a:ext cx="342900" cy="342900"/>
          </a:xfrm>
          <a:prstGeom prst="rect">
            <a:avLst/>
          </a:prstGeom>
        </p:spPr>
      </p:pic>
      <p:sp>
        <p:nvSpPr>
          <p:cNvPr id="17" name="Text 12"/>
          <p:cNvSpPr txBox="1"/>
          <p:nvPr/>
        </p:nvSpPr>
        <p:spPr>
          <a:xfrm>
            <a:off x="7909560" y="4846320"/>
            <a:ext cx="3566160" cy="1143000"/>
          </a:xfrm>
          <a:prstGeom prst="rect">
            <a:avLst/>
          </a:prstGeom>
          <a:noFill/>
          <a:ln/>
        </p:spPr>
        <p:txBody>
          <a:bodyPr wrap="square" lIns="0" tIns="0" rIns="0" bIns="0" rtlCol="0" anchor="ctr"/>
          <a:lstStyle/>
          <a:p>
            <a:pPr indent="0" marL="0">
              <a:buNone/>
            </a:pPr>
            <a:r>
              <a:rPr lang="en-US" sz="1700" b="1" dirty="0">
                <a:solidFill>
                  <a:schemeClr val="tx2"/>
                </a:solidFill>
              </a:rPr>
              <a:t>Pura abstracción</a:t>
            </a:r>
            <a:endParaRPr lang="en-US" sz="1600" dirty="0"/>
          </a:p>
          <a:p>
            <a:pPr indent="0" marL="0">
              <a:buNone/>
            </a:pPr>
            <a:r>
              <a:rPr lang="en-US" sz="1450" dirty="0">
                <a:solidFill>
                  <a:schemeClr val="tx1"/>
                </a:solidFill>
              </a:rPr>
              <a:t>No menciona arreglos ni punteros: es ocultamiento de información (Unidad 4).</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5.6 · ESPECIFICACIONES DESCRIPTIVAS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Razonar con una especificación algebraica</a:t>
            </a:r>
            <a:endParaRPr lang="en-US" sz="3400" dirty="0"/>
          </a:p>
        </p:txBody>
      </p:sp>
      <p:sp>
        <p:nvSpPr>
          <p:cNvPr id="4" name="Text 2"/>
          <p:cNvSpPr txBox="1"/>
          <p:nvPr/>
        </p:nvSpPr>
        <p:spPr>
          <a:xfrm>
            <a:off x="548640" y="1691640"/>
            <a:ext cx="11064240" cy="548640"/>
          </a:xfrm>
          <a:prstGeom prst="rect">
            <a:avLst/>
          </a:prstGeom>
          <a:noFill/>
          <a:ln/>
        </p:spPr>
        <p:txBody>
          <a:bodyPr wrap="square" lIns="0" tIns="0" rIns="0" bIns="0" rtlCol="0" anchor="t"/>
          <a:lstStyle/>
          <a:p>
            <a:pPr indent="0" marL="0">
              <a:buNone/>
            </a:pPr>
            <a:r>
              <a:rPr lang="en-US" sz="1700" dirty="0">
                <a:solidFill>
                  <a:schemeClr val="tx1"/>
                </a:solidFill>
              </a:rPr>
              <a:t>Las propiedades se obtienen por reescritura: se reemplaza cada lado izquierdo de un axioma por su lado derecho.</a:t>
            </a:r>
            <a:endParaRPr lang="en-US" sz="1700" dirty="0"/>
          </a:p>
        </p:txBody>
      </p:sp>
      <p:sp>
        <p:nvSpPr>
          <p:cNvPr id="5" name="Shape 3"/>
          <p:cNvSpPr/>
          <p:nvPr/>
        </p:nvSpPr>
        <p:spPr>
          <a:xfrm>
            <a:off x="548640" y="2377440"/>
            <a:ext cx="6400800" cy="2377440"/>
          </a:xfrm>
          <a:prstGeom prst="roundRect">
            <a:avLst>
              <a:gd name="adj" fmla="val 3077"/>
            </a:avLst>
          </a:prstGeom>
          <a:solidFill>
            <a:schemeClr val="bg2"/>
          </a:solidFill>
          <a:ln w="12700">
            <a:solidFill>
              <a:schemeClr val="accent3"/>
            </a:solidFill>
            <a:prstDash val="solid"/>
          </a:ln>
        </p:spPr>
      </p:sp>
      <p:sp>
        <p:nvSpPr>
          <p:cNvPr id="6" name="Text 4"/>
          <p:cNvSpPr txBox="1"/>
          <p:nvPr/>
        </p:nvSpPr>
        <p:spPr>
          <a:xfrm>
            <a:off x="822960" y="2560320"/>
            <a:ext cx="6035040" cy="5486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tope(desapilar(apilar(apilar(nueva, 3), 7)))</a:t>
            </a:r>
            <a:endParaRPr lang="en-US" sz="1500" dirty="0"/>
          </a:p>
        </p:txBody>
      </p:sp>
      <p:sp>
        <p:nvSpPr>
          <p:cNvPr id="7" name="Text 5"/>
          <p:cNvSpPr txBox="1"/>
          <p:nvPr/>
        </p:nvSpPr>
        <p:spPr>
          <a:xfrm>
            <a:off x="822960" y="3246120"/>
            <a:ext cx="6035040" cy="5486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 tope(apilar(nueva, 3))</a:t>
            </a:r>
            <a:endParaRPr lang="en-US" sz="1500" dirty="0"/>
          </a:p>
        </p:txBody>
      </p:sp>
      <p:sp>
        <p:nvSpPr>
          <p:cNvPr id="8" name="Text 6"/>
          <p:cNvSpPr txBox="1"/>
          <p:nvPr/>
        </p:nvSpPr>
        <p:spPr>
          <a:xfrm>
            <a:off x="4206240" y="3246120"/>
            <a:ext cx="1737360" cy="548640"/>
          </a:xfrm>
          <a:prstGeom prst="rect">
            <a:avLst/>
          </a:prstGeom>
          <a:noFill/>
          <a:ln/>
        </p:spPr>
        <p:txBody>
          <a:bodyPr wrap="square" lIns="0" tIns="0" rIns="0" bIns="0" rtlCol="0" anchor="ctr"/>
          <a:lstStyle/>
          <a:p>
            <a:pPr indent="0" marL="0">
              <a:buNone/>
            </a:pPr>
            <a:r>
              <a:rPr lang="en-US" sz="1300" i="1" dirty="0">
                <a:solidFill>
                  <a:schemeClr val="accent5"/>
                </a:solidFill>
              </a:rPr>
              <a:t>axioma de desapilar</a:t>
            </a:r>
            <a:endParaRPr lang="en-US" sz="1300" dirty="0"/>
          </a:p>
        </p:txBody>
      </p:sp>
      <p:sp>
        <p:nvSpPr>
          <p:cNvPr id="9" name="Text 7"/>
          <p:cNvSpPr txBox="1"/>
          <p:nvPr/>
        </p:nvSpPr>
        <p:spPr>
          <a:xfrm>
            <a:off x="822960" y="3931920"/>
            <a:ext cx="6035040"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 3</a:t>
            </a:r>
            <a:endParaRPr lang="en-US" sz="1500" dirty="0"/>
          </a:p>
        </p:txBody>
      </p:sp>
      <p:sp>
        <p:nvSpPr>
          <p:cNvPr id="10" name="Text 8"/>
          <p:cNvSpPr txBox="1"/>
          <p:nvPr/>
        </p:nvSpPr>
        <p:spPr>
          <a:xfrm>
            <a:off x="4206240" y="3931920"/>
            <a:ext cx="1737360" cy="548640"/>
          </a:xfrm>
          <a:prstGeom prst="rect">
            <a:avLst/>
          </a:prstGeom>
          <a:noFill/>
          <a:ln/>
        </p:spPr>
        <p:txBody>
          <a:bodyPr wrap="square" lIns="0" tIns="0" rIns="0" bIns="0" rtlCol="0" anchor="ctr"/>
          <a:lstStyle/>
          <a:p>
            <a:pPr indent="0" marL="0">
              <a:buNone/>
            </a:pPr>
            <a:r>
              <a:rPr lang="en-US" sz="1300" i="1" dirty="0">
                <a:solidFill>
                  <a:schemeClr val="accent5"/>
                </a:solidFill>
              </a:rPr>
              <a:t>axioma de tope</a:t>
            </a:r>
            <a:endParaRPr lang="en-US" sz="1300" dirty="0"/>
          </a:p>
        </p:txBody>
      </p:sp>
      <p:sp>
        <p:nvSpPr>
          <p:cNvPr id="11" name="Text 9"/>
          <p:cNvSpPr txBox="1"/>
          <p:nvPr/>
        </p:nvSpPr>
        <p:spPr>
          <a:xfrm>
            <a:off x="7223760" y="2377440"/>
            <a:ext cx="4389120" cy="411480"/>
          </a:xfrm>
          <a:prstGeom prst="rect">
            <a:avLst/>
          </a:prstGeom>
          <a:noFill/>
          <a:ln/>
        </p:spPr>
        <p:txBody>
          <a:bodyPr wrap="square" lIns="0" tIns="0" rIns="0" bIns="0" rtlCol="0" anchor="t"/>
          <a:lstStyle/>
          <a:p>
            <a:pPr indent="0" marL="0">
              <a:buNone/>
            </a:pPr>
            <a:r>
              <a:rPr lang="en-US" sz="1700" b="1" dirty="0">
                <a:solidFill>
                  <a:schemeClr val="tx2"/>
                </a:solidFill>
              </a:rPr>
              <a:t>Cada axioma es también un caso de prueba</a:t>
            </a:r>
            <a:endParaRPr lang="en-US" sz="1700" dirty="0"/>
          </a:p>
        </p:txBody>
      </p:sp>
      <p:sp>
        <p:nvSpPr>
          <p:cNvPr id="12" name="Shape 10"/>
          <p:cNvSpPr/>
          <p:nvPr/>
        </p:nvSpPr>
        <p:spPr>
          <a:xfrm>
            <a:off x="7223760" y="2834640"/>
            <a:ext cx="4389120" cy="1920240"/>
          </a:xfrm>
          <a:prstGeom prst="roundRect">
            <a:avLst>
              <a:gd name="adj" fmla="val 3810"/>
            </a:avLst>
          </a:prstGeom>
          <a:solidFill>
            <a:schemeClr val="tx2"/>
          </a:solidFill>
          <a:ln w="12700">
            <a:solidFill>
              <a:schemeClr val="tx2"/>
            </a:solidFill>
            <a:prstDash val="solid"/>
          </a:ln>
        </p:spPr>
      </p:sp>
      <p:sp>
        <p:nvSpPr>
          <p:cNvPr id="13" name="Text 11"/>
          <p:cNvSpPr txBox="1"/>
          <p:nvPr/>
        </p:nvSpPr>
        <p:spPr>
          <a:xfrm>
            <a:off x="7452360" y="2926080"/>
            <a:ext cx="4023360" cy="1737360"/>
          </a:xfrm>
          <a:prstGeom prst="rect">
            <a:avLst/>
          </a:prstGeom>
          <a:noFill/>
          <a:ln/>
        </p:spPr>
        <p:txBody>
          <a:bodyPr wrap="square" lIns="0" tIns="0" rIns="0" bIns="0" rtlCol="0" anchor="ctr"/>
          <a:lstStyle/>
          <a:p>
            <a:pPr indent="0" marL="0">
              <a:buNone/>
            </a:pPr>
            <a:r>
              <a:rPr lang="en-US" sz="1400" dirty="0">
                <a:solidFill>
                  <a:srgbClr val="E8B4B0"/>
                </a:solidFill>
                <a:latin typeface="Courier New" pitchFamily="34" charset="0"/>
                <a:ea typeface="Courier New" pitchFamily="34" charset="-122"/>
                <a:cs typeface="Courier New" pitchFamily="34" charset="-120"/>
              </a:rPr>
              <a:t>[Fact]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void TopeDeApilar()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var p = new Pila&lt;int&gt;();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p.Apilar(7);</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Assert.Equal(7, p.Tope());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4" name="Shape 12"/>
          <p:cNvSpPr/>
          <p:nvPr/>
        </p:nvSpPr>
        <p:spPr>
          <a:xfrm>
            <a:off x="548640" y="5029200"/>
            <a:ext cx="11064240" cy="1051560"/>
          </a:xfrm>
          <a:prstGeom prst="roundRect">
            <a:avLst>
              <a:gd name="adj" fmla="val 6957"/>
            </a:avLst>
          </a:prstGeom>
          <a:solidFill>
            <a:schemeClr val="accent4"/>
          </a:solidFill>
          <a:ln w="12700">
            <a:solidFill>
              <a:schemeClr val="accent4"/>
            </a:solidFill>
            <a:prstDash val="solid"/>
          </a:ln>
        </p:spPr>
      </p:sp>
      <p:sp>
        <p:nvSpPr>
          <p:cNvPr id="15" name="Shape 13"/>
          <p:cNvSpPr/>
          <p:nvPr/>
        </p:nvSpPr>
        <p:spPr>
          <a:xfrm>
            <a:off x="777240" y="5193792"/>
            <a:ext cx="731520" cy="731520"/>
          </a:xfrm>
          <a:prstGeom prst="ellipse">
            <a:avLst/>
          </a:prstGeom>
          <a:solidFill>
            <a:schemeClr val="accent1"/>
          </a:solidFill>
          <a:ln w="12700">
            <a:solidFill>
              <a:schemeClr val="accent1"/>
            </a:solidFill>
            <a:prstDash val="solid"/>
          </a:ln>
        </p:spPr>
      </p:sp>
      <p:pic>
        <p:nvPicPr>
          <p:cNvPr id="16" name="Image 0" descr="preencoded.png">    </p:cNvPr>
          <p:cNvPicPr>
            <a:picLocks noChangeAspect="1"/>
          </p:cNvPicPr>
          <p:nvPr/>
        </p:nvPicPr>
        <p:blipFill>
          <a:blip r:embed="rId1"/>
          <a:stretch>
            <a:fillRect/>
          </a:stretch>
        </p:blipFill>
        <p:spPr>
          <a:xfrm>
            <a:off x="960120" y="5376672"/>
            <a:ext cx="365760" cy="365760"/>
          </a:xfrm>
          <a:prstGeom prst="rect">
            <a:avLst/>
          </a:prstGeom>
        </p:spPr>
      </p:pic>
      <p:sp>
        <p:nvSpPr>
          <p:cNvPr id="17" name="Text 14"/>
          <p:cNvSpPr txBox="1"/>
          <p:nvPr/>
        </p:nvSpPr>
        <p:spPr>
          <a:xfrm>
            <a:off x="1737360" y="5029200"/>
            <a:ext cx="9692640" cy="1051560"/>
          </a:xfrm>
          <a:prstGeom prst="rect">
            <a:avLst/>
          </a:prstGeom>
          <a:noFill/>
          <a:ln/>
        </p:spPr>
        <p:txBody>
          <a:bodyPr wrap="square" lIns="0" tIns="0" rIns="0" bIns="0" rtlCol="0" anchor="ctr"/>
          <a:lstStyle/>
          <a:p>
            <a:pPr indent="0" marL="0">
              <a:buNone/>
            </a:pPr>
            <a:r>
              <a:rPr lang="en-US" sz="1550" dirty="0">
                <a:solidFill>
                  <a:schemeClr val="tx1"/>
                </a:solidFill>
              </a:rPr>
              <a:t>La especificación algebraica es simbólicamente ejecutable: permite responder preguntas sobre el TAD antes de implementarlo, y sus axiomas guían las pruebas unitarias de la implementación.</a:t>
            </a:r>
            <a:endParaRPr lang="en-US" sz="15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5.7 · CONSTRUCCIÓN Y USO DE ESPECIFICACIONES EN LA PRÁCTICA</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El documento de especificación de requisitos</a:t>
            </a:r>
            <a:endParaRPr lang="en-US" sz="3400" dirty="0"/>
          </a:p>
        </p:txBody>
      </p:sp>
      <p:sp>
        <p:nvSpPr>
          <p:cNvPr id="4" name="Text 2"/>
          <p:cNvSpPr txBox="1"/>
          <p:nvPr/>
        </p:nvSpPr>
        <p:spPr>
          <a:xfrm>
            <a:off x="548640" y="1691640"/>
            <a:ext cx="5852160" cy="365760"/>
          </a:xfrm>
          <a:prstGeom prst="rect">
            <a:avLst/>
          </a:prstGeom>
          <a:noFill/>
          <a:ln/>
        </p:spPr>
        <p:txBody>
          <a:bodyPr wrap="square" lIns="0" tIns="0" rIns="0" bIns="0" rtlCol="0" anchor="t"/>
          <a:lstStyle/>
          <a:p>
            <a:pPr indent="0" marL="0">
              <a:buNone/>
            </a:pPr>
            <a:r>
              <a:rPr lang="en-US" sz="1500" i="1" dirty="0">
                <a:solidFill>
                  <a:schemeClr val="accent5"/>
                </a:solidFill>
              </a:rPr>
              <a:t>Estructura típica según ISO/IEC/IEEE 29148 (sucesora de IEEE 830)</a:t>
            </a:r>
            <a:endParaRPr lang="en-US" sz="1500" dirty="0"/>
          </a:p>
        </p:txBody>
      </p:sp>
      <p:sp>
        <p:nvSpPr>
          <p:cNvPr id="5" name="Shape 3"/>
          <p:cNvSpPr/>
          <p:nvPr/>
        </p:nvSpPr>
        <p:spPr>
          <a:xfrm>
            <a:off x="548640" y="2148840"/>
            <a:ext cx="5852160" cy="868680"/>
          </a:xfrm>
          <a:prstGeom prst="roundRect">
            <a:avLst>
              <a:gd name="adj" fmla="val 8421"/>
            </a:avLst>
          </a:prstGeom>
          <a:solidFill>
            <a:schemeClr val="bg2"/>
          </a:solidFill>
          <a:ln w="12700">
            <a:solidFill>
              <a:schemeClr val="accent3"/>
            </a:solidFill>
            <a:prstDash val="solid"/>
          </a:ln>
        </p:spPr>
      </p:sp>
      <p:sp>
        <p:nvSpPr>
          <p:cNvPr id="6" name="Text 4"/>
          <p:cNvSpPr txBox="1"/>
          <p:nvPr/>
        </p:nvSpPr>
        <p:spPr>
          <a:xfrm>
            <a:off x="685800" y="2148840"/>
            <a:ext cx="502920" cy="86868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1325880" y="2194560"/>
            <a:ext cx="4937760" cy="777240"/>
          </a:xfrm>
          <a:prstGeom prst="rect">
            <a:avLst/>
          </a:prstGeom>
          <a:noFill/>
          <a:ln/>
        </p:spPr>
        <p:txBody>
          <a:bodyPr wrap="square" lIns="0" tIns="0" rIns="0" bIns="0" rtlCol="0" anchor="ctr"/>
          <a:lstStyle/>
          <a:p>
            <a:pPr indent="0" marL="0">
              <a:buNone/>
            </a:pPr>
            <a:r>
              <a:rPr lang="en-US" sz="1600" b="1" dirty="0">
                <a:solidFill>
                  <a:schemeClr val="tx2"/>
                </a:solidFill>
              </a:rPr>
              <a:t>Introducción</a:t>
            </a:r>
            <a:endParaRPr lang="en-US" sz="1600" dirty="0"/>
          </a:p>
          <a:p>
            <a:pPr indent="0" marL="0">
              <a:buNone/>
            </a:pPr>
            <a:r>
              <a:rPr lang="en-US" sz="1300" dirty="0">
                <a:solidFill>
                  <a:schemeClr val="tx1"/>
                </a:solidFill>
              </a:rPr>
              <a:t>Propósito, alcance, definiciones, referencias</a:t>
            </a:r>
            <a:endParaRPr lang="en-US" sz="1600" dirty="0"/>
          </a:p>
        </p:txBody>
      </p:sp>
      <p:sp>
        <p:nvSpPr>
          <p:cNvPr id="8" name="Shape 6"/>
          <p:cNvSpPr/>
          <p:nvPr/>
        </p:nvSpPr>
        <p:spPr>
          <a:xfrm>
            <a:off x="548640" y="3154680"/>
            <a:ext cx="5852160" cy="868680"/>
          </a:xfrm>
          <a:prstGeom prst="roundRect">
            <a:avLst>
              <a:gd name="adj" fmla="val 8421"/>
            </a:avLst>
          </a:prstGeom>
          <a:solidFill>
            <a:schemeClr val="bg2"/>
          </a:solidFill>
          <a:ln w="12700">
            <a:solidFill>
              <a:schemeClr val="accent3"/>
            </a:solidFill>
            <a:prstDash val="solid"/>
          </a:ln>
        </p:spPr>
      </p:sp>
      <p:sp>
        <p:nvSpPr>
          <p:cNvPr id="9" name="Text 7"/>
          <p:cNvSpPr txBox="1"/>
          <p:nvPr/>
        </p:nvSpPr>
        <p:spPr>
          <a:xfrm>
            <a:off x="685800" y="3154680"/>
            <a:ext cx="502920" cy="86868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2</a:t>
            </a:r>
            <a:endParaRPr lang="en-US" sz="2600" dirty="0"/>
          </a:p>
        </p:txBody>
      </p:sp>
      <p:sp>
        <p:nvSpPr>
          <p:cNvPr id="10" name="Text 8"/>
          <p:cNvSpPr txBox="1"/>
          <p:nvPr/>
        </p:nvSpPr>
        <p:spPr>
          <a:xfrm>
            <a:off x="1325880" y="3200400"/>
            <a:ext cx="4937760" cy="777240"/>
          </a:xfrm>
          <a:prstGeom prst="rect">
            <a:avLst/>
          </a:prstGeom>
          <a:noFill/>
          <a:ln/>
        </p:spPr>
        <p:txBody>
          <a:bodyPr wrap="square" lIns="0" tIns="0" rIns="0" bIns="0" rtlCol="0" anchor="ctr"/>
          <a:lstStyle/>
          <a:p>
            <a:pPr indent="0" marL="0">
              <a:buNone/>
            </a:pPr>
            <a:r>
              <a:rPr lang="en-US" sz="1600" b="1" dirty="0">
                <a:solidFill>
                  <a:schemeClr val="tx2"/>
                </a:solidFill>
              </a:rPr>
              <a:t>Descripción general</a:t>
            </a:r>
            <a:endParaRPr lang="en-US" sz="1600" dirty="0"/>
          </a:p>
          <a:p>
            <a:pPr indent="0" marL="0">
              <a:buNone/>
            </a:pPr>
            <a:r>
              <a:rPr lang="en-US" sz="1300" dirty="0">
                <a:solidFill>
                  <a:schemeClr val="tx1"/>
                </a:solidFill>
              </a:rPr>
              <a:t>Perspectiva del producto, funciones, usuarios, restricciones, supuestos</a:t>
            </a:r>
            <a:endParaRPr lang="en-US" sz="1600" dirty="0"/>
          </a:p>
        </p:txBody>
      </p:sp>
      <p:sp>
        <p:nvSpPr>
          <p:cNvPr id="11" name="Shape 9"/>
          <p:cNvSpPr/>
          <p:nvPr/>
        </p:nvSpPr>
        <p:spPr>
          <a:xfrm>
            <a:off x="548640" y="4160520"/>
            <a:ext cx="5852160" cy="868680"/>
          </a:xfrm>
          <a:prstGeom prst="roundRect">
            <a:avLst>
              <a:gd name="adj" fmla="val 8421"/>
            </a:avLst>
          </a:prstGeom>
          <a:solidFill>
            <a:schemeClr val="accent4"/>
          </a:solidFill>
          <a:ln w="19050">
            <a:solidFill>
              <a:schemeClr val="accent1"/>
            </a:solidFill>
            <a:prstDash val="solid"/>
          </a:ln>
        </p:spPr>
      </p:sp>
      <p:sp>
        <p:nvSpPr>
          <p:cNvPr id="12" name="Text 10"/>
          <p:cNvSpPr txBox="1"/>
          <p:nvPr/>
        </p:nvSpPr>
        <p:spPr>
          <a:xfrm>
            <a:off x="685800" y="4160520"/>
            <a:ext cx="502920" cy="86868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3</a:t>
            </a:r>
            <a:endParaRPr lang="en-US" sz="2600" dirty="0"/>
          </a:p>
        </p:txBody>
      </p:sp>
      <p:sp>
        <p:nvSpPr>
          <p:cNvPr id="13" name="Text 11"/>
          <p:cNvSpPr txBox="1"/>
          <p:nvPr/>
        </p:nvSpPr>
        <p:spPr>
          <a:xfrm>
            <a:off x="1325880" y="4206240"/>
            <a:ext cx="4937760" cy="777240"/>
          </a:xfrm>
          <a:prstGeom prst="rect">
            <a:avLst/>
          </a:prstGeom>
          <a:noFill/>
          <a:ln/>
        </p:spPr>
        <p:txBody>
          <a:bodyPr wrap="square" lIns="0" tIns="0" rIns="0" bIns="0" rtlCol="0" anchor="ctr"/>
          <a:lstStyle/>
          <a:p>
            <a:pPr indent="0" marL="0">
              <a:buNone/>
            </a:pPr>
            <a:r>
              <a:rPr lang="en-US" sz="1600" b="1" dirty="0">
                <a:solidFill>
                  <a:schemeClr val="tx2"/>
                </a:solidFill>
              </a:rPr>
              <a:t>Requisitos específicos</a:t>
            </a:r>
            <a:endParaRPr lang="en-US" sz="1600" dirty="0"/>
          </a:p>
          <a:p>
            <a:pPr indent="0" marL="0">
              <a:buNone/>
            </a:pPr>
            <a:r>
              <a:rPr lang="en-US" sz="1300" dirty="0">
                <a:solidFill>
                  <a:schemeClr val="tx1"/>
                </a:solidFill>
              </a:rPr>
              <a:t>Funcionales, interfaces externas, rendimiento, atributos de calidad, restricciones de diseño</a:t>
            </a:r>
            <a:endParaRPr lang="en-US" sz="1600" dirty="0"/>
          </a:p>
        </p:txBody>
      </p:sp>
      <p:sp>
        <p:nvSpPr>
          <p:cNvPr id="14" name="Shape 12"/>
          <p:cNvSpPr/>
          <p:nvPr/>
        </p:nvSpPr>
        <p:spPr>
          <a:xfrm>
            <a:off x="548640" y="5166360"/>
            <a:ext cx="5852160" cy="868680"/>
          </a:xfrm>
          <a:prstGeom prst="roundRect">
            <a:avLst>
              <a:gd name="adj" fmla="val 8421"/>
            </a:avLst>
          </a:prstGeom>
          <a:solidFill>
            <a:schemeClr val="bg2"/>
          </a:solidFill>
          <a:ln w="12700">
            <a:solidFill>
              <a:schemeClr val="accent3"/>
            </a:solidFill>
            <a:prstDash val="solid"/>
          </a:ln>
        </p:spPr>
      </p:sp>
      <p:sp>
        <p:nvSpPr>
          <p:cNvPr id="15" name="Text 13"/>
          <p:cNvSpPr txBox="1"/>
          <p:nvPr/>
        </p:nvSpPr>
        <p:spPr>
          <a:xfrm>
            <a:off x="685800" y="5166360"/>
            <a:ext cx="502920" cy="86868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4</a:t>
            </a:r>
            <a:endParaRPr lang="en-US" sz="2600" dirty="0"/>
          </a:p>
        </p:txBody>
      </p:sp>
      <p:sp>
        <p:nvSpPr>
          <p:cNvPr id="16" name="Text 14"/>
          <p:cNvSpPr txBox="1"/>
          <p:nvPr/>
        </p:nvSpPr>
        <p:spPr>
          <a:xfrm>
            <a:off x="1325880" y="5212080"/>
            <a:ext cx="4937760" cy="777240"/>
          </a:xfrm>
          <a:prstGeom prst="rect">
            <a:avLst/>
          </a:prstGeom>
          <a:noFill/>
          <a:ln/>
        </p:spPr>
        <p:txBody>
          <a:bodyPr wrap="square" lIns="0" tIns="0" rIns="0" bIns="0" rtlCol="0" anchor="ctr"/>
          <a:lstStyle/>
          <a:p>
            <a:pPr indent="0" marL="0">
              <a:buNone/>
            </a:pPr>
            <a:r>
              <a:rPr lang="en-US" sz="1600" b="1" dirty="0">
                <a:solidFill>
                  <a:schemeClr val="tx2"/>
                </a:solidFill>
              </a:rPr>
              <a:t>Apéndices</a:t>
            </a:r>
            <a:endParaRPr lang="en-US" sz="1600" dirty="0"/>
          </a:p>
          <a:p>
            <a:pPr indent="0" marL="0">
              <a:buNone/>
            </a:pPr>
            <a:r>
              <a:rPr lang="en-US" sz="1300" dirty="0">
                <a:solidFill>
                  <a:schemeClr val="tx1"/>
                </a:solidFill>
              </a:rPr>
              <a:t>Modelos de apoyo, glosario, índice</a:t>
            </a:r>
            <a:endParaRPr lang="en-US" sz="1600" dirty="0"/>
          </a:p>
        </p:txBody>
      </p:sp>
      <p:sp>
        <p:nvSpPr>
          <p:cNvPr id="17" name="Text 15"/>
          <p:cNvSpPr txBox="1"/>
          <p:nvPr/>
        </p:nvSpPr>
        <p:spPr>
          <a:xfrm>
            <a:off x="6766560" y="1691640"/>
            <a:ext cx="4846320" cy="411480"/>
          </a:xfrm>
          <a:prstGeom prst="rect">
            <a:avLst/>
          </a:prstGeom>
          <a:noFill/>
          <a:ln/>
        </p:spPr>
        <p:txBody>
          <a:bodyPr wrap="square" lIns="0" tIns="0" rIns="0" bIns="0" rtlCol="0" anchor="t"/>
          <a:lstStyle/>
          <a:p>
            <a:pPr indent="0" marL="0">
              <a:buNone/>
            </a:pPr>
            <a:r>
              <a:rPr lang="en-US" sz="1800" b="1" dirty="0">
                <a:solidFill>
                  <a:schemeClr val="tx2"/>
                </a:solidFill>
              </a:rPr>
              <a:t>Pautas de construcción</a:t>
            </a:r>
            <a:endParaRPr lang="en-US" sz="1800" dirty="0"/>
          </a:p>
        </p:txBody>
      </p:sp>
      <p:sp>
        <p:nvSpPr>
          <p:cNvPr id="18" name="Shape 16"/>
          <p:cNvSpPr/>
          <p:nvPr/>
        </p:nvSpPr>
        <p:spPr>
          <a:xfrm>
            <a:off x="6766560" y="2286000"/>
            <a:ext cx="640080" cy="640080"/>
          </a:xfrm>
          <a:prstGeom prst="ellipse">
            <a:avLst/>
          </a:prstGeom>
          <a:solidFill>
            <a:schemeClr val="tx2"/>
          </a:solidFill>
          <a:ln w="12700">
            <a:solidFill>
              <a:schemeClr val="tx2"/>
            </a:solidFill>
            <a:prstDash val="solid"/>
          </a:ln>
        </p:spPr>
      </p:sp>
      <p:pic>
        <p:nvPicPr>
          <p:cNvPr id="19" name="Image 0" descr="preencoded.png">    </p:cNvPr>
          <p:cNvPicPr>
            <a:picLocks noChangeAspect="1"/>
          </p:cNvPicPr>
          <p:nvPr/>
        </p:nvPicPr>
        <p:blipFill>
          <a:blip r:embed="rId1"/>
          <a:stretch>
            <a:fillRect/>
          </a:stretch>
        </p:blipFill>
        <p:spPr>
          <a:xfrm>
            <a:off x="6926580" y="2446020"/>
            <a:ext cx="320040" cy="320040"/>
          </a:xfrm>
          <a:prstGeom prst="rect">
            <a:avLst/>
          </a:prstGeom>
        </p:spPr>
      </p:pic>
      <p:sp>
        <p:nvSpPr>
          <p:cNvPr id="20" name="Text 17"/>
          <p:cNvSpPr txBox="1"/>
          <p:nvPr/>
        </p:nvSpPr>
        <p:spPr>
          <a:xfrm>
            <a:off x="7589520" y="2194560"/>
            <a:ext cx="4023360" cy="822960"/>
          </a:xfrm>
          <a:prstGeom prst="rect">
            <a:avLst/>
          </a:prstGeom>
          <a:noFill/>
          <a:ln/>
        </p:spPr>
        <p:txBody>
          <a:bodyPr wrap="square" lIns="0" tIns="0" rIns="0" bIns="0" rtlCol="0" anchor="ctr"/>
          <a:lstStyle/>
          <a:p>
            <a:pPr indent="0" marL="0">
              <a:buNone/>
            </a:pPr>
            <a:r>
              <a:rPr lang="en-US" sz="1600" dirty="0">
                <a:solidFill>
                  <a:schemeClr val="tx1"/>
                </a:solidFill>
              </a:rPr>
              <a:t>Usar el estilo adecuado a cada parte del sistema</a:t>
            </a:r>
            <a:endParaRPr lang="en-US" sz="1600" dirty="0"/>
          </a:p>
        </p:txBody>
      </p:sp>
      <p:sp>
        <p:nvSpPr>
          <p:cNvPr id="21" name="Shape 18"/>
          <p:cNvSpPr/>
          <p:nvPr/>
        </p:nvSpPr>
        <p:spPr>
          <a:xfrm>
            <a:off x="6766560" y="3273552"/>
            <a:ext cx="640080" cy="640080"/>
          </a:xfrm>
          <a:prstGeom prst="ellipse">
            <a:avLst/>
          </a:prstGeom>
          <a:solidFill>
            <a:schemeClr val="tx2"/>
          </a:solidFill>
          <a:ln w="12700">
            <a:solidFill>
              <a:schemeClr val="tx2"/>
            </a:solidFill>
            <a:prstDash val="solid"/>
          </a:ln>
        </p:spPr>
      </p:sp>
      <p:pic>
        <p:nvPicPr>
          <p:cNvPr id="22" name="Image 1" descr="preencoded.png">    </p:cNvPr>
          <p:cNvPicPr>
            <a:picLocks noChangeAspect="1"/>
          </p:cNvPicPr>
          <p:nvPr/>
        </p:nvPicPr>
        <p:blipFill>
          <a:blip r:embed="rId2"/>
          <a:stretch>
            <a:fillRect/>
          </a:stretch>
        </p:blipFill>
        <p:spPr>
          <a:xfrm>
            <a:off x="6926580" y="3433572"/>
            <a:ext cx="320040" cy="320040"/>
          </a:xfrm>
          <a:prstGeom prst="rect">
            <a:avLst/>
          </a:prstGeom>
        </p:spPr>
      </p:pic>
      <p:sp>
        <p:nvSpPr>
          <p:cNvPr id="23" name="Text 19"/>
          <p:cNvSpPr txBox="1"/>
          <p:nvPr/>
        </p:nvSpPr>
        <p:spPr>
          <a:xfrm>
            <a:off x="7589520" y="3182112"/>
            <a:ext cx="4023360" cy="822960"/>
          </a:xfrm>
          <a:prstGeom prst="rect">
            <a:avLst/>
          </a:prstGeom>
          <a:noFill/>
          <a:ln/>
        </p:spPr>
        <p:txBody>
          <a:bodyPr wrap="square" lIns="0" tIns="0" rIns="0" bIns="0" rtlCol="0" anchor="ctr"/>
          <a:lstStyle/>
          <a:p>
            <a:pPr indent="0" marL="0">
              <a:buNone/>
            </a:pPr>
            <a:r>
              <a:rPr lang="en-US" sz="1600" dirty="0">
                <a:solidFill>
                  <a:schemeClr val="tx1"/>
                </a:solidFill>
              </a:rPr>
              <a:t>Combinar lenguaje natural con notaciones semiformales y formales</a:t>
            </a:r>
            <a:endParaRPr lang="en-US" sz="1600" dirty="0"/>
          </a:p>
        </p:txBody>
      </p:sp>
      <p:sp>
        <p:nvSpPr>
          <p:cNvPr id="24" name="Shape 20"/>
          <p:cNvSpPr/>
          <p:nvPr/>
        </p:nvSpPr>
        <p:spPr>
          <a:xfrm>
            <a:off x="6766560" y="4261104"/>
            <a:ext cx="640080" cy="640080"/>
          </a:xfrm>
          <a:prstGeom prst="ellipse">
            <a:avLst/>
          </a:prstGeom>
          <a:solidFill>
            <a:schemeClr val="tx2"/>
          </a:solidFill>
          <a:ln w="12700">
            <a:solidFill>
              <a:schemeClr val="tx2"/>
            </a:solidFill>
            <a:prstDash val="solid"/>
          </a:ln>
        </p:spPr>
      </p:sp>
      <p:pic>
        <p:nvPicPr>
          <p:cNvPr id="25" name="Image 2" descr="preencoded.png">    </p:cNvPr>
          <p:cNvPicPr>
            <a:picLocks noChangeAspect="1"/>
          </p:cNvPicPr>
          <p:nvPr/>
        </p:nvPicPr>
        <p:blipFill>
          <a:blip r:embed="rId3"/>
          <a:stretch>
            <a:fillRect/>
          </a:stretch>
        </p:blipFill>
        <p:spPr>
          <a:xfrm>
            <a:off x="6926580" y="4421124"/>
            <a:ext cx="320040" cy="320040"/>
          </a:xfrm>
          <a:prstGeom prst="rect">
            <a:avLst/>
          </a:prstGeom>
        </p:spPr>
      </p:pic>
      <p:sp>
        <p:nvSpPr>
          <p:cNvPr id="26" name="Text 21"/>
          <p:cNvSpPr txBox="1"/>
          <p:nvPr/>
        </p:nvSpPr>
        <p:spPr>
          <a:xfrm>
            <a:off x="7589520" y="4169664"/>
            <a:ext cx="4023360" cy="822960"/>
          </a:xfrm>
          <a:prstGeom prst="rect">
            <a:avLst/>
          </a:prstGeom>
          <a:noFill/>
          <a:ln/>
        </p:spPr>
        <p:txBody>
          <a:bodyPr wrap="square" lIns="0" tIns="0" rIns="0" bIns="0" rtlCol="0" anchor="ctr"/>
          <a:lstStyle/>
          <a:p>
            <a:pPr indent="0" marL="0">
              <a:buNone/>
            </a:pPr>
            <a:r>
              <a:rPr lang="en-US" sz="1600" dirty="0">
                <a:solidFill>
                  <a:schemeClr val="tx1"/>
                </a:solidFill>
              </a:rPr>
              <a:t>Mantener trazabilidad: requisito ↔ diseño ↔ prueba</a:t>
            </a:r>
            <a:endParaRPr lang="en-US" sz="1600" dirty="0"/>
          </a:p>
        </p:txBody>
      </p:sp>
      <p:sp>
        <p:nvSpPr>
          <p:cNvPr id="27" name="Shape 22"/>
          <p:cNvSpPr/>
          <p:nvPr/>
        </p:nvSpPr>
        <p:spPr>
          <a:xfrm>
            <a:off x="6766560" y="5248656"/>
            <a:ext cx="640080" cy="640080"/>
          </a:xfrm>
          <a:prstGeom prst="ellipse">
            <a:avLst/>
          </a:prstGeom>
          <a:solidFill>
            <a:schemeClr val="accent1"/>
          </a:solidFill>
          <a:ln w="12700">
            <a:solidFill>
              <a:schemeClr val="accent1"/>
            </a:solidFill>
            <a:prstDash val="solid"/>
          </a:ln>
        </p:spPr>
      </p:sp>
      <p:pic>
        <p:nvPicPr>
          <p:cNvPr id="28" name="Image 3" descr="preencoded.png">    </p:cNvPr>
          <p:cNvPicPr>
            <a:picLocks noChangeAspect="1"/>
          </p:cNvPicPr>
          <p:nvPr/>
        </p:nvPicPr>
        <p:blipFill>
          <a:blip r:embed="rId4"/>
          <a:stretch>
            <a:fillRect/>
          </a:stretch>
        </p:blipFill>
        <p:spPr>
          <a:xfrm>
            <a:off x="6926580" y="5408676"/>
            <a:ext cx="320040" cy="320040"/>
          </a:xfrm>
          <a:prstGeom prst="rect">
            <a:avLst/>
          </a:prstGeom>
        </p:spPr>
      </p:pic>
      <p:sp>
        <p:nvSpPr>
          <p:cNvPr id="29" name="Text 23"/>
          <p:cNvSpPr txBox="1"/>
          <p:nvPr/>
        </p:nvSpPr>
        <p:spPr>
          <a:xfrm>
            <a:off x="7589520" y="5157216"/>
            <a:ext cx="4023360" cy="822960"/>
          </a:xfrm>
          <a:prstGeom prst="rect">
            <a:avLst/>
          </a:prstGeom>
          <a:noFill/>
          <a:ln/>
        </p:spPr>
        <p:txBody>
          <a:bodyPr wrap="square" lIns="0" tIns="0" rIns="0" bIns="0" rtlCol="0" anchor="ctr"/>
          <a:lstStyle/>
          <a:p>
            <a:pPr indent="0" marL="0">
              <a:buNone/>
            </a:pPr>
            <a:r>
              <a:rPr lang="en-US" sz="1600" dirty="0">
                <a:solidFill>
                  <a:schemeClr val="tx1"/>
                </a:solidFill>
              </a:rPr>
              <a:t>Formalizar donde el costo de un error es alto</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5.7 · CONSTRUCCIÓN Y USO DE ESPECIFICACIONES EN LA PRÁCTICA</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¿Qué notación para qué aspecto?</a:t>
            </a:r>
            <a:endParaRPr lang="en-US" sz="3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4023360"/>
                <a:gridCol w="3931920"/>
                <a:gridCol w="3108960"/>
              </a:tblGrid>
              <a:tr h="548640">
                <a:tc>
                  <a:txBody>
                    <a:bodyPr/>
                    <a:lstStyle/>
                    <a:p>
                      <a:pPr indent="0" marL="0">
                        <a:buNone/>
                      </a:pPr>
                      <a:r>
                        <a:rPr lang="en-US" sz="1600" b="1" dirty="0">
                          <a:solidFill>
                            <a:schemeClr val="bg1"/>
                          </a:solidFill>
                        </a:rPr>
                        <a:t>Aspecto a especificar</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Notación sugerida</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Estilo</a:t>
                      </a:r>
                      <a:endParaRPr lang="en-US" sz="16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tx2"/>
                    </a:solidFill>
                  </a:tcPr>
                </a:tc>
              </a:tr>
              <a:tr h="548640">
                <a:tc>
                  <a:txBody>
                    <a:bodyPr/>
                    <a:lstStyle/>
                    <a:p>
                      <a:pPr indent="0" marL="0">
                        <a:buNone/>
                      </a:pPr>
                      <a:r>
                        <a:rPr lang="en-US" sz="1500" dirty="0">
                          <a:solidFill>
                            <a:schemeClr val="tx1"/>
                          </a:solidFill>
                        </a:rPr>
                        <a:t>Estructura de los datos</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Diagrama E-R / diagrama de clases</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Descriptivo · semiformal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Flujo de información</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DFD</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Operacional · semiformal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Comportamiento reactivo</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MEF / Statecharts</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Operacional · formal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Concurrencia y sincronización</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Redes de Petri</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Operacional · formal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Efecto de funciones u operaciones</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Pre y postcondiciones</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Descriptivo · formal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Tipos abstractos de datos</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Especificación algebraica</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5"/>
                          </a:solidFill>
                        </a:rPr>
                        <a:t>Descriptivo · formal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Escenarios de aceptación</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Historias de usuario + Gherkin</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5"/>
                          </a:solidFill>
                        </a:rPr>
                        <a:t>Descriptivo · semiformal</a:t>
                      </a:r>
                      <a:endParaRPr lang="en-US" sz="1500" dirty="0"/>
                    </a:p>
                  </a:txBody>
                  <a:tcPr marL="91440" marR="91440" marT="91440" marB="91440" anchor="ctr">
                    <a:lnL w="12700" cap="flat" cmpd="sng" algn="ctr">
                      <a:solidFill>
                        <a:srgbClr val="D3D9EA"/>
                      </a:solidFill>
                      <a:prstDash val="solid"/>
                      <a:round/>
                      <a:headEnd type="none" w="med" len="med"/>
                      <a:tailEnd type="none" w="med" len="med"/>
                    </a:lnL>
                    <a:lnR w="12700" cap="flat" cmpd="sng" algn="ctr">
                      <a:solidFill>
                        <a:srgbClr val="D3D9EA"/>
                      </a:solidFill>
                      <a:prstDash val="solid"/>
                      <a:round/>
                      <a:headEnd type="none" w="med" len="med"/>
                      <a:tailEnd type="none" w="med" len="med"/>
                    </a:lnR>
                    <a:lnT w="12700" cap="flat" cmpd="sng" algn="ctr">
                      <a:solidFill>
                        <a:srgbClr val="D3D9EA"/>
                      </a:solidFill>
                      <a:prstDash val="solid"/>
                      <a:round/>
                      <a:headEnd type="none" w="med" len="med"/>
                      <a:tailEnd type="none" w="med" len="med"/>
                    </a:lnT>
                    <a:lnB w="12700" cap="flat" cmpd="sng" algn="ctr">
                      <a:solidFill>
                        <a:srgbClr val="D3D9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5.7 · CONSTRUCCIÓN Y USO DE ESPECIFICACIONES EN LA PRÁCTICA</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La especificación en procesos ágiles</a:t>
            </a:r>
            <a:endParaRPr lang="en-US" sz="3400" dirty="0"/>
          </a:p>
        </p:txBody>
      </p:sp>
      <p:sp>
        <p:nvSpPr>
          <p:cNvPr id="4" name="Shape 2"/>
          <p:cNvSpPr/>
          <p:nvPr/>
        </p:nvSpPr>
        <p:spPr>
          <a:xfrm>
            <a:off x="548640" y="1737360"/>
            <a:ext cx="6035040" cy="960120"/>
          </a:xfrm>
          <a:prstGeom prst="roundRect">
            <a:avLst>
              <a:gd name="adj" fmla="val 7619"/>
            </a:avLst>
          </a:prstGeom>
          <a:solidFill>
            <a:schemeClr val="accent4"/>
          </a:solidFill>
          <a:ln w="12700">
            <a:solidFill>
              <a:schemeClr val="accent4"/>
            </a:solidFill>
            <a:prstDash val="solid"/>
          </a:ln>
        </p:spPr>
      </p:sp>
      <p:sp>
        <p:nvSpPr>
          <p:cNvPr id="5" name="Text 3"/>
          <p:cNvSpPr txBox="1"/>
          <p:nvPr/>
        </p:nvSpPr>
        <p:spPr>
          <a:xfrm>
            <a:off x="777240" y="1737360"/>
            <a:ext cx="5669280" cy="960120"/>
          </a:xfrm>
          <a:prstGeom prst="rect">
            <a:avLst/>
          </a:prstGeom>
          <a:noFill/>
          <a:ln/>
        </p:spPr>
        <p:txBody>
          <a:bodyPr wrap="square" lIns="0" tIns="0" rIns="0" bIns="0" rtlCol="0" anchor="ctr"/>
          <a:lstStyle/>
          <a:p>
            <a:pPr indent="0" marL="0">
              <a:buNone/>
            </a:pPr>
            <a:r>
              <a:rPr lang="en-US" sz="1600" i="1" dirty="0">
                <a:solidFill>
                  <a:schemeClr val="accent1"/>
                </a:solidFill>
              </a:rPr>
              <a:t>Como alumno, quiero inscribirme a una materia para asegurar mi lugar en el semestre.</a:t>
            </a:r>
            <a:endParaRPr lang="en-US" sz="1600" dirty="0"/>
          </a:p>
        </p:txBody>
      </p:sp>
      <p:sp>
        <p:nvSpPr>
          <p:cNvPr id="6" name="Shape 4"/>
          <p:cNvSpPr/>
          <p:nvPr/>
        </p:nvSpPr>
        <p:spPr>
          <a:xfrm>
            <a:off x="548640" y="2880360"/>
            <a:ext cx="6035040" cy="3200400"/>
          </a:xfrm>
          <a:prstGeom prst="roundRect">
            <a:avLst>
              <a:gd name="adj" fmla="val 2286"/>
            </a:avLst>
          </a:prstGeom>
          <a:solidFill>
            <a:schemeClr val="tx2"/>
          </a:solidFill>
          <a:ln w="12700">
            <a:solidFill>
              <a:schemeClr val="tx2"/>
            </a:solidFill>
            <a:prstDash val="solid"/>
          </a:ln>
        </p:spPr>
      </p:sp>
      <p:sp>
        <p:nvSpPr>
          <p:cNvPr id="7" name="Text 5"/>
          <p:cNvSpPr txBox="1"/>
          <p:nvPr/>
        </p:nvSpPr>
        <p:spPr>
          <a:xfrm>
            <a:off x="777240" y="3017520"/>
            <a:ext cx="5669280" cy="2926080"/>
          </a:xfrm>
          <a:prstGeom prst="rect">
            <a:avLst/>
          </a:prstGeom>
          <a:noFill/>
          <a:ln/>
        </p:spPr>
        <p:txBody>
          <a:bodyPr wrap="square" lIns="0" tIns="0" rIns="0" bIns="0" rtlCol="0" anchor="ctr"/>
          <a:lstStyle/>
          <a:p>
            <a:pPr indent="0" marL="0">
              <a:spcAft>
                <a:spcPts val="800"/>
              </a:spcAft>
              <a:buNone/>
            </a:pPr>
            <a:r>
              <a:rPr lang="en-US" sz="1500" b="1" dirty="0">
                <a:solidFill>
                  <a:srgbClr val="E8B4B0"/>
                </a:solidFill>
                <a:latin typeface="Courier New" pitchFamily="34" charset="0"/>
                <a:ea typeface="Courier New" pitchFamily="34" charset="-122"/>
                <a:cs typeface="Courier New" pitchFamily="34" charset="-120"/>
              </a:rPr>
              <a:t>Escenario: </a:t>
            </a:r>
            <a:pPr indent="0" marL="0">
              <a:spcAft>
                <a:spcPts val="800"/>
              </a:spcAft>
              <a:buNone/>
            </a:pPr>
            <a:r>
              <a:rPr lang="en-US" sz="1500" dirty="0">
                <a:solidFill>
                  <a:srgbClr val="FFFFFF"/>
                </a:solidFill>
                <a:latin typeface="Courier New" pitchFamily="34" charset="0"/>
                <a:ea typeface="Courier New" pitchFamily="34" charset="-122"/>
                <a:cs typeface="Courier New" pitchFamily="34" charset="-120"/>
              </a:rPr>
              <a:t>materia sin cupo</a:t>
            </a:r>
            <a:endParaRPr lang="en-US" sz="1500" dirty="0"/>
          </a:p>
          <a:p>
            <a:pPr indent="0" marL="0">
              <a:spcAft>
                <a:spcPts val="800"/>
              </a:spcAft>
              <a:buNone/>
            </a:pPr>
            <a:r>
              <a:rPr lang="en-US" sz="1500" b="1" dirty="0">
                <a:solidFill>
                  <a:srgbClr val="E8B4B0"/>
                </a:solidFill>
                <a:latin typeface="Courier New" pitchFamily="34" charset="0"/>
                <a:ea typeface="Courier New" pitchFamily="34" charset="-122"/>
                <a:cs typeface="Courier New" pitchFamily="34" charset="-120"/>
              </a:rPr>
              <a:t>  Dado </a:t>
            </a:r>
            <a:pPr indent="0" marL="0">
              <a:spcAft>
                <a:spcPts val="800"/>
              </a:spcAft>
              <a:buNone/>
            </a:pPr>
            <a:r>
              <a:rPr lang="en-US" sz="1500" dirty="0">
                <a:solidFill>
                  <a:srgbClr val="FFFFFF"/>
                </a:solidFill>
                <a:latin typeface="Courier New" pitchFamily="34" charset="0"/>
                <a:ea typeface="Courier New" pitchFamily="34" charset="-122"/>
                <a:cs typeface="Courier New" pitchFamily="34" charset="-120"/>
              </a:rPr>
              <a:t>que «Base de Datos II» tiene 0 cupos</a:t>
            </a:r>
            <a:endParaRPr lang="en-US" sz="1500" dirty="0"/>
          </a:p>
          <a:p>
            <a:pPr indent="0" marL="0">
              <a:spcAft>
                <a:spcPts val="800"/>
              </a:spcAft>
              <a:buNone/>
            </a:pPr>
            <a:r>
              <a:rPr lang="en-US" sz="1500" b="1" dirty="0">
                <a:solidFill>
                  <a:srgbClr val="E8B4B0"/>
                </a:solidFill>
                <a:latin typeface="Courier New" pitchFamily="34" charset="0"/>
                <a:ea typeface="Courier New" pitchFamily="34" charset="-122"/>
                <a:cs typeface="Courier New" pitchFamily="34" charset="-120"/>
              </a:rPr>
              <a:t>  Cuando </a:t>
            </a:r>
            <a:pPr indent="0" marL="0">
              <a:spcAft>
                <a:spcPts val="800"/>
              </a:spcAft>
              <a:buNone/>
            </a:pPr>
            <a:r>
              <a:rPr lang="en-US" sz="1500" dirty="0">
                <a:solidFill>
                  <a:srgbClr val="FFFFFF"/>
                </a:solidFill>
                <a:latin typeface="Courier New" pitchFamily="34" charset="0"/>
                <a:ea typeface="Courier New" pitchFamily="34" charset="-122"/>
                <a:cs typeface="Courier New" pitchFamily="34" charset="-120"/>
              </a:rPr>
              <a:t>el alumno solicita la inscripción</a:t>
            </a:r>
            <a:endParaRPr lang="en-US" sz="1500" dirty="0"/>
          </a:p>
          <a:p>
            <a:pPr indent="0" marL="0">
              <a:spcAft>
                <a:spcPts val="800"/>
              </a:spcAft>
              <a:buNone/>
            </a:pPr>
            <a:r>
              <a:rPr lang="en-US" sz="1500" b="1" dirty="0">
                <a:solidFill>
                  <a:srgbClr val="E8B4B0"/>
                </a:solidFill>
                <a:latin typeface="Courier New" pitchFamily="34" charset="0"/>
                <a:ea typeface="Courier New" pitchFamily="34" charset="-122"/>
                <a:cs typeface="Courier New" pitchFamily="34" charset="-120"/>
              </a:rPr>
              <a:t>  Entonces </a:t>
            </a:r>
            <a:pPr indent="0" marL="0">
              <a:spcAft>
                <a:spcPts val="800"/>
              </a:spcAft>
              <a:buNone/>
            </a:pPr>
            <a:r>
              <a:rPr lang="en-US" sz="1500" dirty="0">
                <a:solidFill>
                  <a:srgbClr val="FFFFFF"/>
                </a:solidFill>
                <a:latin typeface="Courier New" pitchFamily="34" charset="0"/>
                <a:ea typeface="Courier New" pitchFamily="34" charset="-122"/>
                <a:cs typeface="Courier New" pitchFamily="34" charset="-120"/>
              </a:rPr>
              <a:t>el sistema rechaza la solicitud</a:t>
            </a:r>
            <a:endParaRPr lang="en-US" sz="1500" dirty="0"/>
          </a:p>
          <a:p>
            <a:pPr indent="0" marL="0">
              <a:spcAft>
                <a:spcPts val="800"/>
              </a:spcAft>
              <a:buNone/>
            </a:pPr>
            <a:r>
              <a:rPr lang="en-US" sz="1500" b="1" dirty="0">
                <a:solidFill>
                  <a:srgbClr val="E8B4B0"/>
                </a:solidFill>
                <a:latin typeface="Courier New" pitchFamily="34" charset="0"/>
                <a:ea typeface="Courier New" pitchFamily="34" charset="-122"/>
                <a:cs typeface="Courier New" pitchFamily="34" charset="-120"/>
              </a:rPr>
              <a:t>  Y </a:t>
            </a:r>
            <a:pPr indent="0" marL="0">
              <a:spcAft>
                <a:spcPts val="800"/>
              </a:spcAft>
              <a:buNone/>
            </a:pPr>
            <a:r>
              <a:rPr lang="en-US" sz="1500" dirty="0">
                <a:solidFill>
                  <a:srgbClr val="FFFFFF"/>
                </a:solidFill>
                <a:latin typeface="Courier New" pitchFamily="34" charset="0"/>
                <a:ea typeface="Courier New" pitchFamily="34" charset="-122"/>
                <a:cs typeface="Courier New" pitchFamily="34" charset="-120"/>
              </a:rPr>
              <a:t>muestra «Sin cupo disponible»</a:t>
            </a:r>
            <a:endParaRPr lang="en-US" sz="1500" dirty="0"/>
          </a:p>
        </p:txBody>
      </p:sp>
      <p:sp>
        <p:nvSpPr>
          <p:cNvPr id="8" name="Shape 6"/>
          <p:cNvSpPr/>
          <p:nvPr/>
        </p:nvSpPr>
        <p:spPr>
          <a:xfrm>
            <a:off x="6858000" y="1737360"/>
            <a:ext cx="4754880" cy="1325880"/>
          </a:xfrm>
          <a:prstGeom prst="roundRect">
            <a:avLst>
              <a:gd name="adj" fmla="val 5517"/>
            </a:avLst>
          </a:prstGeom>
          <a:solidFill>
            <a:schemeClr val="bg2"/>
          </a:solidFill>
          <a:ln w="12700">
            <a:solidFill>
              <a:schemeClr val="accent3"/>
            </a:solidFill>
            <a:prstDash val="solid"/>
          </a:ln>
        </p:spPr>
      </p:sp>
      <p:sp>
        <p:nvSpPr>
          <p:cNvPr id="9" name="Shape 7"/>
          <p:cNvSpPr/>
          <p:nvPr/>
        </p:nvSpPr>
        <p:spPr>
          <a:xfrm>
            <a:off x="7040880" y="2057400"/>
            <a:ext cx="685800" cy="685800"/>
          </a:xfrm>
          <a:prstGeom prst="ellipse">
            <a:avLst/>
          </a:prstGeom>
          <a:solidFill>
            <a:schemeClr val="tx2"/>
          </a:solidFill>
          <a:ln w="12700">
            <a:solidFill>
              <a:schemeClr val="tx2"/>
            </a:solidFill>
            <a:prstDash val="solid"/>
          </a:ln>
        </p:spPr>
      </p:sp>
      <p:pic>
        <p:nvPicPr>
          <p:cNvPr id="10" name="Image 0" descr="preencoded.png">    </p:cNvPr>
          <p:cNvPicPr>
            <a:picLocks noChangeAspect="1"/>
          </p:cNvPicPr>
          <p:nvPr/>
        </p:nvPicPr>
        <p:blipFill>
          <a:blip r:embed="rId1"/>
          <a:stretch>
            <a:fillRect/>
          </a:stretch>
        </p:blipFill>
        <p:spPr>
          <a:xfrm>
            <a:off x="7212330" y="2228850"/>
            <a:ext cx="342900" cy="342900"/>
          </a:xfrm>
          <a:prstGeom prst="rect">
            <a:avLst/>
          </a:prstGeom>
        </p:spPr>
      </p:pic>
      <p:sp>
        <p:nvSpPr>
          <p:cNvPr id="11" name="Text 8"/>
          <p:cNvSpPr txBox="1"/>
          <p:nvPr/>
        </p:nvSpPr>
        <p:spPr>
          <a:xfrm>
            <a:off x="7909560" y="1810512"/>
            <a:ext cx="3611880" cy="1188720"/>
          </a:xfrm>
          <a:prstGeom prst="rect">
            <a:avLst/>
          </a:prstGeom>
          <a:noFill/>
          <a:ln/>
        </p:spPr>
        <p:txBody>
          <a:bodyPr wrap="square" lIns="0" tIns="0" rIns="0" bIns="0" rtlCol="0" anchor="ctr"/>
          <a:lstStyle/>
          <a:p>
            <a:pPr indent="0" marL="0">
              <a:buNone/>
            </a:pPr>
            <a:r>
              <a:rPr lang="en-US" sz="1600" b="1" dirty="0">
                <a:solidFill>
                  <a:schemeClr val="tx2"/>
                </a:solidFill>
              </a:rPr>
              <a:t>Dado / Cuando / Entonces</a:t>
            </a:r>
            <a:endParaRPr lang="en-US" sz="1600" dirty="0"/>
          </a:p>
          <a:p>
            <a:pPr indent="0" marL="0">
              <a:buNone/>
            </a:pPr>
            <a:r>
              <a:rPr lang="en-US" sz="1400" dirty="0">
                <a:solidFill>
                  <a:schemeClr val="tx1"/>
                </a:solidFill>
              </a:rPr>
              <a:t>equivale a precondición / operación / postcondición.</a:t>
            </a:r>
            <a:endParaRPr lang="en-US" sz="1600" dirty="0"/>
          </a:p>
        </p:txBody>
      </p:sp>
      <p:sp>
        <p:nvSpPr>
          <p:cNvPr id="12" name="Shape 9"/>
          <p:cNvSpPr/>
          <p:nvPr/>
        </p:nvSpPr>
        <p:spPr>
          <a:xfrm>
            <a:off x="6858000" y="3218688"/>
            <a:ext cx="4754880" cy="1325880"/>
          </a:xfrm>
          <a:prstGeom prst="roundRect">
            <a:avLst>
              <a:gd name="adj" fmla="val 5517"/>
            </a:avLst>
          </a:prstGeom>
          <a:solidFill>
            <a:schemeClr val="bg2"/>
          </a:solidFill>
          <a:ln w="12700">
            <a:solidFill>
              <a:schemeClr val="accent3"/>
            </a:solidFill>
            <a:prstDash val="solid"/>
          </a:ln>
        </p:spPr>
      </p:sp>
      <p:sp>
        <p:nvSpPr>
          <p:cNvPr id="13" name="Shape 10"/>
          <p:cNvSpPr/>
          <p:nvPr/>
        </p:nvSpPr>
        <p:spPr>
          <a:xfrm>
            <a:off x="7040880" y="3538728"/>
            <a:ext cx="685800" cy="685800"/>
          </a:xfrm>
          <a:prstGeom prst="ellipse">
            <a:avLst/>
          </a:prstGeom>
          <a:solidFill>
            <a:schemeClr val="tx2"/>
          </a:solidFill>
          <a:ln w="12700">
            <a:solidFill>
              <a:schemeClr val="tx2"/>
            </a:solidFill>
            <a:prstDash val="solid"/>
          </a:ln>
        </p:spPr>
      </p:sp>
      <p:pic>
        <p:nvPicPr>
          <p:cNvPr id="14" name="Image 1" descr="preencoded.png">    </p:cNvPr>
          <p:cNvPicPr>
            <a:picLocks noChangeAspect="1"/>
          </p:cNvPicPr>
          <p:nvPr/>
        </p:nvPicPr>
        <p:blipFill>
          <a:blip r:embed="rId2"/>
          <a:stretch>
            <a:fillRect/>
          </a:stretch>
        </p:blipFill>
        <p:spPr>
          <a:xfrm>
            <a:off x="7212330" y="3710178"/>
            <a:ext cx="342900" cy="342900"/>
          </a:xfrm>
          <a:prstGeom prst="rect">
            <a:avLst/>
          </a:prstGeom>
        </p:spPr>
      </p:pic>
      <p:sp>
        <p:nvSpPr>
          <p:cNvPr id="15" name="Text 11"/>
          <p:cNvSpPr txBox="1"/>
          <p:nvPr/>
        </p:nvSpPr>
        <p:spPr>
          <a:xfrm>
            <a:off x="7909560" y="3291840"/>
            <a:ext cx="3611880" cy="1188720"/>
          </a:xfrm>
          <a:prstGeom prst="rect">
            <a:avLst/>
          </a:prstGeom>
          <a:noFill/>
          <a:ln/>
        </p:spPr>
        <p:txBody>
          <a:bodyPr wrap="square" lIns="0" tIns="0" rIns="0" bIns="0" rtlCol="0" anchor="ctr"/>
          <a:lstStyle/>
          <a:p>
            <a:pPr indent="0" marL="0">
              <a:buNone/>
            </a:pPr>
            <a:r>
              <a:rPr lang="en-US" sz="1600" b="1" dirty="0">
                <a:solidFill>
                  <a:schemeClr val="tx2"/>
                </a:solidFill>
              </a:rPr>
              <a:t>Escenarios ejecutables</a:t>
            </a:r>
            <a:endParaRPr lang="en-US" sz="1600" dirty="0"/>
          </a:p>
          <a:p>
            <a:pPr indent="0" marL="0">
              <a:buNone/>
            </a:pPr>
            <a:r>
              <a:rPr lang="en-US" sz="1400" dirty="0">
                <a:solidFill>
                  <a:schemeClr val="tx1"/>
                </a:solidFill>
              </a:rPr>
              <a:t>Herramientas como Reqnroll (sucesor de SpecFlow) en .NET o Cucumber los convierten en pruebas automáticas.</a:t>
            </a:r>
            <a:endParaRPr lang="en-US" sz="1600" dirty="0"/>
          </a:p>
        </p:txBody>
      </p:sp>
      <p:sp>
        <p:nvSpPr>
          <p:cNvPr id="16" name="Shape 12"/>
          <p:cNvSpPr/>
          <p:nvPr/>
        </p:nvSpPr>
        <p:spPr>
          <a:xfrm>
            <a:off x="6858000" y="4700016"/>
            <a:ext cx="4754880" cy="1325880"/>
          </a:xfrm>
          <a:prstGeom prst="roundRect">
            <a:avLst>
              <a:gd name="adj" fmla="val 5517"/>
            </a:avLst>
          </a:prstGeom>
          <a:solidFill>
            <a:schemeClr val="bg2"/>
          </a:solidFill>
          <a:ln w="12700">
            <a:solidFill>
              <a:schemeClr val="accent3"/>
            </a:solidFill>
            <a:prstDash val="solid"/>
          </a:ln>
        </p:spPr>
      </p:sp>
      <p:sp>
        <p:nvSpPr>
          <p:cNvPr id="17" name="Shape 13"/>
          <p:cNvSpPr/>
          <p:nvPr/>
        </p:nvSpPr>
        <p:spPr>
          <a:xfrm>
            <a:off x="7040880" y="5020056"/>
            <a:ext cx="685800" cy="685800"/>
          </a:xfrm>
          <a:prstGeom prst="ellipse">
            <a:avLst/>
          </a:prstGeom>
          <a:solidFill>
            <a:schemeClr val="tx2"/>
          </a:solidFill>
          <a:ln w="12700">
            <a:solidFill>
              <a:schemeClr val="tx2"/>
            </a:solidFill>
            <a:prstDash val="solid"/>
          </a:ln>
        </p:spPr>
      </p:sp>
      <p:pic>
        <p:nvPicPr>
          <p:cNvPr id="18" name="Image 2" descr="preencoded.png">    </p:cNvPr>
          <p:cNvPicPr>
            <a:picLocks noChangeAspect="1"/>
          </p:cNvPicPr>
          <p:nvPr/>
        </p:nvPicPr>
        <p:blipFill>
          <a:blip r:embed="rId3"/>
          <a:stretch>
            <a:fillRect/>
          </a:stretch>
        </p:blipFill>
        <p:spPr>
          <a:xfrm>
            <a:off x="7212330" y="5191506"/>
            <a:ext cx="342900" cy="342900"/>
          </a:xfrm>
          <a:prstGeom prst="rect">
            <a:avLst/>
          </a:prstGeom>
        </p:spPr>
      </p:pic>
      <p:sp>
        <p:nvSpPr>
          <p:cNvPr id="19" name="Text 14"/>
          <p:cNvSpPr txBox="1"/>
          <p:nvPr/>
        </p:nvSpPr>
        <p:spPr>
          <a:xfrm>
            <a:off x="7909560" y="4773168"/>
            <a:ext cx="3611880" cy="1188720"/>
          </a:xfrm>
          <a:prstGeom prst="rect">
            <a:avLst/>
          </a:prstGeom>
          <a:noFill/>
          <a:ln/>
        </p:spPr>
        <p:txBody>
          <a:bodyPr wrap="square" lIns="0" tIns="0" rIns="0" bIns="0" rtlCol="0" anchor="ctr"/>
          <a:lstStyle/>
          <a:p>
            <a:pPr indent="0" marL="0">
              <a:buNone/>
            </a:pPr>
            <a:r>
              <a:rPr lang="en-US" sz="1600" b="1" dirty="0">
                <a:solidFill>
                  <a:schemeClr val="tx2"/>
                </a:solidFill>
              </a:rPr>
              <a:t>Contratos de interfaz</a:t>
            </a:r>
            <a:endParaRPr lang="en-US" sz="1600" dirty="0"/>
          </a:p>
          <a:p>
            <a:pPr indent="0" marL="0">
              <a:buNone/>
            </a:pPr>
            <a:r>
              <a:rPr lang="en-US" sz="1400" dirty="0">
                <a:solidFill>
                  <a:schemeClr val="tx1"/>
                </a:solidFill>
              </a:rPr>
              <a:t>OpenAPI especifica formalmente las API entre sistemas.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5.8 · ESPECIFICACIÓN BASADA EN MODELOS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Especificación basada en modelos</a:t>
            </a:r>
            <a:endParaRPr lang="en-US" sz="3400" dirty="0"/>
          </a:p>
        </p:txBody>
      </p:sp>
      <p:sp>
        <p:nvSpPr>
          <p:cNvPr id="4" name="Text 2"/>
          <p:cNvSpPr txBox="1"/>
          <p:nvPr/>
        </p:nvSpPr>
        <p:spPr>
          <a:xfrm>
            <a:off x="548640" y="1691640"/>
            <a:ext cx="11064240" cy="914400"/>
          </a:xfrm>
          <a:prstGeom prst="rect">
            <a:avLst/>
          </a:prstGeom>
          <a:noFill/>
          <a:ln/>
        </p:spPr>
        <p:txBody>
          <a:bodyPr wrap="square" lIns="0" tIns="0" rIns="0" bIns="0" rtlCol="0" anchor="t"/>
          <a:lstStyle/>
          <a:p>
            <a:pPr indent="0" marL="0">
              <a:buNone/>
            </a:pPr>
            <a:r>
              <a:rPr lang="en-US" sz="1800" dirty="0">
                <a:solidFill>
                  <a:schemeClr val="tx1"/>
                </a:solidFill>
              </a:rPr>
              <a:t>Se construye un </a:t>
            </a:r>
            <a:pPr indent="0" marL="0">
              <a:buNone/>
            </a:pPr>
            <a:r>
              <a:rPr lang="en-US" sz="1800" b="1" dirty="0">
                <a:solidFill>
                  <a:schemeClr val="accent1"/>
                </a:solidFill>
              </a:rPr>
              <a:t>modelo matemático del estado</a:t>
            </a:r>
            <a:pPr indent="0" marL="0">
              <a:buNone/>
            </a:pPr>
            <a:r>
              <a:rPr lang="en-US" sz="1800" dirty="0">
                <a:solidFill>
                  <a:schemeClr val="tx1"/>
                </a:solidFill>
              </a:rPr>
              <a:t> del sistema (conjuntos, relaciones, funciones) y se define cada operación por su efecto sobre ese estado, mediante pre y postcondiciones.</a:t>
            </a:r>
            <a:endParaRPr lang="en-US" sz="1800" dirty="0"/>
          </a:p>
        </p:txBody>
      </p:sp>
      <p:sp>
        <p:nvSpPr>
          <p:cNvPr id="5" name="Shape 3"/>
          <p:cNvSpPr/>
          <p:nvPr/>
        </p:nvSpPr>
        <p:spPr>
          <a:xfrm>
            <a:off x="548640" y="2788920"/>
            <a:ext cx="5394960" cy="2514600"/>
          </a:xfrm>
          <a:prstGeom prst="roundRect">
            <a:avLst>
              <a:gd name="adj" fmla="val 2909"/>
            </a:avLst>
          </a:prstGeom>
          <a:solidFill>
            <a:schemeClr val="bg2"/>
          </a:solidFill>
          <a:ln w="12700">
            <a:solidFill>
              <a:schemeClr val="accent3"/>
            </a:solidFill>
            <a:prstDash val="solid"/>
          </a:ln>
        </p:spPr>
      </p:sp>
      <p:sp>
        <p:nvSpPr>
          <p:cNvPr id="6" name="Shape 4"/>
          <p:cNvSpPr/>
          <p:nvPr/>
        </p:nvSpPr>
        <p:spPr>
          <a:xfrm>
            <a:off x="822960" y="2971800"/>
            <a:ext cx="685800" cy="685800"/>
          </a:xfrm>
          <a:prstGeom prst="ellipse">
            <a:avLst/>
          </a:prstGeom>
          <a:solidFill>
            <a:schemeClr val="tx2"/>
          </a:solidFill>
          <a:ln w="12700">
            <a:solidFill>
              <a:schemeClr val="tx2"/>
            </a:solidFill>
            <a:prstDash val="solid"/>
          </a:ln>
        </p:spPr>
      </p:sp>
      <p:pic>
        <p:nvPicPr>
          <p:cNvPr id="7" name="Image 0" descr="preencoded.png">    </p:cNvPr>
          <p:cNvPicPr>
            <a:picLocks noChangeAspect="1"/>
          </p:cNvPicPr>
          <p:nvPr/>
        </p:nvPicPr>
        <p:blipFill>
          <a:blip r:embed="rId1"/>
          <a:stretch>
            <a:fillRect/>
          </a:stretch>
        </p:blipFill>
        <p:spPr>
          <a:xfrm>
            <a:off x="994410" y="3143250"/>
            <a:ext cx="342900" cy="342900"/>
          </a:xfrm>
          <a:prstGeom prst="rect">
            <a:avLst/>
          </a:prstGeom>
        </p:spPr>
      </p:pic>
      <p:sp>
        <p:nvSpPr>
          <p:cNvPr id="8" name="Text 5"/>
          <p:cNvSpPr txBox="1"/>
          <p:nvPr/>
        </p:nvSpPr>
        <p:spPr>
          <a:xfrm>
            <a:off x="1691640" y="2971800"/>
            <a:ext cx="4023360" cy="685800"/>
          </a:xfrm>
          <a:prstGeom prst="rect">
            <a:avLst/>
          </a:prstGeom>
          <a:noFill/>
          <a:ln/>
        </p:spPr>
        <p:txBody>
          <a:bodyPr wrap="square" lIns="0" tIns="0" rIns="0" bIns="0" rtlCol="0" anchor="ctr"/>
          <a:lstStyle/>
          <a:p>
            <a:pPr indent="0" marL="0">
              <a:buNone/>
            </a:pPr>
            <a:r>
              <a:rPr lang="en-US" sz="2000" b="1" dirty="0">
                <a:solidFill>
                  <a:schemeClr val="tx2"/>
                </a:solidFill>
              </a:rPr>
              <a:t>Algebraica</a:t>
            </a:r>
            <a:endParaRPr lang="en-US" sz="2000" dirty="0"/>
          </a:p>
        </p:txBody>
      </p:sp>
      <p:sp>
        <p:nvSpPr>
          <p:cNvPr id="9" name="Text 6"/>
          <p:cNvSpPr txBox="1"/>
          <p:nvPr/>
        </p:nvSpPr>
        <p:spPr>
          <a:xfrm>
            <a:off x="868680" y="3840480"/>
            <a:ext cx="484632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Define el tipo por las relaciones entre sus operaciones</a:t>
            </a:r>
            <a:endParaRPr lang="en-US" sz="1600" dirty="0"/>
          </a:p>
          <a:p>
            <a:pPr marL="342900" indent="-342900">
              <a:spcAft>
                <a:spcPts val="800"/>
              </a:spcAft>
              <a:buSzPct val="100000"/>
              <a:buChar char="•"/>
            </a:pPr>
            <a:r>
              <a:rPr lang="en-US" sz="1600" dirty="0">
                <a:solidFill>
                  <a:schemeClr val="tx1"/>
                </a:solidFill>
              </a:rPr>
              <a:t>No hay estado explícito</a:t>
            </a:r>
            <a:endParaRPr lang="en-US" sz="1600" dirty="0"/>
          </a:p>
          <a:p>
            <a:pPr marL="342900" indent="-342900">
              <a:spcAft>
                <a:spcPts val="800"/>
              </a:spcAft>
              <a:buSzPct val="100000"/>
              <a:buChar char="•"/>
            </a:pPr>
            <a:r>
              <a:rPr lang="en-US" sz="1600" dirty="0">
                <a:solidFill>
                  <a:schemeClr val="tx1"/>
                </a:solidFill>
              </a:rPr>
              <a:t>Ej.: TAD Pila con axiomas</a:t>
            </a:r>
            <a:endParaRPr lang="en-US" sz="1600" dirty="0"/>
          </a:p>
        </p:txBody>
      </p:sp>
      <p:sp>
        <p:nvSpPr>
          <p:cNvPr id="10" name="Shape 7"/>
          <p:cNvSpPr/>
          <p:nvPr/>
        </p:nvSpPr>
        <p:spPr>
          <a:xfrm>
            <a:off x="6217920" y="2788920"/>
            <a:ext cx="5394960" cy="2514600"/>
          </a:xfrm>
          <a:prstGeom prst="roundRect">
            <a:avLst>
              <a:gd name="adj" fmla="val 2909"/>
            </a:avLst>
          </a:prstGeom>
          <a:solidFill>
            <a:schemeClr val="accent4"/>
          </a:solidFill>
          <a:ln w="12700">
            <a:solidFill>
              <a:schemeClr val="accent4"/>
            </a:solidFill>
            <a:prstDash val="solid"/>
          </a:ln>
        </p:spPr>
      </p:sp>
      <p:sp>
        <p:nvSpPr>
          <p:cNvPr id="11" name="Shape 8"/>
          <p:cNvSpPr/>
          <p:nvPr/>
        </p:nvSpPr>
        <p:spPr>
          <a:xfrm>
            <a:off x="6492240" y="2971800"/>
            <a:ext cx="685800" cy="68580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6663690" y="3143250"/>
            <a:ext cx="342900" cy="342900"/>
          </a:xfrm>
          <a:prstGeom prst="rect">
            <a:avLst/>
          </a:prstGeom>
        </p:spPr>
      </p:pic>
      <p:sp>
        <p:nvSpPr>
          <p:cNvPr id="13" name="Text 9"/>
          <p:cNvSpPr txBox="1"/>
          <p:nvPr/>
        </p:nvSpPr>
        <p:spPr>
          <a:xfrm>
            <a:off x="7360920" y="2971800"/>
            <a:ext cx="4023360" cy="685800"/>
          </a:xfrm>
          <a:prstGeom prst="rect">
            <a:avLst/>
          </a:prstGeom>
          <a:noFill/>
          <a:ln/>
        </p:spPr>
        <p:txBody>
          <a:bodyPr wrap="square" lIns="0" tIns="0" rIns="0" bIns="0" rtlCol="0" anchor="ctr"/>
          <a:lstStyle/>
          <a:p>
            <a:pPr indent="0" marL="0">
              <a:buNone/>
            </a:pPr>
            <a:r>
              <a:rPr lang="en-US" sz="2000" b="1" dirty="0">
                <a:solidFill>
                  <a:schemeClr val="accent1"/>
                </a:solidFill>
              </a:rPr>
              <a:t>Basada en modelos</a:t>
            </a:r>
            <a:endParaRPr lang="en-US" sz="2000" dirty="0"/>
          </a:p>
        </p:txBody>
      </p:sp>
      <p:sp>
        <p:nvSpPr>
          <p:cNvPr id="14" name="Text 10"/>
          <p:cNvSpPr txBox="1"/>
          <p:nvPr/>
        </p:nvSpPr>
        <p:spPr>
          <a:xfrm>
            <a:off x="6537960" y="3840480"/>
            <a:ext cx="484632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Define un estado y operaciones que lo transforman</a:t>
            </a:r>
            <a:endParaRPr lang="en-US" sz="1600" dirty="0"/>
          </a:p>
          <a:p>
            <a:pPr marL="342900" indent="-342900">
              <a:spcAft>
                <a:spcPts val="800"/>
              </a:spcAft>
              <a:buSzPct val="100000"/>
              <a:buChar char="•"/>
            </a:pPr>
            <a:r>
              <a:rPr lang="en-US" sz="1600" dirty="0">
                <a:solidFill>
                  <a:schemeClr val="tx1"/>
                </a:solidFill>
              </a:rPr>
              <a:t>El estado es explícito (conjuntos, funciones)</a:t>
            </a:r>
            <a:endParaRPr lang="en-US" sz="1600" dirty="0"/>
          </a:p>
          <a:p>
            <a:pPr marL="342900" indent="-342900">
              <a:spcAft>
                <a:spcPts val="800"/>
              </a:spcAft>
              <a:buSzPct val="100000"/>
              <a:buChar char="•"/>
            </a:pPr>
            <a:r>
              <a:rPr lang="en-US" sz="1600" dirty="0">
                <a:solidFill>
                  <a:schemeClr val="tx1"/>
                </a:solidFill>
              </a:rPr>
              <a:t>Ej.: Z, VDM, método B, Alloy, OCL</a:t>
            </a:r>
            <a:endParaRPr lang="en-US" sz="1600" dirty="0"/>
          </a:p>
        </p:txBody>
      </p:sp>
      <p:sp>
        <p:nvSpPr>
          <p:cNvPr id="15" name="Text 11"/>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500" i="1" dirty="0">
                <a:solidFill>
                  <a:schemeClr val="accent5"/>
                </a:solidFill>
              </a:rPr>
              <a:t>Ambos estilos son descriptivos y formales; difieren en si el estado se describe explícitamente o no.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5.8 · ESPECIFICACIÓN BASADA EN MODELOS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Ejemplo en notación Z: cupos de una materia</a:t>
            </a:r>
            <a:endParaRPr lang="en-US" sz="3400" dirty="0"/>
          </a:p>
        </p:txBody>
      </p:sp>
      <p:sp>
        <p:nvSpPr>
          <p:cNvPr id="4" name="Shape 2"/>
          <p:cNvSpPr/>
          <p:nvPr/>
        </p:nvSpPr>
        <p:spPr>
          <a:xfrm>
            <a:off x="731520" y="1965960"/>
            <a:ext cx="914" cy="1828800"/>
          </a:xfrm>
          <a:prstGeom prst="line">
            <a:avLst/>
          </a:prstGeom>
          <a:noFill/>
          <a:ln w="25400">
            <a:solidFill>
              <a:schemeClr val="tx2"/>
            </a:solidFill>
            <a:prstDash val="solid"/>
          </a:ln>
        </p:spPr>
      </p:sp>
      <p:sp>
        <p:nvSpPr>
          <p:cNvPr id="5" name="Shape 3"/>
          <p:cNvSpPr/>
          <p:nvPr/>
        </p:nvSpPr>
        <p:spPr>
          <a:xfrm>
            <a:off x="731520" y="1965960"/>
            <a:ext cx="4389120" cy="914"/>
          </a:xfrm>
          <a:prstGeom prst="line">
            <a:avLst/>
          </a:prstGeom>
          <a:noFill/>
          <a:ln w="25400">
            <a:solidFill>
              <a:schemeClr val="tx2"/>
            </a:solidFill>
            <a:prstDash val="solid"/>
          </a:ln>
        </p:spPr>
      </p:sp>
      <p:sp>
        <p:nvSpPr>
          <p:cNvPr id="6" name="Shape 4"/>
          <p:cNvSpPr/>
          <p:nvPr/>
        </p:nvSpPr>
        <p:spPr>
          <a:xfrm>
            <a:off x="731520" y="3794760"/>
            <a:ext cx="4389120" cy="914"/>
          </a:xfrm>
          <a:prstGeom prst="line">
            <a:avLst/>
          </a:prstGeom>
          <a:noFill/>
          <a:ln w="25400">
            <a:solidFill>
              <a:schemeClr val="tx2"/>
            </a:solidFill>
            <a:prstDash val="solid"/>
          </a:ln>
        </p:spPr>
      </p:sp>
      <p:sp>
        <p:nvSpPr>
          <p:cNvPr id="7" name="Shape 5"/>
          <p:cNvSpPr/>
          <p:nvPr/>
        </p:nvSpPr>
        <p:spPr>
          <a:xfrm>
            <a:off x="731520" y="3063240"/>
            <a:ext cx="2633472" cy="914"/>
          </a:xfrm>
          <a:prstGeom prst="line">
            <a:avLst/>
          </a:prstGeom>
          <a:noFill/>
          <a:ln w="19050">
            <a:solidFill>
              <a:schemeClr val="tx2"/>
            </a:solidFill>
            <a:prstDash val="solid"/>
          </a:ln>
        </p:spPr>
      </p:sp>
      <p:sp>
        <p:nvSpPr>
          <p:cNvPr id="8" name="Shape 6"/>
          <p:cNvSpPr/>
          <p:nvPr/>
        </p:nvSpPr>
        <p:spPr>
          <a:xfrm>
            <a:off x="960120" y="1764792"/>
            <a:ext cx="1106424" cy="402336"/>
          </a:xfrm>
          <a:prstGeom prst="rect">
            <a:avLst/>
          </a:prstGeom>
          <a:solidFill>
            <a:schemeClr val="bg1"/>
          </a:solidFill>
          <a:ln w="12700">
            <a:solidFill>
              <a:schemeClr val="bg1"/>
            </a:solidFill>
            <a:prstDash val="solid"/>
          </a:ln>
        </p:spPr>
      </p:sp>
      <p:sp>
        <p:nvSpPr>
          <p:cNvPr id="9" name="Text 7"/>
          <p:cNvSpPr txBox="1"/>
          <p:nvPr/>
        </p:nvSpPr>
        <p:spPr>
          <a:xfrm>
            <a:off x="1005840" y="1764792"/>
            <a:ext cx="1060704" cy="402336"/>
          </a:xfrm>
          <a:prstGeom prst="rect">
            <a:avLst/>
          </a:prstGeom>
          <a:noFill/>
          <a:ln/>
        </p:spPr>
        <p:txBody>
          <a:bodyPr wrap="square" lIns="0" tIns="0" rIns="0" bIns="0" rtlCol="0" anchor="ctr"/>
          <a:lstStyle/>
          <a:p>
            <a:pPr indent="0" marL="0">
              <a:buNone/>
            </a:pPr>
            <a:r>
              <a:rPr lang="en-US" sz="1700" b="1" dirty="0">
                <a:solidFill>
                  <a:schemeClr val="accent1"/>
                </a:solidFill>
              </a:rPr>
              <a:t>Cátedra</a:t>
            </a:r>
            <a:endParaRPr lang="en-US" sz="1700" dirty="0"/>
          </a:p>
        </p:txBody>
      </p:sp>
      <p:sp>
        <p:nvSpPr>
          <p:cNvPr id="10" name="Text 8"/>
          <p:cNvSpPr txBox="1"/>
          <p:nvPr/>
        </p:nvSpPr>
        <p:spPr>
          <a:xfrm>
            <a:off x="960120" y="2148840"/>
            <a:ext cx="4069080" cy="822960"/>
          </a:xfrm>
          <a:prstGeom prst="rect">
            <a:avLst/>
          </a:prstGeom>
          <a:noFill/>
          <a:ln/>
        </p:spPr>
        <p:txBody>
          <a:bodyPr wrap="square" lIns="0" tIns="0" rIns="0" bIns="0" rtlCol="0" anchor="ctr"/>
          <a:lstStyle/>
          <a:p>
            <a:pPr indent="0" marL="0">
              <a:buNone/>
            </a:pPr>
            <a:r>
              <a:rPr lang="en-US" sz="1600" dirty="0">
                <a:solidFill>
                  <a:schemeClr val="tx1"/>
                </a:solidFill>
                <a:latin typeface="Cambria Math" pitchFamily="34" charset="0"/>
                <a:ea typeface="Cambria Math" pitchFamily="34" charset="-122"/>
                <a:cs typeface="Cambria Math" pitchFamily="34" charset="-120"/>
              </a:rPr>
              <a:t>inscriptos : ℙ ALUMNO</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cupo : ℕ</a:t>
            </a:r>
            <a:endParaRPr lang="en-US" sz="1600" dirty="0"/>
          </a:p>
        </p:txBody>
      </p:sp>
      <p:sp>
        <p:nvSpPr>
          <p:cNvPr id="11" name="Text 9"/>
          <p:cNvSpPr txBox="1"/>
          <p:nvPr/>
        </p:nvSpPr>
        <p:spPr>
          <a:xfrm>
            <a:off x="960120" y="3154680"/>
            <a:ext cx="4069080" cy="548640"/>
          </a:xfrm>
          <a:prstGeom prst="rect">
            <a:avLst/>
          </a:prstGeom>
          <a:noFill/>
          <a:ln/>
        </p:spPr>
        <p:txBody>
          <a:bodyPr wrap="square" lIns="0" tIns="0" rIns="0" bIns="0" rtlCol="0" anchor="ctr"/>
          <a:lstStyle/>
          <a:p>
            <a:pPr indent="0" marL="0">
              <a:buNone/>
            </a:pPr>
            <a:r>
              <a:rPr lang="en-US" sz="1600" dirty="0">
                <a:solidFill>
                  <a:schemeClr val="tx1"/>
                </a:solidFill>
                <a:latin typeface="Cambria Math" pitchFamily="34" charset="0"/>
                <a:ea typeface="Cambria Math" pitchFamily="34" charset="-122"/>
                <a:cs typeface="Cambria Math" pitchFamily="34" charset="-120"/>
              </a:rPr>
              <a:t>#inscriptos ≤ cupo</a:t>
            </a:r>
            <a:endParaRPr lang="en-US" sz="1600" dirty="0"/>
          </a:p>
        </p:txBody>
      </p:sp>
      <p:sp>
        <p:nvSpPr>
          <p:cNvPr id="12" name="Shape 10"/>
          <p:cNvSpPr/>
          <p:nvPr/>
        </p:nvSpPr>
        <p:spPr>
          <a:xfrm>
            <a:off x="5943600" y="1965960"/>
            <a:ext cx="914" cy="3017520"/>
          </a:xfrm>
          <a:prstGeom prst="line">
            <a:avLst/>
          </a:prstGeom>
          <a:noFill/>
          <a:ln w="25400">
            <a:solidFill>
              <a:schemeClr val="tx2"/>
            </a:solidFill>
            <a:prstDash val="solid"/>
          </a:ln>
        </p:spPr>
      </p:sp>
      <p:sp>
        <p:nvSpPr>
          <p:cNvPr id="13" name="Shape 11"/>
          <p:cNvSpPr/>
          <p:nvPr/>
        </p:nvSpPr>
        <p:spPr>
          <a:xfrm>
            <a:off x="5943600" y="1965960"/>
            <a:ext cx="5486400" cy="914"/>
          </a:xfrm>
          <a:prstGeom prst="line">
            <a:avLst/>
          </a:prstGeom>
          <a:noFill/>
          <a:ln w="25400">
            <a:solidFill>
              <a:schemeClr val="tx2"/>
            </a:solidFill>
            <a:prstDash val="solid"/>
          </a:ln>
        </p:spPr>
      </p:sp>
      <p:sp>
        <p:nvSpPr>
          <p:cNvPr id="14" name="Shape 12"/>
          <p:cNvSpPr/>
          <p:nvPr/>
        </p:nvSpPr>
        <p:spPr>
          <a:xfrm>
            <a:off x="5943600" y="4983480"/>
            <a:ext cx="5486400" cy="914"/>
          </a:xfrm>
          <a:prstGeom prst="line">
            <a:avLst/>
          </a:prstGeom>
          <a:noFill/>
          <a:ln w="25400">
            <a:solidFill>
              <a:schemeClr val="tx2"/>
            </a:solidFill>
            <a:prstDash val="solid"/>
          </a:ln>
        </p:spPr>
      </p:sp>
      <p:sp>
        <p:nvSpPr>
          <p:cNvPr id="15" name="Shape 13"/>
          <p:cNvSpPr/>
          <p:nvPr/>
        </p:nvSpPr>
        <p:spPr>
          <a:xfrm>
            <a:off x="5943600" y="3108960"/>
            <a:ext cx="3291840" cy="914"/>
          </a:xfrm>
          <a:prstGeom prst="line">
            <a:avLst/>
          </a:prstGeom>
          <a:noFill/>
          <a:ln w="19050">
            <a:solidFill>
              <a:schemeClr val="tx2"/>
            </a:solidFill>
            <a:prstDash val="solid"/>
          </a:ln>
        </p:spPr>
      </p:sp>
      <p:sp>
        <p:nvSpPr>
          <p:cNvPr id="16" name="Shape 14"/>
          <p:cNvSpPr/>
          <p:nvPr/>
        </p:nvSpPr>
        <p:spPr>
          <a:xfrm>
            <a:off x="6172200" y="1764792"/>
            <a:ext cx="1344168" cy="402336"/>
          </a:xfrm>
          <a:prstGeom prst="rect">
            <a:avLst/>
          </a:prstGeom>
          <a:solidFill>
            <a:schemeClr val="bg1"/>
          </a:solidFill>
          <a:ln w="12700">
            <a:solidFill>
              <a:schemeClr val="bg1"/>
            </a:solidFill>
            <a:prstDash val="solid"/>
          </a:ln>
        </p:spPr>
      </p:sp>
      <p:sp>
        <p:nvSpPr>
          <p:cNvPr id="17" name="Text 15"/>
          <p:cNvSpPr txBox="1"/>
          <p:nvPr/>
        </p:nvSpPr>
        <p:spPr>
          <a:xfrm>
            <a:off x="6217920" y="1764792"/>
            <a:ext cx="1298448" cy="402336"/>
          </a:xfrm>
          <a:prstGeom prst="rect">
            <a:avLst/>
          </a:prstGeom>
          <a:noFill/>
          <a:ln/>
        </p:spPr>
        <p:txBody>
          <a:bodyPr wrap="square" lIns="0" tIns="0" rIns="0" bIns="0" rtlCol="0" anchor="ctr"/>
          <a:lstStyle/>
          <a:p>
            <a:pPr indent="0" marL="0">
              <a:buNone/>
            </a:pPr>
            <a:r>
              <a:rPr lang="en-US" sz="1700" b="1" dirty="0">
                <a:solidFill>
                  <a:schemeClr val="accent1"/>
                </a:solidFill>
              </a:rPr>
              <a:t>Inscribir</a:t>
            </a:r>
            <a:endParaRPr lang="en-US" sz="1700" dirty="0"/>
          </a:p>
        </p:txBody>
      </p:sp>
      <p:sp>
        <p:nvSpPr>
          <p:cNvPr id="18" name="Text 16"/>
          <p:cNvSpPr txBox="1"/>
          <p:nvPr/>
        </p:nvSpPr>
        <p:spPr>
          <a:xfrm>
            <a:off x="6172200" y="2148840"/>
            <a:ext cx="5166360" cy="868680"/>
          </a:xfrm>
          <a:prstGeom prst="rect">
            <a:avLst/>
          </a:prstGeom>
          <a:noFill/>
          <a:ln/>
        </p:spPr>
        <p:txBody>
          <a:bodyPr wrap="square" lIns="0" tIns="0" rIns="0" bIns="0" rtlCol="0" anchor="ctr"/>
          <a:lstStyle/>
          <a:p>
            <a:pPr indent="0" marL="0">
              <a:buNone/>
            </a:pPr>
            <a:r>
              <a:rPr lang="en-US" sz="1600" dirty="0">
                <a:solidFill>
                  <a:schemeClr val="tx1"/>
                </a:solidFill>
                <a:latin typeface="Cambria Math" pitchFamily="34" charset="0"/>
                <a:ea typeface="Cambria Math" pitchFamily="34" charset="-122"/>
                <a:cs typeface="Cambria Math" pitchFamily="34" charset="-120"/>
              </a:rPr>
              <a:t>ΔCátedra</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a? : ALUMNO</a:t>
            </a:r>
            <a:endParaRPr lang="en-US" sz="1600" dirty="0"/>
          </a:p>
        </p:txBody>
      </p:sp>
      <p:sp>
        <p:nvSpPr>
          <p:cNvPr id="19" name="Text 17"/>
          <p:cNvSpPr txBox="1"/>
          <p:nvPr/>
        </p:nvSpPr>
        <p:spPr>
          <a:xfrm>
            <a:off x="6172200" y="3200400"/>
            <a:ext cx="5166360" cy="1691640"/>
          </a:xfrm>
          <a:prstGeom prst="rect">
            <a:avLst/>
          </a:prstGeom>
          <a:noFill/>
          <a:ln/>
        </p:spPr>
        <p:txBody>
          <a:bodyPr wrap="square" lIns="0" tIns="0" rIns="0" bIns="0" rtlCol="0" anchor="ctr"/>
          <a:lstStyle/>
          <a:p>
            <a:pPr indent="0" marL="0">
              <a:buNone/>
            </a:pPr>
            <a:r>
              <a:rPr lang="en-US" sz="1600" dirty="0">
                <a:solidFill>
                  <a:schemeClr val="tx1"/>
                </a:solidFill>
                <a:latin typeface="Cambria Math" pitchFamily="34" charset="0"/>
                <a:ea typeface="Cambria Math" pitchFamily="34" charset="-122"/>
                <a:cs typeface="Cambria Math" pitchFamily="34" charset="-120"/>
              </a:rPr>
              <a:t>a? ∉ inscriptos</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#inscriptos &lt; cupo</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inscriptos′ = inscriptos ∪ {a?}</a:t>
            </a:r>
            <a:endParaRPr lang="en-US" sz="1600" dirty="0"/>
          </a:p>
          <a:p>
            <a:pPr indent="0" marL="0">
              <a:buNone/>
            </a:pPr>
            <a:r>
              <a:rPr lang="en-US" sz="1600" dirty="0">
                <a:solidFill>
                  <a:schemeClr val="tx1"/>
                </a:solidFill>
                <a:latin typeface="Cambria Math" pitchFamily="34" charset="0"/>
                <a:ea typeface="Cambria Math" pitchFamily="34" charset="-122"/>
                <a:cs typeface="Cambria Math" pitchFamily="34" charset="-120"/>
              </a:rPr>
              <a:t>cupo′ = cupo</a:t>
            </a:r>
            <a:endParaRPr lang="en-US" sz="1600" dirty="0"/>
          </a:p>
        </p:txBody>
      </p:sp>
      <p:sp>
        <p:nvSpPr>
          <p:cNvPr id="20" name="Text 18"/>
          <p:cNvSpPr txBox="1"/>
          <p:nvPr/>
        </p:nvSpPr>
        <p:spPr>
          <a:xfrm>
            <a:off x="731520" y="4160520"/>
            <a:ext cx="4937760" cy="1920240"/>
          </a:xfrm>
          <a:prstGeom prst="rect">
            <a:avLst/>
          </a:prstGeom>
          <a:noFill/>
          <a:ln/>
        </p:spPr>
        <p:txBody>
          <a:bodyPr wrap="square" lIns="0" tIns="0" rIns="0" bIns="0" rtlCol="0" anchor="t"/>
          <a:lstStyle/>
          <a:p>
            <a:pPr indent="0" marL="0">
              <a:spcAft>
                <a:spcPts val="600"/>
              </a:spcAft>
              <a:buNone/>
            </a:pPr>
            <a:r>
              <a:rPr lang="en-US" sz="1450" b="1" dirty="0">
                <a:solidFill>
                  <a:schemeClr val="tx2"/>
                </a:solidFill>
              </a:rPr>
              <a:t>Esquema de estado  </a:t>
            </a:r>
            <a:pPr indent="0" marL="0">
              <a:spcAft>
                <a:spcPts val="600"/>
              </a:spcAft>
              <a:buNone/>
            </a:pPr>
            <a:r>
              <a:rPr lang="en-US" sz="1450" dirty="0">
                <a:solidFill>
                  <a:schemeClr val="tx1"/>
                </a:solidFill>
              </a:rPr>
              <a:t>declara las variables y el invariante que siempre debe cumplirse.</a:t>
            </a:r>
            <a:endParaRPr lang="en-US" sz="1450" dirty="0"/>
          </a:p>
          <a:p>
            <a:pPr indent="0" marL="0">
              <a:spcAft>
                <a:spcPts val="600"/>
              </a:spcAft>
              <a:buNone/>
            </a:pPr>
            <a:r>
              <a:rPr lang="en-US" sz="1450" b="1" dirty="0">
                <a:solidFill>
                  <a:schemeClr val="tx2"/>
                </a:solidFill>
                <a:latin typeface="Cambria Math" pitchFamily="34" charset="0"/>
                <a:ea typeface="Cambria Math" pitchFamily="34" charset="-122"/>
                <a:cs typeface="Cambria Math" pitchFamily="34" charset="-120"/>
              </a:rPr>
              <a:t>Δ  </a:t>
            </a:r>
            <a:pPr indent="0" marL="0">
              <a:spcAft>
                <a:spcPts val="600"/>
              </a:spcAft>
              <a:buNone/>
            </a:pPr>
            <a:r>
              <a:rPr lang="en-US" sz="1450" dirty="0">
                <a:solidFill>
                  <a:schemeClr val="tx1"/>
                </a:solidFill>
              </a:rPr>
              <a:t>indica que la operación modifica el estado.</a:t>
            </a:r>
            <a:endParaRPr lang="en-US" sz="1450" dirty="0"/>
          </a:p>
          <a:p>
            <a:pPr indent="0" marL="0">
              <a:spcAft>
                <a:spcPts val="600"/>
              </a:spcAft>
              <a:buNone/>
            </a:pPr>
            <a:r>
              <a:rPr lang="en-US" sz="1450" b="1" dirty="0">
                <a:solidFill>
                  <a:schemeClr val="tx2"/>
                </a:solidFill>
                <a:latin typeface="Cambria Math" pitchFamily="34" charset="0"/>
                <a:ea typeface="Cambria Math" pitchFamily="34" charset="-122"/>
                <a:cs typeface="Cambria Math" pitchFamily="34" charset="-120"/>
              </a:rPr>
              <a:t>x′  </a:t>
            </a:r>
            <a:pPr indent="0" marL="0">
              <a:spcAft>
                <a:spcPts val="600"/>
              </a:spcAft>
              <a:buNone/>
            </a:pPr>
            <a:r>
              <a:rPr lang="en-US" sz="1450" dirty="0">
                <a:solidFill>
                  <a:schemeClr val="tx1"/>
                </a:solidFill>
              </a:rPr>
              <a:t>valor de x después de la operación.</a:t>
            </a:r>
            <a:endParaRPr lang="en-US" sz="1450" dirty="0"/>
          </a:p>
          <a:p>
            <a:pPr indent="0" marL="0">
              <a:spcAft>
                <a:spcPts val="600"/>
              </a:spcAft>
              <a:buNone/>
            </a:pPr>
            <a:r>
              <a:rPr lang="en-US" sz="1450" b="1" dirty="0">
                <a:solidFill>
                  <a:schemeClr val="tx2"/>
                </a:solidFill>
                <a:latin typeface="Cambria Math" pitchFamily="34" charset="0"/>
                <a:ea typeface="Cambria Math" pitchFamily="34" charset="-122"/>
                <a:cs typeface="Cambria Math" pitchFamily="34" charset="-120"/>
              </a:rPr>
              <a:t>a?  </a:t>
            </a:r>
            <a:pPr indent="0" marL="0">
              <a:spcAft>
                <a:spcPts val="600"/>
              </a:spcAft>
              <a:buNone/>
            </a:pPr>
            <a:r>
              <a:rPr lang="en-US" sz="1450" dirty="0">
                <a:solidFill>
                  <a:schemeClr val="tx1"/>
                </a:solidFill>
              </a:rPr>
              <a:t>variable de entrada.</a:t>
            </a:r>
            <a:endParaRPr lang="en-US" sz="1450" dirty="0"/>
          </a:p>
        </p:txBody>
      </p:sp>
      <p:sp>
        <p:nvSpPr>
          <p:cNvPr id="21" name="Shape 19"/>
          <p:cNvSpPr/>
          <p:nvPr/>
        </p:nvSpPr>
        <p:spPr>
          <a:xfrm>
            <a:off x="5943600" y="5257800"/>
            <a:ext cx="5486400" cy="822960"/>
          </a:xfrm>
          <a:prstGeom prst="roundRect">
            <a:avLst>
              <a:gd name="adj" fmla="val 8889"/>
            </a:avLst>
          </a:prstGeom>
          <a:solidFill>
            <a:schemeClr val="accent4"/>
          </a:solidFill>
          <a:ln w="12700">
            <a:solidFill>
              <a:schemeClr val="accent4"/>
            </a:solidFill>
            <a:prstDash val="solid"/>
          </a:ln>
        </p:spPr>
      </p:sp>
      <p:sp>
        <p:nvSpPr>
          <p:cNvPr id="22" name="Text 20"/>
          <p:cNvSpPr txBox="1"/>
          <p:nvPr/>
        </p:nvSpPr>
        <p:spPr>
          <a:xfrm>
            <a:off x="6126480" y="5257800"/>
            <a:ext cx="5120640" cy="822960"/>
          </a:xfrm>
          <a:prstGeom prst="rect">
            <a:avLst/>
          </a:prstGeom>
          <a:noFill/>
          <a:ln/>
        </p:spPr>
        <p:txBody>
          <a:bodyPr wrap="square" lIns="0" tIns="0" rIns="0" bIns="0" rtlCol="0" anchor="ctr"/>
          <a:lstStyle/>
          <a:p>
            <a:pPr indent="0" marL="0">
              <a:buNone/>
            </a:pPr>
            <a:r>
              <a:rPr lang="en-US" sz="1450" b="1" dirty="0">
                <a:solidFill>
                  <a:schemeClr val="accent1"/>
                </a:solidFill>
              </a:rPr>
              <a:t>Las dos primeras líneas de Inscribir son su precondición; las dos últimas, su postcondición.</a:t>
            </a:r>
            <a:endParaRPr lang="en-US" sz="14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5.8 · ESPECIFICACIÓN BASADA EN MODELOS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OCL: especificación basada en modelos sobre UML</a:t>
            </a:r>
            <a:endParaRPr lang="en-US" sz="3400" dirty="0"/>
          </a:p>
        </p:txBody>
      </p:sp>
      <p:sp>
        <p:nvSpPr>
          <p:cNvPr id="4" name="Shape 2"/>
          <p:cNvSpPr/>
          <p:nvPr/>
        </p:nvSpPr>
        <p:spPr>
          <a:xfrm>
            <a:off x="548640" y="1737360"/>
            <a:ext cx="4206240" cy="4343400"/>
          </a:xfrm>
          <a:prstGeom prst="roundRect">
            <a:avLst>
              <a:gd name="adj" fmla="val 1739"/>
            </a:avLst>
          </a:prstGeom>
          <a:solidFill>
            <a:schemeClr val="bg1"/>
          </a:solidFill>
          <a:ln w="12700">
            <a:solidFill>
              <a:schemeClr val="accent3"/>
            </a:solidFill>
            <a:prstDash val="solid"/>
          </a:ln>
        </p:spPr>
      </p:sp>
      <p:sp>
        <p:nvSpPr>
          <p:cNvPr id="5" name="Shape 3"/>
          <p:cNvSpPr/>
          <p:nvPr/>
        </p:nvSpPr>
        <p:spPr>
          <a:xfrm>
            <a:off x="1554480" y="2011680"/>
            <a:ext cx="2194560" cy="457200"/>
          </a:xfrm>
          <a:prstGeom prst="rect">
            <a:avLst/>
          </a:prstGeom>
          <a:solidFill>
            <a:schemeClr val="tx2"/>
          </a:solidFill>
          <a:ln w="19050">
            <a:solidFill>
              <a:schemeClr val="tx2"/>
            </a:solidFill>
            <a:prstDash val="solid"/>
          </a:ln>
        </p:spPr>
      </p:sp>
      <p:sp>
        <p:nvSpPr>
          <p:cNvPr id="6" name="Text 4"/>
          <p:cNvSpPr txBox="1"/>
          <p:nvPr/>
        </p:nvSpPr>
        <p:spPr>
          <a:xfrm>
            <a:off x="1554480" y="2011680"/>
            <a:ext cx="2194560" cy="457200"/>
          </a:xfrm>
          <a:prstGeom prst="rect">
            <a:avLst/>
          </a:prstGeom>
          <a:noFill/>
          <a:ln/>
        </p:spPr>
        <p:txBody>
          <a:bodyPr wrap="square" lIns="0" tIns="0" rIns="0" bIns="0" rtlCol="0" anchor="ctr"/>
          <a:lstStyle/>
          <a:p>
            <a:pPr algn="ctr" indent="0" marL="0">
              <a:buNone/>
            </a:pPr>
            <a:r>
              <a:rPr lang="en-US" sz="1500" b="1" dirty="0">
                <a:solidFill>
                  <a:schemeClr val="bg1"/>
                </a:solidFill>
              </a:rPr>
              <a:t>Materia</a:t>
            </a:r>
            <a:endParaRPr lang="en-US" sz="1500" dirty="0"/>
          </a:p>
        </p:txBody>
      </p:sp>
      <p:sp>
        <p:nvSpPr>
          <p:cNvPr id="7" name="Shape 5"/>
          <p:cNvSpPr/>
          <p:nvPr/>
        </p:nvSpPr>
        <p:spPr>
          <a:xfrm>
            <a:off x="1554480" y="2468880"/>
            <a:ext cx="2194560" cy="777240"/>
          </a:xfrm>
          <a:prstGeom prst="rect">
            <a:avLst/>
          </a:prstGeom>
          <a:solidFill>
            <a:schemeClr val="bg2"/>
          </a:solidFill>
          <a:ln w="19050">
            <a:solidFill>
              <a:schemeClr val="tx2"/>
            </a:solidFill>
            <a:prstDash val="solid"/>
          </a:ln>
        </p:spPr>
      </p:sp>
      <p:sp>
        <p:nvSpPr>
          <p:cNvPr id="8" name="Text 6"/>
          <p:cNvSpPr txBox="1"/>
          <p:nvPr/>
        </p:nvSpPr>
        <p:spPr>
          <a:xfrm>
            <a:off x="1691640" y="2468880"/>
            <a:ext cx="1965960" cy="77724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codigo: String</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cupo: Integer</a:t>
            </a:r>
            <a:endParaRPr lang="en-US" sz="1300" dirty="0"/>
          </a:p>
        </p:txBody>
      </p:sp>
      <p:sp>
        <p:nvSpPr>
          <p:cNvPr id="9" name="Shape 7"/>
          <p:cNvSpPr/>
          <p:nvPr/>
        </p:nvSpPr>
        <p:spPr>
          <a:xfrm>
            <a:off x="1554480" y="4480560"/>
            <a:ext cx="2194560" cy="457200"/>
          </a:xfrm>
          <a:prstGeom prst="rect">
            <a:avLst/>
          </a:prstGeom>
          <a:solidFill>
            <a:schemeClr val="tx2"/>
          </a:solidFill>
          <a:ln w="19050">
            <a:solidFill>
              <a:schemeClr val="tx2"/>
            </a:solidFill>
            <a:prstDash val="solid"/>
          </a:ln>
        </p:spPr>
      </p:sp>
      <p:sp>
        <p:nvSpPr>
          <p:cNvPr id="10" name="Text 8"/>
          <p:cNvSpPr txBox="1"/>
          <p:nvPr/>
        </p:nvSpPr>
        <p:spPr>
          <a:xfrm>
            <a:off x="1554480" y="4480560"/>
            <a:ext cx="2194560" cy="457200"/>
          </a:xfrm>
          <a:prstGeom prst="rect">
            <a:avLst/>
          </a:prstGeom>
          <a:noFill/>
          <a:ln/>
        </p:spPr>
        <p:txBody>
          <a:bodyPr wrap="square" lIns="0" tIns="0" rIns="0" bIns="0" rtlCol="0" anchor="ctr"/>
          <a:lstStyle/>
          <a:p>
            <a:pPr algn="ctr" indent="0" marL="0">
              <a:buNone/>
            </a:pPr>
            <a:r>
              <a:rPr lang="en-US" sz="1500" b="1" dirty="0">
                <a:solidFill>
                  <a:schemeClr val="bg1"/>
                </a:solidFill>
              </a:rPr>
              <a:t>Alumno</a:t>
            </a:r>
            <a:endParaRPr lang="en-US" sz="1500" dirty="0"/>
          </a:p>
        </p:txBody>
      </p:sp>
      <p:sp>
        <p:nvSpPr>
          <p:cNvPr id="11" name="Shape 9"/>
          <p:cNvSpPr/>
          <p:nvPr/>
        </p:nvSpPr>
        <p:spPr>
          <a:xfrm>
            <a:off x="1554480" y="4937760"/>
            <a:ext cx="2194560" cy="777240"/>
          </a:xfrm>
          <a:prstGeom prst="rect">
            <a:avLst/>
          </a:prstGeom>
          <a:solidFill>
            <a:schemeClr val="bg2"/>
          </a:solidFill>
          <a:ln w="19050">
            <a:solidFill>
              <a:schemeClr val="tx2"/>
            </a:solidFill>
            <a:prstDash val="solid"/>
          </a:ln>
        </p:spPr>
      </p:sp>
      <p:sp>
        <p:nvSpPr>
          <p:cNvPr id="12" name="Text 10"/>
          <p:cNvSpPr txBox="1"/>
          <p:nvPr/>
        </p:nvSpPr>
        <p:spPr>
          <a:xfrm>
            <a:off x="1691640" y="4937760"/>
            <a:ext cx="1965960" cy="77724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legajo: String</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nombre: String</a:t>
            </a:r>
            <a:endParaRPr lang="en-US" sz="1300" dirty="0"/>
          </a:p>
        </p:txBody>
      </p:sp>
      <p:sp>
        <p:nvSpPr>
          <p:cNvPr id="13" name="Shape 11"/>
          <p:cNvSpPr/>
          <p:nvPr/>
        </p:nvSpPr>
        <p:spPr>
          <a:xfrm>
            <a:off x="2651760" y="3246120"/>
            <a:ext cx="914" cy="1234440"/>
          </a:xfrm>
          <a:prstGeom prst="line">
            <a:avLst/>
          </a:prstGeom>
          <a:noFill/>
          <a:ln w="19050">
            <a:solidFill>
              <a:schemeClr val="tx2"/>
            </a:solidFill>
            <a:prstDash val="solid"/>
          </a:ln>
        </p:spPr>
      </p:sp>
      <p:sp>
        <p:nvSpPr>
          <p:cNvPr id="14" name="Text 12"/>
          <p:cNvSpPr txBox="1"/>
          <p:nvPr/>
        </p:nvSpPr>
        <p:spPr>
          <a:xfrm>
            <a:off x="2743200" y="4069080"/>
            <a:ext cx="1645920" cy="32004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inscriptos  *</a:t>
            </a:r>
            <a:endParaRPr lang="en-US" sz="1200" dirty="0"/>
          </a:p>
        </p:txBody>
      </p:sp>
      <p:sp>
        <p:nvSpPr>
          <p:cNvPr id="15" name="Text 13"/>
          <p:cNvSpPr txBox="1"/>
          <p:nvPr/>
        </p:nvSpPr>
        <p:spPr>
          <a:xfrm>
            <a:off x="2743200" y="3291840"/>
            <a:ext cx="457200" cy="32004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a:t>
            </a:r>
            <a:endParaRPr lang="en-US" sz="1200" dirty="0"/>
          </a:p>
        </p:txBody>
      </p:sp>
      <p:sp>
        <p:nvSpPr>
          <p:cNvPr id="16" name="Shape 14"/>
          <p:cNvSpPr/>
          <p:nvPr/>
        </p:nvSpPr>
        <p:spPr>
          <a:xfrm>
            <a:off x="5029200" y="1737360"/>
            <a:ext cx="6583680" cy="3108960"/>
          </a:xfrm>
          <a:prstGeom prst="roundRect">
            <a:avLst>
              <a:gd name="adj" fmla="val 2353"/>
            </a:avLst>
          </a:prstGeom>
          <a:solidFill>
            <a:schemeClr val="tx2"/>
          </a:solidFill>
          <a:ln w="12700">
            <a:solidFill>
              <a:schemeClr val="tx2"/>
            </a:solidFill>
            <a:prstDash val="solid"/>
          </a:ln>
        </p:spPr>
      </p:sp>
      <p:sp>
        <p:nvSpPr>
          <p:cNvPr id="17" name="Text 15"/>
          <p:cNvSpPr txBox="1"/>
          <p:nvPr/>
        </p:nvSpPr>
        <p:spPr>
          <a:xfrm>
            <a:off x="5257800" y="1874520"/>
            <a:ext cx="6217920" cy="2834640"/>
          </a:xfrm>
          <a:prstGeom prst="rect">
            <a:avLst/>
          </a:prstGeom>
          <a:noFill/>
          <a:ln/>
        </p:spPr>
        <p:txBody>
          <a:bodyPr wrap="square" lIns="0" tIns="0" rIns="0" bIns="0" rtlCol="0" anchor="ctr"/>
          <a:lstStyle/>
          <a:p>
            <a:pPr indent="0" marL="0">
              <a:spcAft>
                <a:spcPts val="300"/>
              </a:spcAft>
              <a:buNone/>
            </a:pPr>
            <a:r>
              <a:rPr lang="en-US" sz="1400" b="1" dirty="0">
                <a:solidFill>
                  <a:srgbClr val="E8B4B0"/>
                </a:solidFill>
                <a:latin typeface="Courier New" pitchFamily="34" charset="0"/>
                <a:ea typeface="Courier New" pitchFamily="34" charset="-122"/>
                <a:cs typeface="Courier New" pitchFamily="34" charset="-120"/>
              </a:rPr>
              <a:t>context </a:t>
            </a:r>
            <a:pPr indent="0" marL="0">
              <a:spcAft>
                <a:spcPts val="300"/>
              </a:spcAft>
              <a:buNone/>
            </a:pPr>
            <a:r>
              <a:rPr lang="en-US" sz="1400" b="1" dirty="0">
                <a:solidFill>
                  <a:srgbClr val="FFFFFF"/>
                </a:solidFill>
                <a:latin typeface="Courier New" pitchFamily="34" charset="0"/>
                <a:ea typeface="Courier New" pitchFamily="34" charset="-122"/>
                <a:cs typeface="Courier New" pitchFamily="34" charset="-120"/>
              </a:rPr>
              <a:t>Materia</a:t>
            </a:r>
            <a:endParaRPr lang="en-US" sz="1400" dirty="0"/>
          </a:p>
          <a:p>
            <a:pPr indent="0" marL="0">
              <a:spcAft>
                <a:spcPts val="300"/>
              </a:spcAft>
              <a:buNone/>
            </a:pPr>
            <a:r>
              <a:rPr lang="en-US" sz="1400" b="1" dirty="0">
                <a:solidFill>
                  <a:srgbClr val="E8B4B0"/>
                </a:solidFill>
                <a:latin typeface="Courier New" pitchFamily="34" charset="0"/>
                <a:ea typeface="Courier New" pitchFamily="34" charset="-122"/>
                <a:cs typeface="Courier New" pitchFamily="34" charset="-120"/>
              </a:rPr>
              <a:t>  inv </a:t>
            </a:r>
            <a:pPr indent="0" marL="0">
              <a:spcAft>
                <a:spcPts val="300"/>
              </a:spcAft>
              <a:buNone/>
            </a:pPr>
            <a:r>
              <a:rPr lang="en-US" sz="1400" dirty="0">
                <a:solidFill>
                  <a:srgbClr val="FFFFFF"/>
                </a:solidFill>
                <a:latin typeface="Courier New" pitchFamily="34" charset="0"/>
                <a:ea typeface="Courier New" pitchFamily="34" charset="-122"/>
                <a:cs typeface="Courier New" pitchFamily="34" charset="-120"/>
              </a:rPr>
              <a:t>cupoRespetado: self.inscriptos-&gt;size() &lt;= self.cupo</a:t>
            </a:r>
            <a:endParaRPr lang="en-US" sz="1400" dirty="0"/>
          </a:p>
          <a:p>
            <a:pPr indent="0" marL="0">
              <a:spcAft>
                <a:spcPts val="300"/>
              </a:spcAft>
              <a:buNone/>
            </a:pPr>
            <a:r>
              <a:rPr lang="en-US" sz="1400" b="1" dirty="0">
                <a:solidFill>
                  <a:srgbClr val="E8B4B0"/>
                </a:solidFill>
                <a:latin typeface="Courier New" pitchFamily="34" charset="0"/>
                <a:ea typeface="Courier New" pitchFamily="34" charset="-122"/>
                <a:cs typeface="Courier New" pitchFamily="34" charset="-120"/>
              </a:rPr>
              <a:t> </a:t>
            </a:r>
            <a:pPr indent="0" marL="0">
              <a:spcAft>
                <a:spcPts val="300"/>
              </a:spcAft>
              <a:buNone/>
            </a:pPr>
            <a:endParaRPr lang="en-US" sz="1400" dirty="0"/>
          </a:p>
          <a:p>
            <a:pPr indent="0" marL="0">
              <a:spcAft>
                <a:spcPts val="300"/>
              </a:spcAft>
              <a:buNone/>
            </a:pPr>
            <a:r>
              <a:rPr lang="en-US" sz="1400" b="1" dirty="0">
                <a:solidFill>
                  <a:srgbClr val="E8B4B0"/>
                </a:solidFill>
                <a:latin typeface="Courier New" pitchFamily="34" charset="0"/>
                <a:ea typeface="Courier New" pitchFamily="34" charset="-122"/>
                <a:cs typeface="Courier New" pitchFamily="34" charset="-120"/>
              </a:rPr>
              <a:t>context </a:t>
            </a:r>
            <a:pPr indent="0" marL="0">
              <a:spcAft>
                <a:spcPts val="300"/>
              </a:spcAft>
              <a:buNone/>
            </a:pPr>
            <a:r>
              <a:rPr lang="en-US" sz="1400" b="1" dirty="0">
                <a:solidFill>
                  <a:srgbClr val="FFFFFF"/>
                </a:solidFill>
                <a:latin typeface="Courier New" pitchFamily="34" charset="0"/>
                <a:ea typeface="Courier New" pitchFamily="34" charset="-122"/>
                <a:cs typeface="Courier New" pitchFamily="34" charset="-120"/>
              </a:rPr>
              <a:t>Materia::inscribir(a : Alumno)</a:t>
            </a:r>
            <a:endParaRPr lang="en-US" sz="1400" dirty="0"/>
          </a:p>
          <a:p>
            <a:pPr indent="0" marL="0">
              <a:spcAft>
                <a:spcPts val="300"/>
              </a:spcAft>
              <a:buNone/>
            </a:pPr>
            <a:r>
              <a:rPr lang="en-US" sz="1400" b="1" dirty="0">
                <a:solidFill>
                  <a:srgbClr val="E8B4B0"/>
                </a:solidFill>
                <a:latin typeface="Courier New" pitchFamily="34" charset="0"/>
                <a:ea typeface="Courier New" pitchFamily="34" charset="-122"/>
                <a:cs typeface="Courier New" pitchFamily="34" charset="-120"/>
              </a:rPr>
              <a:t>  pre:  </a:t>
            </a:r>
            <a:pPr indent="0" marL="0">
              <a:spcAft>
                <a:spcPts val="300"/>
              </a:spcAft>
              <a:buNone/>
            </a:pPr>
            <a:r>
              <a:rPr lang="en-US" sz="1400" dirty="0">
                <a:solidFill>
                  <a:srgbClr val="FFFFFF"/>
                </a:solidFill>
                <a:latin typeface="Courier New" pitchFamily="34" charset="0"/>
                <a:ea typeface="Courier New" pitchFamily="34" charset="-122"/>
                <a:cs typeface="Courier New" pitchFamily="34" charset="-120"/>
              </a:rPr>
              <a:t>not self.inscriptos-&gt;includes(a)</a:t>
            </a:r>
            <a:endParaRPr lang="en-US" sz="1400" dirty="0"/>
          </a:p>
          <a:p>
            <a:pPr indent="0" marL="0">
              <a:spcAft>
                <a:spcPts val="300"/>
              </a:spcAft>
              <a:buNone/>
            </a:pPr>
            <a:r>
              <a:rPr lang="en-US" sz="1400" b="1" dirty="0">
                <a:solidFill>
                  <a:srgbClr val="E8B4B0"/>
                </a:solidFill>
                <a:latin typeface="Courier New" pitchFamily="34" charset="0"/>
                <a:ea typeface="Courier New" pitchFamily="34" charset="-122"/>
                <a:cs typeface="Courier New" pitchFamily="34" charset="-120"/>
              </a:rPr>
              <a:t>  post: </a:t>
            </a:r>
            <a:pPr indent="0" marL="0">
              <a:spcAft>
                <a:spcPts val="300"/>
              </a:spcAft>
              <a:buNone/>
            </a:pPr>
            <a:r>
              <a:rPr lang="en-US" sz="1400" dirty="0">
                <a:solidFill>
                  <a:srgbClr val="FFFFFF"/>
                </a:solidFill>
                <a:latin typeface="Courier New" pitchFamily="34" charset="0"/>
                <a:ea typeface="Courier New" pitchFamily="34" charset="-122"/>
                <a:cs typeface="Courier New" pitchFamily="34" charset="-120"/>
              </a:rPr>
              <a:t>self.inscriptos =</a:t>
            </a:r>
            <a:endParaRPr lang="en-US" sz="1400" dirty="0"/>
          </a:p>
          <a:p>
            <a:pPr indent="0" marL="0">
              <a:spcAft>
                <a:spcPts val="300"/>
              </a:spcAft>
              <a:buNone/>
            </a:pPr>
            <a:r>
              <a:rPr lang="en-US" sz="1400" b="1" dirty="0">
                <a:solidFill>
                  <a:srgbClr val="E8B4B0"/>
                </a:solidFill>
                <a:latin typeface="Courier New" pitchFamily="34" charset="0"/>
                <a:ea typeface="Courier New" pitchFamily="34" charset="-122"/>
                <a:cs typeface="Courier New" pitchFamily="34" charset="-120"/>
              </a:rPr>
              <a:t>        </a:t>
            </a:r>
            <a:pPr indent="0" marL="0">
              <a:spcAft>
                <a:spcPts val="300"/>
              </a:spcAft>
              <a:buNone/>
            </a:pPr>
            <a:r>
              <a:rPr lang="en-US" sz="1400" dirty="0">
                <a:solidFill>
                  <a:srgbClr val="FFFFFF"/>
                </a:solidFill>
                <a:latin typeface="Courier New" pitchFamily="34" charset="0"/>
                <a:ea typeface="Courier New" pitchFamily="34" charset="-122"/>
                <a:cs typeface="Courier New" pitchFamily="34" charset="-120"/>
              </a:rPr>
              <a:t>self.inscriptos@pre-&gt;including(a)</a:t>
            </a:r>
            <a:endParaRPr lang="en-US" sz="1400" dirty="0"/>
          </a:p>
        </p:txBody>
      </p:sp>
      <p:sp>
        <p:nvSpPr>
          <p:cNvPr id="18" name="Shape 16"/>
          <p:cNvSpPr/>
          <p:nvPr/>
        </p:nvSpPr>
        <p:spPr>
          <a:xfrm>
            <a:off x="5029200" y="5074920"/>
            <a:ext cx="6583680" cy="1005840"/>
          </a:xfrm>
          <a:prstGeom prst="roundRect">
            <a:avLst>
              <a:gd name="adj" fmla="val 7273"/>
            </a:avLst>
          </a:prstGeom>
          <a:solidFill>
            <a:schemeClr val="accent4"/>
          </a:solidFill>
          <a:ln w="12700">
            <a:solidFill>
              <a:schemeClr val="accent4"/>
            </a:solidFill>
            <a:prstDash val="solid"/>
          </a:ln>
        </p:spPr>
      </p:sp>
      <p:sp>
        <p:nvSpPr>
          <p:cNvPr id="19" name="Text 17"/>
          <p:cNvSpPr txBox="1"/>
          <p:nvPr/>
        </p:nvSpPr>
        <p:spPr>
          <a:xfrm>
            <a:off x="5257800" y="5074920"/>
            <a:ext cx="6217920" cy="1005840"/>
          </a:xfrm>
          <a:prstGeom prst="rect">
            <a:avLst/>
          </a:prstGeom>
          <a:noFill/>
          <a:ln/>
        </p:spPr>
        <p:txBody>
          <a:bodyPr wrap="square" lIns="0" tIns="0" rIns="0" bIns="0" rtlCol="0" anchor="ctr"/>
          <a:lstStyle/>
          <a:p>
            <a:pPr indent="0" marL="0">
              <a:buNone/>
            </a:pPr>
            <a:r>
              <a:rPr lang="en-US" sz="1500" b="1" dirty="0">
                <a:solidFill>
                  <a:schemeClr val="accent1"/>
                </a:solidFill>
              </a:rPr>
              <a:t>Mismas ideas que Z (invariante, pre, post, estado anterior @pre), integradas a los diagramas de clases de la Unidad 4.</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5.9 · OTROS MODELOS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Otros modelos de especificación</a:t>
            </a:r>
            <a:endParaRPr lang="en-US" sz="3400" dirty="0"/>
          </a:p>
        </p:txBody>
      </p:sp>
      <p:sp>
        <p:nvSpPr>
          <p:cNvPr id="4" name="Shape 2"/>
          <p:cNvSpPr/>
          <p:nvPr/>
        </p:nvSpPr>
        <p:spPr>
          <a:xfrm>
            <a:off x="548640" y="1783080"/>
            <a:ext cx="3520440" cy="1965960"/>
          </a:xfrm>
          <a:prstGeom prst="roundRect">
            <a:avLst>
              <a:gd name="adj" fmla="val 3721"/>
            </a:avLst>
          </a:prstGeom>
          <a:solidFill>
            <a:schemeClr val="bg2"/>
          </a:solidFill>
          <a:ln w="12700">
            <a:solidFill>
              <a:schemeClr val="accent3"/>
            </a:solidFill>
            <a:prstDash val="solid"/>
          </a:ln>
        </p:spPr>
      </p:sp>
      <p:sp>
        <p:nvSpPr>
          <p:cNvPr id="5" name="Shape 3"/>
          <p:cNvSpPr/>
          <p:nvPr/>
        </p:nvSpPr>
        <p:spPr>
          <a:xfrm>
            <a:off x="777240" y="2011680"/>
            <a:ext cx="640080" cy="64008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937260" y="2171700"/>
            <a:ext cx="320040" cy="320040"/>
          </a:xfrm>
          <a:prstGeom prst="rect">
            <a:avLst/>
          </a:prstGeom>
        </p:spPr>
      </p:pic>
      <p:sp>
        <p:nvSpPr>
          <p:cNvPr id="7" name="Text 4"/>
          <p:cNvSpPr txBox="1"/>
          <p:nvPr/>
        </p:nvSpPr>
        <p:spPr>
          <a:xfrm>
            <a:off x="1554480" y="201168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Statecharts</a:t>
            </a:r>
            <a:endParaRPr lang="en-US" sz="1800" dirty="0"/>
          </a:p>
        </p:txBody>
      </p:sp>
      <p:sp>
        <p:nvSpPr>
          <p:cNvPr id="8" name="Text 5"/>
          <p:cNvSpPr txBox="1"/>
          <p:nvPr/>
        </p:nvSpPr>
        <p:spPr>
          <a:xfrm>
            <a:off x="777240" y="2743200"/>
            <a:ext cx="3108960" cy="914400"/>
          </a:xfrm>
          <a:prstGeom prst="rect">
            <a:avLst/>
          </a:prstGeom>
          <a:noFill/>
          <a:ln/>
        </p:spPr>
        <p:txBody>
          <a:bodyPr wrap="square" lIns="0" tIns="0" rIns="0" bIns="0" rtlCol="0" anchor="t"/>
          <a:lstStyle/>
          <a:p>
            <a:pPr indent="0" marL="0">
              <a:buNone/>
            </a:pPr>
            <a:r>
              <a:rPr lang="en-US" sz="1450" dirty="0">
                <a:solidFill>
                  <a:schemeClr val="tx1"/>
                </a:solidFill>
              </a:rPr>
              <a:t>MEF jerárquicas y concurrentes (Harel); base de las máquinas de estado UML.</a:t>
            </a:r>
            <a:endParaRPr lang="en-US" sz="1450" dirty="0"/>
          </a:p>
        </p:txBody>
      </p:sp>
      <p:sp>
        <p:nvSpPr>
          <p:cNvPr id="9" name="Shape 6"/>
          <p:cNvSpPr/>
          <p:nvPr/>
        </p:nvSpPr>
        <p:spPr>
          <a:xfrm>
            <a:off x="4297680" y="1783080"/>
            <a:ext cx="3520440" cy="1965960"/>
          </a:xfrm>
          <a:prstGeom prst="roundRect">
            <a:avLst>
              <a:gd name="adj" fmla="val 3721"/>
            </a:avLst>
          </a:prstGeom>
          <a:solidFill>
            <a:schemeClr val="bg2"/>
          </a:solidFill>
          <a:ln w="12700">
            <a:solidFill>
              <a:schemeClr val="accent3"/>
            </a:solidFill>
            <a:prstDash val="solid"/>
          </a:ln>
        </p:spPr>
      </p:sp>
      <p:sp>
        <p:nvSpPr>
          <p:cNvPr id="10" name="Shape 7"/>
          <p:cNvSpPr/>
          <p:nvPr/>
        </p:nvSpPr>
        <p:spPr>
          <a:xfrm>
            <a:off x="4526280" y="2011680"/>
            <a:ext cx="640080" cy="64008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86300" y="2171700"/>
            <a:ext cx="320040" cy="320040"/>
          </a:xfrm>
          <a:prstGeom prst="rect">
            <a:avLst/>
          </a:prstGeom>
        </p:spPr>
      </p:pic>
      <p:sp>
        <p:nvSpPr>
          <p:cNvPr id="12" name="Text 8"/>
          <p:cNvSpPr txBox="1"/>
          <p:nvPr/>
        </p:nvSpPr>
        <p:spPr>
          <a:xfrm>
            <a:off x="5303520" y="201168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Lógica temporal</a:t>
            </a:r>
            <a:endParaRPr lang="en-US" sz="1800" dirty="0"/>
          </a:p>
        </p:txBody>
      </p:sp>
      <p:sp>
        <p:nvSpPr>
          <p:cNvPr id="13" name="Text 9"/>
          <p:cNvSpPr txBox="1"/>
          <p:nvPr/>
        </p:nvSpPr>
        <p:spPr>
          <a:xfrm>
            <a:off x="4526280" y="2743200"/>
            <a:ext cx="3108960" cy="914400"/>
          </a:xfrm>
          <a:prstGeom prst="rect">
            <a:avLst/>
          </a:prstGeom>
          <a:noFill/>
          <a:ln/>
        </p:spPr>
        <p:txBody>
          <a:bodyPr wrap="square" lIns="0" tIns="0" rIns="0" bIns="0" rtlCol="0" anchor="t"/>
          <a:lstStyle/>
          <a:p>
            <a:pPr indent="0" marL="0">
              <a:buNone/>
            </a:pPr>
            <a:r>
              <a:rPr lang="en-US" sz="1450" dirty="0">
                <a:solidFill>
                  <a:schemeClr val="tx1"/>
                </a:solidFill>
              </a:rPr>
              <a:t>Propiedades en el tiempo:  □(pedido ⇒ ◇respuesta)  «todo pedido es atendido alguna vez».</a:t>
            </a:r>
            <a:endParaRPr lang="en-US" sz="1450" dirty="0"/>
          </a:p>
        </p:txBody>
      </p:sp>
      <p:sp>
        <p:nvSpPr>
          <p:cNvPr id="14" name="Shape 10"/>
          <p:cNvSpPr/>
          <p:nvPr/>
        </p:nvSpPr>
        <p:spPr>
          <a:xfrm>
            <a:off x="8046720" y="1783080"/>
            <a:ext cx="3520440" cy="1965960"/>
          </a:xfrm>
          <a:prstGeom prst="roundRect">
            <a:avLst>
              <a:gd name="adj" fmla="val 3721"/>
            </a:avLst>
          </a:prstGeom>
          <a:solidFill>
            <a:schemeClr val="bg2"/>
          </a:solidFill>
          <a:ln w="12700">
            <a:solidFill>
              <a:schemeClr val="accent3"/>
            </a:solidFill>
            <a:prstDash val="solid"/>
          </a:ln>
        </p:spPr>
      </p:sp>
      <p:sp>
        <p:nvSpPr>
          <p:cNvPr id="15" name="Shape 11"/>
          <p:cNvSpPr/>
          <p:nvPr/>
        </p:nvSpPr>
        <p:spPr>
          <a:xfrm>
            <a:off x="8275320" y="2011680"/>
            <a:ext cx="640080" cy="64008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8435340" y="2171700"/>
            <a:ext cx="320040" cy="320040"/>
          </a:xfrm>
          <a:prstGeom prst="rect">
            <a:avLst/>
          </a:prstGeom>
        </p:spPr>
      </p:pic>
      <p:sp>
        <p:nvSpPr>
          <p:cNvPr id="17" name="Text 12"/>
          <p:cNvSpPr txBox="1"/>
          <p:nvPr/>
        </p:nvSpPr>
        <p:spPr>
          <a:xfrm>
            <a:off x="9052560" y="201168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Álgebras de procesos</a:t>
            </a:r>
            <a:endParaRPr lang="en-US" sz="1800" dirty="0"/>
          </a:p>
        </p:txBody>
      </p:sp>
      <p:sp>
        <p:nvSpPr>
          <p:cNvPr id="18" name="Text 13"/>
          <p:cNvSpPr txBox="1"/>
          <p:nvPr/>
        </p:nvSpPr>
        <p:spPr>
          <a:xfrm>
            <a:off x="8275320" y="2743200"/>
            <a:ext cx="3108960" cy="914400"/>
          </a:xfrm>
          <a:prstGeom prst="rect">
            <a:avLst/>
          </a:prstGeom>
          <a:noFill/>
          <a:ln/>
        </p:spPr>
        <p:txBody>
          <a:bodyPr wrap="square" lIns="0" tIns="0" rIns="0" bIns="0" rtlCol="0" anchor="t"/>
          <a:lstStyle/>
          <a:p>
            <a:pPr indent="0" marL="0">
              <a:buNone/>
            </a:pPr>
            <a:r>
              <a:rPr lang="en-US" sz="1450" dirty="0">
                <a:solidFill>
                  <a:schemeClr val="tx1"/>
                </a:solidFill>
              </a:rPr>
              <a:t>CSP y CCS: procesos concurrentes que se comunican mediante eventos.</a:t>
            </a:r>
            <a:endParaRPr lang="en-US" sz="1450" dirty="0"/>
          </a:p>
        </p:txBody>
      </p:sp>
      <p:sp>
        <p:nvSpPr>
          <p:cNvPr id="19" name="Shape 14"/>
          <p:cNvSpPr/>
          <p:nvPr/>
        </p:nvSpPr>
        <p:spPr>
          <a:xfrm>
            <a:off x="548640" y="3977640"/>
            <a:ext cx="3520440" cy="1965960"/>
          </a:xfrm>
          <a:prstGeom prst="roundRect">
            <a:avLst>
              <a:gd name="adj" fmla="val 3721"/>
            </a:avLst>
          </a:prstGeom>
          <a:solidFill>
            <a:schemeClr val="bg2"/>
          </a:solidFill>
          <a:ln w="12700">
            <a:solidFill>
              <a:schemeClr val="accent3"/>
            </a:solidFill>
            <a:prstDash val="solid"/>
          </a:ln>
        </p:spPr>
      </p:sp>
      <p:sp>
        <p:nvSpPr>
          <p:cNvPr id="20" name="Shape 15"/>
          <p:cNvSpPr/>
          <p:nvPr/>
        </p:nvSpPr>
        <p:spPr>
          <a:xfrm>
            <a:off x="777240" y="4206240"/>
            <a:ext cx="640080" cy="64008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937260" y="4366260"/>
            <a:ext cx="320040" cy="320040"/>
          </a:xfrm>
          <a:prstGeom prst="rect">
            <a:avLst/>
          </a:prstGeom>
        </p:spPr>
      </p:pic>
      <p:sp>
        <p:nvSpPr>
          <p:cNvPr id="22" name="Text 16"/>
          <p:cNvSpPr txBox="1"/>
          <p:nvPr/>
        </p:nvSpPr>
        <p:spPr>
          <a:xfrm>
            <a:off x="1554480" y="420624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TLA+</a:t>
            </a:r>
            <a:endParaRPr lang="en-US" sz="1800" dirty="0"/>
          </a:p>
        </p:txBody>
      </p:sp>
      <p:sp>
        <p:nvSpPr>
          <p:cNvPr id="23" name="Text 17"/>
          <p:cNvSpPr txBox="1"/>
          <p:nvPr/>
        </p:nvSpPr>
        <p:spPr>
          <a:xfrm>
            <a:off x="777240" y="4937760"/>
            <a:ext cx="3108960" cy="914400"/>
          </a:xfrm>
          <a:prstGeom prst="rect">
            <a:avLst/>
          </a:prstGeom>
          <a:noFill/>
          <a:ln/>
        </p:spPr>
        <p:txBody>
          <a:bodyPr wrap="square" lIns="0" tIns="0" rIns="0" bIns="0" rtlCol="0" anchor="t"/>
          <a:lstStyle/>
          <a:p>
            <a:pPr indent="0" marL="0">
              <a:buNone/>
            </a:pPr>
            <a:r>
              <a:rPr lang="en-US" sz="1450" dirty="0">
                <a:solidFill>
                  <a:schemeClr val="tx1"/>
                </a:solidFill>
              </a:rPr>
              <a:t>Sistemas concurrentes y distribuidos, verificados con model checking.</a:t>
            </a:r>
            <a:endParaRPr lang="en-US" sz="1450" dirty="0"/>
          </a:p>
        </p:txBody>
      </p:sp>
      <p:sp>
        <p:nvSpPr>
          <p:cNvPr id="24" name="Shape 18"/>
          <p:cNvSpPr/>
          <p:nvPr/>
        </p:nvSpPr>
        <p:spPr>
          <a:xfrm>
            <a:off x="4297680" y="3977640"/>
            <a:ext cx="3520440" cy="1965960"/>
          </a:xfrm>
          <a:prstGeom prst="roundRect">
            <a:avLst>
              <a:gd name="adj" fmla="val 3721"/>
            </a:avLst>
          </a:prstGeom>
          <a:solidFill>
            <a:schemeClr val="bg2"/>
          </a:solidFill>
          <a:ln w="12700">
            <a:solidFill>
              <a:schemeClr val="accent3"/>
            </a:solidFill>
            <a:prstDash val="solid"/>
          </a:ln>
        </p:spPr>
      </p:sp>
      <p:sp>
        <p:nvSpPr>
          <p:cNvPr id="25" name="Shape 19"/>
          <p:cNvSpPr/>
          <p:nvPr/>
        </p:nvSpPr>
        <p:spPr>
          <a:xfrm>
            <a:off x="4526280" y="4206240"/>
            <a:ext cx="640080" cy="640080"/>
          </a:xfrm>
          <a:prstGeom prst="ellipse">
            <a:avLst/>
          </a:prstGeom>
          <a:solidFill>
            <a:schemeClr val="tx2"/>
          </a:solidFill>
          <a:ln w="12700">
            <a:solidFill>
              <a:schemeClr val="tx2"/>
            </a:solidFill>
            <a:prstDash val="solid"/>
          </a:ln>
        </p:spPr>
      </p:sp>
      <p:pic>
        <p:nvPicPr>
          <p:cNvPr id="26" name="Image 4" descr="preencoded.png">    </p:cNvPr>
          <p:cNvPicPr>
            <a:picLocks noChangeAspect="1"/>
          </p:cNvPicPr>
          <p:nvPr/>
        </p:nvPicPr>
        <p:blipFill>
          <a:blip r:embed="rId5"/>
          <a:stretch>
            <a:fillRect/>
          </a:stretch>
        </p:blipFill>
        <p:spPr>
          <a:xfrm>
            <a:off x="4686300" y="4366260"/>
            <a:ext cx="320040" cy="320040"/>
          </a:xfrm>
          <a:prstGeom prst="rect">
            <a:avLst/>
          </a:prstGeom>
        </p:spPr>
      </p:pic>
      <p:sp>
        <p:nvSpPr>
          <p:cNvPr id="27" name="Text 20"/>
          <p:cNvSpPr txBox="1"/>
          <p:nvPr/>
        </p:nvSpPr>
        <p:spPr>
          <a:xfrm>
            <a:off x="5303520" y="420624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Alloy</a:t>
            </a:r>
            <a:endParaRPr lang="en-US" sz="1800" dirty="0"/>
          </a:p>
        </p:txBody>
      </p:sp>
      <p:sp>
        <p:nvSpPr>
          <p:cNvPr id="28" name="Text 21"/>
          <p:cNvSpPr txBox="1"/>
          <p:nvPr/>
        </p:nvSpPr>
        <p:spPr>
          <a:xfrm>
            <a:off x="4526280" y="4937760"/>
            <a:ext cx="3108960" cy="914400"/>
          </a:xfrm>
          <a:prstGeom prst="rect">
            <a:avLst/>
          </a:prstGeom>
          <a:noFill/>
          <a:ln/>
        </p:spPr>
        <p:txBody>
          <a:bodyPr wrap="square" lIns="0" tIns="0" rIns="0" bIns="0" rtlCol="0" anchor="t"/>
          <a:lstStyle/>
          <a:p>
            <a:pPr indent="0" marL="0">
              <a:buNone/>
            </a:pPr>
            <a:r>
              <a:rPr lang="en-US" sz="1450" dirty="0">
                <a:solidFill>
                  <a:schemeClr val="tx1"/>
                </a:solidFill>
              </a:rPr>
              <a:t>Modelado relacional con búsqueda automática de contraejemplos.</a:t>
            </a:r>
            <a:endParaRPr lang="en-US" sz="1450" dirty="0"/>
          </a:p>
        </p:txBody>
      </p:sp>
      <p:sp>
        <p:nvSpPr>
          <p:cNvPr id="29" name="Shape 22"/>
          <p:cNvSpPr/>
          <p:nvPr/>
        </p:nvSpPr>
        <p:spPr>
          <a:xfrm>
            <a:off x="8046720" y="3977640"/>
            <a:ext cx="3520440" cy="1965960"/>
          </a:xfrm>
          <a:prstGeom prst="roundRect">
            <a:avLst>
              <a:gd name="adj" fmla="val 3721"/>
            </a:avLst>
          </a:prstGeom>
          <a:solidFill>
            <a:schemeClr val="bg2"/>
          </a:solidFill>
          <a:ln w="12700">
            <a:solidFill>
              <a:schemeClr val="accent3"/>
            </a:solidFill>
            <a:prstDash val="solid"/>
          </a:ln>
        </p:spPr>
      </p:sp>
      <p:sp>
        <p:nvSpPr>
          <p:cNvPr id="30" name="Shape 23"/>
          <p:cNvSpPr/>
          <p:nvPr/>
        </p:nvSpPr>
        <p:spPr>
          <a:xfrm>
            <a:off x="8275320" y="4206240"/>
            <a:ext cx="640080" cy="640080"/>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8435340" y="4366260"/>
            <a:ext cx="320040" cy="320040"/>
          </a:xfrm>
          <a:prstGeom prst="rect">
            <a:avLst/>
          </a:prstGeom>
        </p:spPr>
      </p:pic>
      <p:sp>
        <p:nvSpPr>
          <p:cNvPr id="32" name="Text 24"/>
          <p:cNvSpPr txBox="1"/>
          <p:nvPr/>
        </p:nvSpPr>
        <p:spPr>
          <a:xfrm>
            <a:off x="9052560" y="4206240"/>
            <a:ext cx="2377440" cy="640080"/>
          </a:xfrm>
          <a:prstGeom prst="rect">
            <a:avLst/>
          </a:prstGeom>
          <a:noFill/>
          <a:ln/>
        </p:spPr>
        <p:txBody>
          <a:bodyPr wrap="square" lIns="0" tIns="0" rIns="0" bIns="0" rtlCol="0" anchor="ctr"/>
          <a:lstStyle/>
          <a:p>
            <a:pPr indent="0" marL="0">
              <a:buNone/>
            </a:pPr>
            <a:r>
              <a:rPr lang="en-US" sz="1800" b="1" dirty="0">
                <a:solidFill>
                  <a:schemeClr val="tx2"/>
                </a:solidFill>
              </a:rPr>
              <a:t>Diseño por contrato</a:t>
            </a:r>
            <a:endParaRPr lang="en-US" sz="1800" dirty="0"/>
          </a:p>
        </p:txBody>
      </p:sp>
      <p:sp>
        <p:nvSpPr>
          <p:cNvPr id="33" name="Text 25"/>
          <p:cNvSpPr txBox="1"/>
          <p:nvPr/>
        </p:nvSpPr>
        <p:spPr>
          <a:xfrm>
            <a:off x="8275320" y="4937760"/>
            <a:ext cx="3108960" cy="914400"/>
          </a:xfrm>
          <a:prstGeom prst="rect">
            <a:avLst/>
          </a:prstGeom>
          <a:noFill/>
          <a:ln/>
        </p:spPr>
        <p:txBody>
          <a:bodyPr wrap="square" lIns="0" tIns="0" rIns="0" bIns="0" rtlCol="0" anchor="t"/>
          <a:lstStyle/>
          <a:p>
            <a:pPr indent="0" marL="0">
              <a:buNone/>
            </a:pPr>
            <a:r>
              <a:rPr lang="en-US" sz="1450" dirty="0">
                <a:solidFill>
                  <a:schemeClr val="tx1"/>
                </a:solidFill>
              </a:rPr>
              <a:t>Pre, post e invariantes dentro del código (Eiffel; guardas y aserciones en C#).</a:t>
            </a:r>
            <a:endParaRPr lang="en-US" sz="14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SÍNTESIS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Ideas clave de la unidad</a:t>
            </a:r>
            <a:endParaRPr lang="en-US" sz="3400" dirty="0"/>
          </a:p>
        </p:txBody>
      </p:sp>
      <p:sp>
        <p:nvSpPr>
          <p:cNvPr id="4" name="Shape 2"/>
          <p:cNvSpPr/>
          <p:nvPr/>
        </p:nvSpPr>
        <p:spPr>
          <a:xfrm>
            <a:off x="548640" y="1856232"/>
            <a:ext cx="594360" cy="594360"/>
          </a:xfrm>
          <a:prstGeom prst="ellipse">
            <a:avLst/>
          </a:prstGeom>
          <a:solidFill>
            <a:schemeClr val="tx2"/>
          </a:solidFill>
          <a:ln w="12700">
            <a:solidFill>
              <a:schemeClr val="tx2"/>
            </a:solidFill>
            <a:prstDash val="solid"/>
          </a:ln>
        </p:spPr>
      </p:sp>
      <p:sp>
        <p:nvSpPr>
          <p:cNvPr id="5" name="Text 3"/>
          <p:cNvSpPr txBox="1"/>
          <p:nvPr/>
        </p:nvSpPr>
        <p:spPr>
          <a:xfrm>
            <a:off x="548640" y="1856232"/>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1371600" y="1783080"/>
            <a:ext cx="10241280" cy="731520"/>
          </a:xfrm>
          <a:prstGeom prst="roundRect">
            <a:avLst>
              <a:gd name="adj" fmla="val 10000"/>
            </a:avLst>
          </a:prstGeom>
          <a:solidFill>
            <a:schemeClr val="bg2"/>
          </a:solidFill>
          <a:ln w="12700">
            <a:solidFill>
              <a:schemeClr val="accent3"/>
            </a:solidFill>
            <a:prstDash val="solid"/>
          </a:ln>
        </p:spPr>
      </p:sp>
      <p:sp>
        <p:nvSpPr>
          <p:cNvPr id="7" name="Text 5"/>
          <p:cNvSpPr txBox="1"/>
          <p:nvPr/>
        </p:nvSpPr>
        <p:spPr>
          <a:xfrm>
            <a:off x="1600200" y="1783080"/>
            <a:ext cx="9875520" cy="731520"/>
          </a:xfrm>
          <a:prstGeom prst="rect">
            <a:avLst/>
          </a:prstGeom>
          <a:noFill/>
          <a:ln/>
        </p:spPr>
        <p:txBody>
          <a:bodyPr wrap="square" lIns="0" tIns="0" rIns="0" bIns="0" rtlCol="0" anchor="ctr"/>
          <a:lstStyle/>
          <a:p>
            <a:pPr indent="0" marL="0">
              <a:buNone/>
            </a:pPr>
            <a:r>
              <a:rPr lang="en-US" sz="1800" dirty="0">
                <a:solidFill>
                  <a:schemeClr val="tx1"/>
                </a:solidFill>
              </a:rPr>
              <a:t>Especificar es acordar qué hace un componente antes de decidir cómo lo hace.</a:t>
            </a:r>
            <a:endParaRPr lang="en-US" sz="1800" dirty="0"/>
          </a:p>
        </p:txBody>
      </p:sp>
      <p:sp>
        <p:nvSpPr>
          <p:cNvPr id="8" name="Shape 6"/>
          <p:cNvSpPr/>
          <p:nvPr/>
        </p:nvSpPr>
        <p:spPr>
          <a:xfrm>
            <a:off x="548640" y="2724912"/>
            <a:ext cx="594360" cy="594360"/>
          </a:xfrm>
          <a:prstGeom prst="ellipse">
            <a:avLst/>
          </a:prstGeom>
          <a:solidFill>
            <a:schemeClr val="tx2"/>
          </a:solidFill>
          <a:ln w="12700">
            <a:solidFill>
              <a:schemeClr val="tx2"/>
            </a:solidFill>
            <a:prstDash val="solid"/>
          </a:ln>
        </p:spPr>
      </p:sp>
      <p:sp>
        <p:nvSpPr>
          <p:cNvPr id="9" name="Text 7"/>
          <p:cNvSpPr txBox="1"/>
          <p:nvPr/>
        </p:nvSpPr>
        <p:spPr>
          <a:xfrm>
            <a:off x="548640" y="2724912"/>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0" name="Shape 8"/>
          <p:cNvSpPr/>
          <p:nvPr/>
        </p:nvSpPr>
        <p:spPr>
          <a:xfrm>
            <a:off x="1371600" y="2651760"/>
            <a:ext cx="10241280" cy="731520"/>
          </a:xfrm>
          <a:prstGeom prst="roundRect">
            <a:avLst>
              <a:gd name="adj" fmla="val 10000"/>
            </a:avLst>
          </a:prstGeom>
          <a:solidFill>
            <a:schemeClr val="bg2"/>
          </a:solidFill>
          <a:ln w="12700">
            <a:solidFill>
              <a:schemeClr val="accent3"/>
            </a:solidFill>
            <a:prstDash val="solid"/>
          </a:ln>
        </p:spPr>
      </p:sp>
      <p:sp>
        <p:nvSpPr>
          <p:cNvPr id="11" name="Text 9"/>
          <p:cNvSpPr txBox="1"/>
          <p:nvPr/>
        </p:nvSpPr>
        <p:spPr>
          <a:xfrm>
            <a:off x="1600200" y="2651760"/>
            <a:ext cx="9875520" cy="731520"/>
          </a:xfrm>
          <a:prstGeom prst="rect">
            <a:avLst/>
          </a:prstGeom>
          <a:noFill/>
          <a:ln/>
        </p:spPr>
        <p:txBody>
          <a:bodyPr wrap="square" lIns="0" tIns="0" rIns="0" bIns="0" rtlCol="0" anchor="ctr"/>
          <a:lstStyle/>
          <a:p>
            <a:pPr indent="0" marL="0">
              <a:buNone/>
            </a:pPr>
            <a:r>
              <a:rPr lang="en-US" sz="1800" dirty="0">
                <a:solidFill>
                  <a:schemeClr val="tx1"/>
                </a:solidFill>
              </a:rPr>
              <a:t>Una buena especificación es clara, consistente, completa e incremental.</a:t>
            </a:r>
            <a:endParaRPr lang="en-US" sz="1800" dirty="0"/>
          </a:p>
        </p:txBody>
      </p:sp>
      <p:sp>
        <p:nvSpPr>
          <p:cNvPr id="12" name="Shape 10"/>
          <p:cNvSpPr/>
          <p:nvPr/>
        </p:nvSpPr>
        <p:spPr>
          <a:xfrm>
            <a:off x="548640" y="3593592"/>
            <a:ext cx="594360" cy="594360"/>
          </a:xfrm>
          <a:prstGeom prst="ellipse">
            <a:avLst/>
          </a:prstGeom>
          <a:solidFill>
            <a:schemeClr val="tx2"/>
          </a:solidFill>
          <a:ln w="12700">
            <a:solidFill>
              <a:schemeClr val="tx2"/>
            </a:solidFill>
            <a:prstDash val="solid"/>
          </a:ln>
        </p:spPr>
      </p:sp>
      <p:sp>
        <p:nvSpPr>
          <p:cNvPr id="13" name="Text 11"/>
          <p:cNvSpPr txBox="1"/>
          <p:nvPr/>
        </p:nvSpPr>
        <p:spPr>
          <a:xfrm>
            <a:off x="548640" y="3593592"/>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4" name="Shape 12"/>
          <p:cNvSpPr/>
          <p:nvPr/>
        </p:nvSpPr>
        <p:spPr>
          <a:xfrm>
            <a:off x="1371600" y="3520440"/>
            <a:ext cx="10241280" cy="731520"/>
          </a:xfrm>
          <a:prstGeom prst="roundRect">
            <a:avLst>
              <a:gd name="adj" fmla="val 10000"/>
            </a:avLst>
          </a:prstGeom>
          <a:solidFill>
            <a:schemeClr val="bg2"/>
          </a:solidFill>
          <a:ln w="12700">
            <a:solidFill>
              <a:schemeClr val="accent3"/>
            </a:solidFill>
            <a:prstDash val="solid"/>
          </a:ln>
        </p:spPr>
      </p:sp>
      <p:sp>
        <p:nvSpPr>
          <p:cNvPr id="15" name="Text 13"/>
          <p:cNvSpPr txBox="1"/>
          <p:nvPr/>
        </p:nvSpPr>
        <p:spPr>
          <a:xfrm>
            <a:off x="1600200" y="3520440"/>
            <a:ext cx="9875520" cy="731520"/>
          </a:xfrm>
          <a:prstGeom prst="rect">
            <a:avLst/>
          </a:prstGeom>
          <a:noFill/>
          <a:ln/>
        </p:spPr>
        <p:txBody>
          <a:bodyPr wrap="square" lIns="0" tIns="0" rIns="0" bIns="0" rtlCol="0" anchor="ctr"/>
          <a:lstStyle/>
          <a:p>
            <a:pPr indent="0" marL="0">
              <a:buNone/>
            </a:pPr>
            <a:r>
              <a:rPr lang="en-US" sz="1800" dirty="0">
                <a:solidFill>
                  <a:schemeClr val="tx1"/>
                </a:solidFill>
              </a:rPr>
              <a:t>Se clasifican en operacionales o descriptivas, y según su grado de formalidad.</a:t>
            </a:r>
            <a:endParaRPr lang="en-US" sz="1800" dirty="0"/>
          </a:p>
        </p:txBody>
      </p:sp>
      <p:sp>
        <p:nvSpPr>
          <p:cNvPr id="16" name="Shape 14"/>
          <p:cNvSpPr/>
          <p:nvPr/>
        </p:nvSpPr>
        <p:spPr>
          <a:xfrm>
            <a:off x="548640" y="4462272"/>
            <a:ext cx="594360" cy="594360"/>
          </a:xfrm>
          <a:prstGeom prst="ellipse">
            <a:avLst/>
          </a:prstGeom>
          <a:solidFill>
            <a:schemeClr val="tx2"/>
          </a:solidFill>
          <a:ln w="12700">
            <a:solidFill>
              <a:schemeClr val="tx2"/>
            </a:solidFill>
            <a:prstDash val="solid"/>
          </a:ln>
        </p:spPr>
      </p:sp>
      <p:sp>
        <p:nvSpPr>
          <p:cNvPr id="17" name="Text 15"/>
          <p:cNvSpPr txBox="1"/>
          <p:nvPr/>
        </p:nvSpPr>
        <p:spPr>
          <a:xfrm>
            <a:off x="548640" y="4462272"/>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8" name="Shape 16"/>
          <p:cNvSpPr/>
          <p:nvPr/>
        </p:nvSpPr>
        <p:spPr>
          <a:xfrm>
            <a:off x="1371600" y="4389120"/>
            <a:ext cx="10241280" cy="731520"/>
          </a:xfrm>
          <a:prstGeom prst="roundRect">
            <a:avLst>
              <a:gd name="adj" fmla="val 10000"/>
            </a:avLst>
          </a:prstGeom>
          <a:solidFill>
            <a:schemeClr val="bg2"/>
          </a:solidFill>
          <a:ln w="12700">
            <a:solidFill>
              <a:schemeClr val="accent3"/>
            </a:solidFill>
            <a:prstDash val="solid"/>
          </a:ln>
        </p:spPr>
      </p:sp>
      <p:sp>
        <p:nvSpPr>
          <p:cNvPr id="19" name="Text 17"/>
          <p:cNvSpPr txBox="1"/>
          <p:nvPr/>
        </p:nvSpPr>
        <p:spPr>
          <a:xfrm>
            <a:off x="1600200" y="4389120"/>
            <a:ext cx="9875520" cy="731520"/>
          </a:xfrm>
          <a:prstGeom prst="rect">
            <a:avLst/>
          </a:prstGeom>
          <a:noFill/>
          <a:ln/>
        </p:spPr>
        <p:txBody>
          <a:bodyPr wrap="square" lIns="0" tIns="0" rIns="0" bIns="0" rtlCol="0" anchor="ctr"/>
          <a:lstStyle/>
          <a:p>
            <a:pPr indent="0" marL="0">
              <a:buNone/>
            </a:pPr>
            <a:r>
              <a:rPr lang="en-US" sz="1800" dirty="0">
                <a:solidFill>
                  <a:schemeClr val="tx1"/>
                </a:solidFill>
              </a:rPr>
              <a:t>Ninguna notación sirve para todo: se combinan según el aspecto a describir.</a:t>
            </a:r>
            <a:endParaRPr lang="en-US" sz="1800" dirty="0"/>
          </a:p>
        </p:txBody>
      </p:sp>
      <p:sp>
        <p:nvSpPr>
          <p:cNvPr id="20" name="Shape 18"/>
          <p:cNvSpPr/>
          <p:nvPr/>
        </p:nvSpPr>
        <p:spPr>
          <a:xfrm>
            <a:off x="548640" y="5330952"/>
            <a:ext cx="594360" cy="594360"/>
          </a:xfrm>
          <a:prstGeom prst="ellipse">
            <a:avLst/>
          </a:prstGeom>
          <a:solidFill>
            <a:schemeClr val="accent1"/>
          </a:solidFill>
          <a:ln w="12700">
            <a:solidFill>
              <a:schemeClr val="tx2"/>
            </a:solidFill>
            <a:prstDash val="solid"/>
          </a:ln>
        </p:spPr>
      </p:sp>
      <p:sp>
        <p:nvSpPr>
          <p:cNvPr id="21" name="Text 19"/>
          <p:cNvSpPr txBox="1"/>
          <p:nvPr/>
        </p:nvSpPr>
        <p:spPr>
          <a:xfrm>
            <a:off x="548640" y="5330952"/>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22" name="Shape 20"/>
          <p:cNvSpPr/>
          <p:nvPr/>
        </p:nvSpPr>
        <p:spPr>
          <a:xfrm>
            <a:off x="1371600" y="5257800"/>
            <a:ext cx="10241280" cy="731520"/>
          </a:xfrm>
          <a:prstGeom prst="roundRect">
            <a:avLst>
              <a:gd name="adj" fmla="val 10000"/>
            </a:avLst>
          </a:prstGeom>
          <a:solidFill>
            <a:schemeClr val="bg2"/>
          </a:solidFill>
          <a:ln w="12700">
            <a:solidFill>
              <a:schemeClr val="accent3"/>
            </a:solidFill>
            <a:prstDash val="solid"/>
          </a:ln>
        </p:spPr>
      </p:sp>
      <p:sp>
        <p:nvSpPr>
          <p:cNvPr id="23" name="Text 21"/>
          <p:cNvSpPr txBox="1"/>
          <p:nvPr/>
        </p:nvSpPr>
        <p:spPr>
          <a:xfrm>
            <a:off x="1600200" y="5257800"/>
            <a:ext cx="9875520" cy="731520"/>
          </a:xfrm>
          <a:prstGeom prst="rect">
            <a:avLst/>
          </a:prstGeom>
          <a:noFill/>
          <a:ln/>
        </p:spPr>
        <p:txBody>
          <a:bodyPr wrap="square" lIns="0" tIns="0" rIns="0" bIns="0" rtlCol="0" anchor="ctr"/>
          <a:lstStyle/>
          <a:p>
            <a:pPr indent="0" marL="0">
              <a:buNone/>
            </a:pPr>
            <a:r>
              <a:rPr lang="en-US" sz="1800" b="1" dirty="0">
                <a:solidFill>
                  <a:schemeClr val="accent1"/>
                </a:solidFill>
              </a:rPr>
              <a:t>La formalidad tiene un costo: se justifica donde un error cuesta caro.</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t"/>
          <a:lstStyle/>
          <a:p>
            <a:pPr indent="0" marL="0">
              <a:buNone/>
            </a:pPr>
            <a:r>
              <a:rPr lang="en-US" sz="1400" b="1" spc="300" kern="0" dirty="0">
                <a:solidFill>
                  <a:srgbClr val="E8B4B0"/>
                </a:solidFill>
              </a:rPr>
              <a:t>VIGENCIA</a:t>
            </a:r>
            <a:endParaRPr lang="en-US" sz="1400" dirty="0"/>
          </a:p>
        </p:txBody>
      </p:sp>
      <p:sp>
        <p:nvSpPr>
          <p:cNvPr id="3" name="Text 1"/>
          <p:cNvSpPr txBox="1"/>
          <p:nvPr/>
        </p:nvSpPr>
        <p:spPr>
          <a:xfrm>
            <a:off x="548640" y="822960"/>
            <a:ext cx="10972800" cy="73152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La especificación hoy</a:t>
            </a:r>
            <a:endParaRPr lang="en-US" sz="3400" dirty="0"/>
          </a:p>
        </p:txBody>
      </p:sp>
      <p:sp>
        <p:nvSpPr>
          <p:cNvPr id="4" name="Shape 2"/>
          <p:cNvSpPr/>
          <p:nvPr/>
        </p:nvSpPr>
        <p:spPr>
          <a:xfrm>
            <a:off x="548640" y="1874520"/>
            <a:ext cx="5394960" cy="1874520"/>
          </a:xfrm>
          <a:prstGeom prst="roundRect">
            <a:avLst>
              <a:gd name="adj" fmla="val 3902"/>
            </a:avLst>
          </a:prstGeom>
          <a:solidFill>
            <a:srgbClr val="2A3570"/>
          </a:solidFill>
          <a:ln w="12700">
            <a:solidFill>
              <a:srgbClr val="3D4A8A"/>
            </a:solidFill>
            <a:prstDash val="solid"/>
          </a:ln>
        </p:spPr>
      </p:sp>
      <p:sp>
        <p:nvSpPr>
          <p:cNvPr id="5" name="Shape 3"/>
          <p:cNvSpPr/>
          <p:nvPr/>
        </p:nvSpPr>
        <p:spPr>
          <a:xfrm>
            <a:off x="822960" y="2148840"/>
            <a:ext cx="685800" cy="6858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94410" y="2320290"/>
            <a:ext cx="342900" cy="342900"/>
          </a:xfrm>
          <a:prstGeom prst="rect">
            <a:avLst/>
          </a:prstGeom>
        </p:spPr>
      </p:pic>
      <p:sp>
        <p:nvSpPr>
          <p:cNvPr id="7" name="Text 4"/>
          <p:cNvSpPr txBox="1"/>
          <p:nvPr/>
        </p:nvSpPr>
        <p:spPr>
          <a:xfrm>
            <a:off x="1691640" y="2148840"/>
            <a:ext cx="4023360" cy="685800"/>
          </a:xfrm>
          <a:prstGeom prst="rect">
            <a:avLst/>
          </a:prstGeom>
          <a:noFill/>
          <a:ln/>
        </p:spPr>
        <p:txBody>
          <a:bodyPr wrap="square" lIns="0" tIns="0" rIns="0" bIns="0" rtlCol="0" anchor="ctr"/>
          <a:lstStyle/>
          <a:p>
            <a:pPr indent="0" marL="0">
              <a:buNone/>
            </a:pPr>
            <a:r>
              <a:rPr lang="en-US" sz="1900" b="1" dirty="0">
                <a:solidFill>
                  <a:schemeClr val="bg1"/>
                </a:solidFill>
              </a:rPr>
              <a:t>TLA+ en la industria</a:t>
            </a:r>
            <a:endParaRPr lang="en-US" sz="1900" dirty="0"/>
          </a:p>
        </p:txBody>
      </p:sp>
      <p:sp>
        <p:nvSpPr>
          <p:cNvPr id="8" name="Text 5"/>
          <p:cNvSpPr txBox="1"/>
          <p:nvPr/>
        </p:nvSpPr>
        <p:spPr>
          <a:xfrm>
            <a:off x="822960" y="2926080"/>
            <a:ext cx="4892040" cy="731520"/>
          </a:xfrm>
          <a:prstGeom prst="rect">
            <a:avLst/>
          </a:prstGeom>
          <a:noFill/>
          <a:ln/>
        </p:spPr>
        <p:txBody>
          <a:bodyPr wrap="square" lIns="0" tIns="0" rIns="0" bIns="0" rtlCol="0" anchor="t"/>
          <a:lstStyle/>
          <a:p>
            <a:pPr indent="0" marL="0">
              <a:buNone/>
            </a:pPr>
            <a:r>
              <a:rPr lang="en-US" sz="1500" dirty="0">
                <a:solidFill>
                  <a:srgbClr val="D3D9EA"/>
                </a:solidFill>
              </a:rPr>
              <a:t>Amazon Web Services usa TLA+ para verificar el diseño de servicios distribuidos (Newcombe et al., 2015).</a:t>
            </a:r>
            <a:endParaRPr lang="en-US" sz="1500" dirty="0"/>
          </a:p>
        </p:txBody>
      </p:sp>
      <p:sp>
        <p:nvSpPr>
          <p:cNvPr id="9" name="Shape 6"/>
          <p:cNvSpPr/>
          <p:nvPr/>
        </p:nvSpPr>
        <p:spPr>
          <a:xfrm>
            <a:off x="6217920" y="1874520"/>
            <a:ext cx="5394960" cy="1874520"/>
          </a:xfrm>
          <a:prstGeom prst="roundRect">
            <a:avLst>
              <a:gd name="adj" fmla="val 3902"/>
            </a:avLst>
          </a:prstGeom>
          <a:solidFill>
            <a:srgbClr val="2A3570"/>
          </a:solidFill>
          <a:ln w="12700">
            <a:solidFill>
              <a:srgbClr val="3D4A8A"/>
            </a:solidFill>
            <a:prstDash val="solid"/>
          </a:ln>
        </p:spPr>
      </p:sp>
      <p:sp>
        <p:nvSpPr>
          <p:cNvPr id="10" name="Shape 7"/>
          <p:cNvSpPr/>
          <p:nvPr/>
        </p:nvSpPr>
        <p:spPr>
          <a:xfrm>
            <a:off x="6492240" y="2148840"/>
            <a:ext cx="685800" cy="6858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663690" y="2320290"/>
            <a:ext cx="342900" cy="342900"/>
          </a:xfrm>
          <a:prstGeom prst="rect">
            <a:avLst/>
          </a:prstGeom>
        </p:spPr>
      </p:pic>
      <p:sp>
        <p:nvSpPr>
          <p:cNvPr id="12" name="Text 8"/>
          <p:cNvSpPr txBox="1"/>
          <p:nvPr/>
        </p:nvSpPr>
        <p:spPr>
          <a:xfrm>
            <a:off x="7360920" y="2148840"/>
            <a:ext cx="4023360" cy="685800"/>
          </a:xfrm>
          <a:prstGeom prst="rect">
            <a:avLst/>
          </a:prstGeom>
          <a:noFill/>
          <a:ln/>
        </p:spPr>
        <p:txBody>
          <a:bodyPr wrap="square" lIns="0" tIns="0" rIns="0" bIns="0" rtlCol="0" anchor="ctr"/>
          <a:lstStyle/>
          <a:p>
            <a:pPr indent="0" marL="0">
              <a:buNone/>
            </a:pPr>
            <a:r>
              <a:rPr lang="en-US" sz="1900" b="1" dirty="0">
                <a:solidFill>
                  <a:schemeClr val="bg1"/>
                </a:solidFill>
              </a:rPr>
              <a:t>Sistemas críticos</a:t>
            </a:r>
            <a:endParaRPr lang="en-US" sz="1900" dirty="0"/>
          </a:p>
        </p:txBody>
      </p:sp>
      <p:sp>
        <p:nvSpPr>
          <p:cNvPr id="13" name="Text 9"/>
          <p:cNvSpPr txBox="1"/>
          <p:nvPr/>
        </p:nvSpPr>
        <p:spPr>
          <a:xfrm>
            <a:off x="6492240" y="2926080"/>
            <a:ext cx="4892040" cy="731520"/>
          </a:xfrm>
          <a:prstGeom prst="rect">
            <a:avLst/>
          </a:prstGeom>
          <a:noFill/>
          <a:ln/>
        </p:spPr>
        <p:txBody>
          <a:bodyPr wrap="square" lIns="0" tIns="0" rIns="0" bIns="0" rtlCol="0" anchor="t"/>
          <a:lstStyle/>
          <a:p>
            <a:pPr indent="0" marL="0">
              <a:buNone/>
            </a:pPr>
            <a:r>
              <a:rPr lang="en-US" sz="1500" dirty="0">
                <a:solidFill>
                  <a:srgbClr val="D3D9EA"/>
                </a:solidFill>
              </a:rPr>
              <a:t>El método B se usó para especificar el control automático de la línea 14 del metro de París.</a:t>
            </a:r>
            <a:endParaRPr lang="en-US" sz="1500" dirty="0"/>
          </a:p>
        </p:txBody>
      </p:sp>
      <p:sp>
        <p:nvSpPr>
          <p:cNvPr id="14" name="Shape 10"/>
          <p:cNvSpPr/>
          <p:nvPr/>
        </p:nvSpPr>
        <p:spPr>
          <a:xfrm>
            <a:off x="548640" y="3977640"/>
            <a:ext cx="5394960" cy="1874520"/>
          </a:xfrm>
          <a:prstGeom prst="roundRect">
            <a:avLst>
              <a:gd name="adj" fmla="val 3902"/>
            </a:avLst>
          </a:prstGeom>
          <a:solidFill>
            <a:srgbClr val="2A3570"/>
          </a:solidFill>
          <a:ln w="12700">
            <a:solidFill>
              <a:srgbClr val="3D4A8A"/>
            </a:solidFill>
            <a:prstDash val="solid"/>
          </a:ln>
        </p:spPr>
      </p:sp>
      <p:sp>
        <p:nvSpPr>
          <p:cNvPr id="15" name="Shape 11"/>
          <p:cNvSpPr/>
          <p:nvPr/>
        </p:nvSpPr>
        <p:spPr>
          <a:xfrm>
            <a:off x="822960" y="4251960"/>
            <a:ext cx="685800" cy="6858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994410" y="4423410"/>
            <a:ext cx="342900" cy="342900"/>
          </a:xfrm>
          <a:prstGeom prst="rect">
            <a:avLst/>
          </a:prstGeom>
        </p:spPr>
      </p:pic>
      <p:sp>
        <p:nvSpPr>
          <p:cNvPr id="17" name="Text 12"/>
          <p:cNvSpPr txBox="1"/>
          <p:nvPr/>
        </p:nvSpPr>
        <p:spPr>
          <a:xfrm>
            <a:off x="1691640" y="4251960"/>
            <a:ext cx="4023360" cy="685800"/>
          </a:xfrm>
          <a:prstGeom prst="rect">
            <a:avLst/>
          </a:prstGeom>
          <a:noFill/>
          <a:ln/>
        </p:spPr>
        <p:txBody>
          <a:bodyPr wrap="square" lIns="0" tIns="0" rIns="0" bIns="0" rtlCol="0" anchor="ctr"/>
          <a:lstStyle/>
          <a:p>
            <a:pPr indent="0" marL="0">
              <a:buNone/>
            </a:pPr>
            <a:r>
              <a:rPr lang="en-US" sz="1900" b="1" dirty="0">
                <a:solidFill>
                  <a:schemeClr val="bg1"/>
                </a:solidFill>
              </a:rPr>
              <a:t>Contratos de API</a:t>
            </a:r>
            <a:endParaRPr lang="en-US" sz="1900" dirty="0"/>
          </a:p>
        </p:txBody>
      </p:sp>
      <p:sp>
        <p:nvSpPr>
          <p:cNvPr id="18" name="Text 13"/>
          <p:cNvSpPr txBox="1"/>
          <p:nvPr/>
        </p:nvSpPr>
        <p:spPr>
          <a:xfrm>
            <a:off x="822960" y="5029200"/>
            <a:ext cx="4892040" cy="731520"/>
          </a:xfrm>
          <a:prstGeom prst="rect">
            <a:avLst/>
          </a:prstGeom>
          <a:noFill/>
          <a:ln/>
        </p:spPr>
        <p:txBody>
          <a:bodyPr wrap="square" lIns="0" tIns="0" rIns="0" bIns="0" rtlCol="0" anchor="t"/>
          <a:lstStyle/>
          <a:p>
            <a:pPr indent="0" marL="0">
              <a:buNone/>
            </a:pPr>
            <a:r>
              <a:rPr lang="en-US" sz="1500" dirty="0">
                <a:solidFill>
                  <a:srgbClr val="D3D9EA"/>
                </a:solidFill>
              </a:rPr>
              <a:t>OpenAPI y JSON Schema son especificaciones descriptivas de uso diario.</a:t>
            </a:r>
            <a:endParaRPr lang="en-US" sz="1500" dirty="0"/>
          </a:p>
        </p:txBody>
      </p:sp>
      <p:sp>
        <p:nvSpPr>
          <p:cNvPr id="19" name="Shape 14"/>
          <p:cNvSpPr/>
          <p:nvPr/>
        </p:nvSpPr>
        <p:spPr>
          <a:xfrm>
            <a:off x="6217920" y="3977640"/>
            <a:ext cx="5394960" cy="1874520"/>
          </a:xfrm>
          <a:prstGeom prst="roundRect">
            <a:avLst>
              <a:gd name="adj" fmla="val 3902"/>
            </a:avLst>
          </a:prstGeom>
          <a:solidFill>
            <a:srgbClr val="2A3570"/>
          </a:solidFill>
          <a:ln w="12700">
            <a:solidFill>
              <a:srgbClr val="3D4A8A"/>
            </a:solidFill>
            <a:prstDash val="solid"/>
          </a:ln>
        </p:spPr>
      </p:sp>
      <p:sp>
        <p:nvSpPr>
          <p:cNvPr id="20" name="Shape 15"/>
          <p:cNvSpPr/>
          <p:nvPr/>
        </p:nvSpPr>
        <p:spPr>
          <a:xfrm>
            <a:off x="6492240" y="4251960"/>
            <a:ext cx="685800" cy="68580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6663690" y="4423410"/>
            <a:ext cx="342900" cy="342900"/>
          </a:xfrm>
          <a:prstGeom prst="rect">
            <a:avLst/>
          </a:prstGeom>
        </p:spPr>
      </p:pic>
      <p:sp>
        <p:nvSpPr>
          <p:cNvPr id="22" name="Text 16"/>
          <p:cNvSpPr txBox="1"/>
          <p:nvPr/>
        </p:nvSpPr>
        <p:spPr>
          <a:xfrm>
            <a:off x="7360920" y="4251960"/>
            <a:ext cx="4023360" cy="685800"/>
          </a:xfrm>
          <a:prstGeom prst="rect">
            <a:avLst/>
          </a:prstGeom>
          <a:noFill/>
          <a:ln/>
        </p:spPr>
        <p:txBody>
          <a:bodyPr wrap="square" lIns="0" tIns="0" rIns="0" bIns="0" rtlCol="0" anchor="ctr"/>
          <a:lstStyle/>
          <a:p>
            <a:pPr indent="0" marL="0">
              <a:buNone/>
            </a:pPr>
            <a:r>
              <a:rPr lang="en-US" sz="1900" b="1" dirty="0">
                <a:solidFill>
                  <a:schemeClr val="bg1"/>
                </a:solidFill>
              </a:rPr>
              <a:t>BDD</a:t>
            </a:r>
            <a:endParaRPr lang="en-US" sz="1900" dirty="0"/>
          </a:p>
        </p:txBody>
      </p:sp>
      <p:sp>
        <p:nvSpPr>
          <p:cNvPr id="23" name="Text 17"/>
          <p:cNvSpPr txBox="1"/>
          <p:nvPr/>
        </p:nvSpPr>
        <p:spPr>
          <a:xfrm>
            <a:off x="6492240" y="5029200"/>
            <a:ext cx="4892040" cy="731520"/>
          </a:xfrm>
          <a:prstGeom prst="rect">
            <a:avLst/>
          </a:prstGeom>
          <a:noFill/>
          <a:ln/>
        </p:spPr>
        <p:txBody>
          <a:bodyPr wrap="square" lIns="0" tIns="0" rIns="0" bIns="0" rtlCol="0" anchor="t"/>
          <a:lstStyle/>
          <a:p>
            <a:pPr indent="0" marL="0">
              <a:buNone/>
            </a:pPr>
            <a:r>
              <a:rPr lang="en-US" sz="1500" dirty="0">
                <a:solidFill>
                  <a:srgbClr val="D3D9EA"/>
                </a:solidFill>
              </a:rPr>
              <a:t>Los criterios de aceptación se convierten en pruebas automatizadas.</a:t>
            </a:r>
            <a:endParaRPr lang="en-US" sz="1500" dirty="0"/>
          </a:p>
        </p:txBody>
      </p:sp>
      <p:sp>
        <p:nvSpPr>
          <p:cNvPr id="24" name="Text 18"/>
          <p:cNvSpPr txBox="1"/>
          <p:nvPr/>
        </p:nvSpPr>
        <p:spPr>
          <a:xfrm>
            <a:off x="548640" y="6172200"/>
            <a:ext cx="11064240" cy="411480"/>
          </a:xfrm>
          <a:prstGeom prst="rect">
            <a:avLst/>
          </a:prstGeom>
          <a:noFill/>
          <a:ln/>
        </p:spPr>
        <p:txBody>
          <a:bodyPr wrap="square" lIns="0" tIns="0" rIns="0" bIns="0" rtlCol="0" anchor="t"/>
          <a:lstStyle/>
          <a:p>
            <a:pPr indent="0" marL="0">
              <a:buNone/>
            </a:pPr>
            <a:r>
              <a:rPr lang="en-US" sz="1600" i="1" dirty="0">
                <a:solidFill>
                  <a:srgbClr val="E8B4B0"/>
                </a:solidFill>
              </a:rPr>
              <a:t>Las notaciones cambian; la necesidad de decir con precisión qué debe hacer el software, no.</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11064240" cy="329184"/>
          </a:xfrm>
          <a:prstGeom prst="rect">
            <a:avLst/>
          </a:prstGeom>
          <a:noFill/>
          <a:ln/>
        </p:spPr>
        <p:txBody>
          <a:bodyPr wrap="square" lIns="0" tIns="0" rIns="0" bIns="0" rtlCol="0" anchor="ctr"/>
          <a:lstStyle/>
          <a:p>
            <a:pPr indent="0" marL="0">
              <a:buNone/>
            </a:pPr>
            <a:r>
              <a:rPr lang="en-US" sz="1400" b="1" dirty="0">
                <a:solidFill>
                  <a:schemeClr val="accent1"/>
                </a:solidFill>
              </a:rPr>
              <a:t>REFERENCIAS</a:t>
            </a:r>
            <a:endParaRPr lang="en-US" sz="1400" dirty="0"/>
          </a:p>
        </p:txBody>
      </p:sp>
      <p:sp>
        <p:nvSpPr>
          <p:cNvPr id="3" name="Text 1"/>
          <p:cNvSpPr/>
          <p:nvPr>
            <p:ph idx="102" type="title" hasCustomPrompt="1"/>
          </p:nvPr>
        </p:nvSpPr>
        <p:spPr>
          <a:xfrm>
            <a:off x="548640" y="694944"/>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Bibliografía</a:t>
            </a:r>
            <a:endParaRPr lang="en-US" sz="3400" dirty="0"/>
          </a:p>
        </p:txBody>
      </p:sp>
      <p:sp>
        <p:nvSpPr>
          <p:cNvPr id="4" name="Shape 2"/>
          <p:cNvSpPr/>
          <p:nvPr/>
        </p:nvSpPr>
        <p:spPr>
          <a:xfrm>
            <a:off x="594360" y="1965960"/>
            <a:ext cx="228600" cy="228600"/>
          </a:xfrm>
          <a:prstGeom prst="ellipse">
            <a:avLst/>
          </a:prstGeom>
          <a:solidFill>
            <a:schemeClr val="accent1"/>
          </a:solidFill>
          <a:ln w="12700">
            <a:solidFill>
              <a:schemeClr val="tx2"/>
            </a:solidFill>
            <a:prstDash val="solid"/>
          </a:ln>
        </p:spPr>
      </p:sp>
      <p:sp>
        <p:nvSpPr>
          <p:cNvPr id="5" name="Text 3"/>
          <p:cNvSpPr txBox="1"/>
          <p:nvPr/>
        </p:nvSpPr>
        <p:spPr>
          <a:xfrm>
            <a:off x="1051560" y="1783080"/>
            <a:ext cx="10515600" cy="621792"/>
          </a:xfrm>
          <a:prstGeom prst="rect">
            <a:avLst/>
          </a:prstGeom>
          <a:noFill/>
          <a:ln/>
        </p:spPr>
        <p:txBody>
          <a:bodyPr wrap="square" lIns="0" tIns="0" rIns="0" bIns="0" rtlCol="0" anchor="ctr"/>
          <a:lstStyle/>
          <a:p>
            <a:pPr indent="0" marL="0">
              <a:buNone/>
            </a:pPr>
            <a:r>
              <a:rPr lang="en-US" sz="1600" b="1" dirty="0">
                <a:solidFill>
                  <a:schemeClr val="tx2"/>
                </a:solidFill>
              </a:rPr>
              <a:t>Ghezzi, C., Jazayeri, M. y Mandrioli, D. (2003).</a:t>
            </a:r>
            <a:pPr indent="0" marL="0">
              <a:buNone/>
            </a:pPr>
            <a:r>
              <a:rPr lang="en-US" sz="1600" dirty="0">
                <a:solidFill>
                  <a:schemeClr val="tx1"/>
                </a:solidFill>
              </a:rPr>
              <a:t> Fundamentals of Software Engineering, 2.ª ed. Prentice Hall. Cap. 5.</a:t>
            </a:r>
            <a:endParaRPr lang="en-US" sz="1600" dirty="0"/>
          </a:p>
        </p:txBody>
      </p:sp>
      <p:sp>
        <p:nvSpPr>
          <p:cNvPr id="6" name="Shape 4"/>
          <p:cNvSpPr/>
          <p:nvPr/>
        </p:nvSpPr>
        <p:spPr>
          <a:xfrm>
            <a:off x="594360" y="2697480"/>
            <a:ext cx="228600" cy="228600"/>
          </a:xfrm>
          <a:prstGeom prst="ellipse">
            <a:avLst/>
          </a:prstGeom>
          <a:solidFill>
            <a:schemeClr val="accent1"/>
          </a:solidFill>
          <a:ln w="12700">
            <a:solidFill>
              <a:schemeClr val="tx2"/>
            </a:solidFill>
            <a:prstDash val="solid"/>
          </a:ln>
        </p:spPr>
      </p:sp>
      <p:sp>
        <p:nvSpPr>
          <p:cNvPr id="7" name="Text 5"/>
          <p:cNvSpPr txBox="1"/>
          <p:nvPr/>
        </p:nvSpPr>
        <p:spPr>
          <a:xfrm>
            <a:off x="1051560" y="2514600"/>
            <a:ext cx="10515600" cy="621792"/>
          </a:xfrm>
          <a:prstGeom prst="rect">
            <a:avLst/>
          </a:prstGeom>
          <a:noFill/>
          <a:ln/>
        </p:spPr>
        <p:txBody>
          <a:bodyPr wrap="square" lIns="0" tIns="0" rIns="0" bIns="0" rtlCol="0" anchor="ctr"/>
          <a:lstStyle/>
          <a:p>
            <a:pPr indent="0" marL="0">
              <a:buNone/>
            </a:pPr>
            <a:r>
              <a:rPr lang="en-US" sz="1600" b="1" dirty="0">
                <a:solidFill>
                  <a:schemeClr val="tx2"/>
                </a:solidFill>
              </a:rPr>
              <a:t>Sommerville, I. (1992).</a:t>
            </a:r>
            <a:pPr indent="0" marL="0">
              <a:buNone/>
            </a:pPr>
            <a:r>
              <a:rPr lang="en-US" sz="1600" dirty="0">
                <a:solidFill>
                  <a:schemeClr val="tx1"/>
                </a:solidFill>
              </a:rPr>
              <a:t> Software Engineering. Addison-Wesley. Capítulos de especificación formal.</a:t>
            </a:r>
            <a:endParaRPr lang="en-US" sz="1600" dirty="0"/>
          </a:p>
        </p:txBody>
      </p:sp>
      <p:sp>
        <p:nvSpPr>
          <p:cNvPr id="8" name="Shape 6"/>
          <p:cNvSpPr/>
          <p:nvPr/>
        </p:nvSpPr>
        <p:spPr>
          <a:xfrm>
            <a:off x="594360" y="3429000"/>
            <a:ext cx="228600" cy="228600"/>
          </a:xfrm>
          <a:prstGeom prst="ellipse">
            <a:avLst/>
          </a:prstGeom>
          <a:solidFill>
            <a:schemeClr val="tx2"/>
          </a:solidFill>
          <a:ln w="12700">
            <a:solidFill>
              <a:schemeClr val="tx2"/>
            </a:solidFill>
            <a:prstDash val="solid"/>
          </a:ln>
        </p:spPr>
      </p:sp>
      <p:sp>
        <p:nvSpPr>
          <p:cNvPr id="9" name="Text 7"/>
          <p:cNvSpPr txBox="1"/>
          <p:nvPr/>
        </p:nvSpPr>
        <p:spPr>
          <a:xfrm>
            <a:off x="1051560" y="3246120"/>
            <a:ext cx="10515600" cy="621792"/>
          </a:xfrm>
          <a:prstGeom prst="rect">
            <a:avLst/>
          </a:prstGeom>
          <a:noFill/>
          <a:ln/>
        </p:spPr>
        <p:txBody>
          <a:bodyPr wrap="square" lIns="0" tIns="0" rIns="0" bIns="0" rtlCol="0" anchor="ctr"/>
          <a:lstStyle/>
          <a:p>
            <a:pPr indent="0" marL="0">
              <a:buNone/>
            </a:pPr>
            <a:r>
              <a:rPr lang="en-US" sz="1600" b="1" dirty="0">
                <a:solidFill>
                  <a:schemeClr val="tx2"/>
                </a:solidFill>
              </a:rPr>
              <a:t>Spivey, J. M. (1992).</a:t>
            </a:r>
            <a:pPr indent="0" marL="0">
              <a:buNone/>
            </a:pPr>
            <a:r>
              <a:rPr lang="en-US" sz="1600" dirty="0">
                <a:solidFill>
                  <a:schemeClr val="tx1"/>
                </a:solidFill>
              </a:rPr>
              <a:t> The Z Notation: A Reference Manual, 2.ª ed. Prentice Hall.</a:t>
            </a:r>
            <a:endParaRPr lang="en-US" sz="1600" dirty="0"/>
          </a:p>
        </p:txBody>
      </p:sp>
      <p:sp>
        <p:nvSpPr>
          <p:cNvPr id="10" name="Shape 8"/>
          <p:cNvSpPr/>
          <p:nvPr/>
        </p:nvSpPr>
        <p:spPr>
          <a:xfrm>
            <a:off x="594360" y="4160520"/>
            <a:ext cx="228600" cy="228600"/>
          </a:xfrm>
          <a:prstGeom prst="ellipse">
            <a:avLst/>
          </a:prstGeom>
          <a:solidFill>
            <a:schemeClr val="tx2"/>
          </a:solidFill>
          <a:ln w="12700">
            <a:solidFill>
              <a:schemeClr val="tx2"/>
            </a:solidFill>
            <a:prstDash val="solid"/>
          </a:ln>
        </p:spPr>
      </p:sp>
      <p:sp>
        <p:nvSpPr>
          <p:cNvPr id="11" name="Text 9"/>
          <p:cNvSpPr txBox="1"/>
          <p:nvPr/>
        </p:nvSpPr>
        <p:spPr>
          <a:xfrm>
            <a:off x="1051560" y="3977640"/>
            <a:ext cx="10515600" cy="621792"/>
          </a:xfrm>
          <a:prstGeom prst="rect">
            <a:avLst/>
          </a:prstGeom>
          <a:noFill/>
          <a:ln/>
        </p:spPr>
        <p:txBody>
          <a:bodyPr wrap="square" lIns="0" tIns="0" rIns="0" bIns="0" rtlCol="0" anchor="ctr"/>
          <a:lstStyle/>
          <a:p>
            <a:pPr indent="0" marL="0">
              <a:buNone/>
            </a:pPr>
            <a:r>
              <a:rPr lang="en-US" sz="1600" b="1" dirty="0">
                <a:solidFill>
                  <a:schemeClr val="tx2"/>
                </a:solidFill>
              </a:rPr>
              <a:t>Harel, D. (1987).</a:t>
            </a:r>
            <a:pPr indent="0" marL="0">
              <a:buNone/>
            </a:pPr>
            <a:r>
              <a:rPr lang="en-US" sz="1600" dirty="0">
                <a:solidFill>
                  <a:schemeClr val="tx1"/>
                </a:solidFill>
              </a:rPr>
              <a:t> Statecharts: A visual formalism for complex systems. Science of Computer Programming, 8(3).</a:t>
            </a:r>
            <a:endParaRPr lang="en-US" sz="1600" dirty="0"/>
          </a:p>
        </p:txBody>
      </p:sp>
      <p:sp>
        <p:nvSpPr>
          <p:cNvPr id="12" name="Shape 10"/>
          <p:cNvSpPr/>
          <p:nvPr/>
        </p:nvSpPr>
        <p:spPr>
          <a:xfrm>
            <a:off x="594360" y="4892040"/>
            <a:ext cx="228600" cy="228600"/>
          </a:xfrm>
          <a:prstGeom prst="ellipse">
            <a:avLst/>
          </a:prstGeom>
          <a:solidFill>
            <a:schemeClr val="tx2"/>
          </a:solidFill>
          <a:ln w="12700">
            <a:solidFill>
              <a:schemeClr val="tx2"/>
            </a:solidFill>
            <a:prstDash val="solid"/>
          </a:ln>
        </p:spPr>
      </p:sp>
      <p:sp>
        <p:nvSpPr>
          <p:cNvPr id="13" name="Text 11"/>
          <p:cNvSpPr txBox="1"/>
          <p:nvPr/>
        </p:nvSpPr>
        <p:spPr>
          <a:xfrm>
            <a:off x="1051560" y="4709160"/>
            <a:ext cx="10515600" cy="621792"/>
          </a:xfrm>
          <a:prstGeom prst="rect">
            <a:avLst/>
          </a:prstGeom>
          <a:noFill/>
          <a:ln/>
        </p:spPr>
        <p:txBody>
          <a:bodyPr wrap="square" lIns="0" tIns="0" rIns="0" bIns="0" rtlCol="0" anchor="ctr"/>
          <a:lstStyle/>
          <a:p>
            <a:pPr indent="0" marL="0">
              <a:buNone/>
            </a:pPr>
            <a:r>
              <a:rPr lang="en-US" sz="1600" b="1" dirty="0">
                <a:solidFill>
                  <a:schemeClr val="tx2"/>
                </a:solidFill>
              </a:rPr>
              <a:t>ISO/IEC/IEEE 29148:2018.</a:t>
            </a:r>
            <a:pPr indent="0" marL="0">
              <a:buNone/>
            </a:pPr>
            <a:r>
              <a:rPr lang="en-US" sz="1600" dirty="0">
                <a:solidFill>
                  <a:schemeClr val="tx1"/>
                </a:solidFill>
              </a:rPr>
              <a:t> Systems and software engineering — Life cycle processes — Requirements engineering.</a:t>
            </a:r>
            <a:endParaRPr lang="en-US" sz="1600" dirty="0"/>
          </a:p>
        </p:txBody>
      </p:sp>
      <p:sp>
        <p:nvSpPr>
          <p:cNvPr id="14" name="Shape 12"/>
          <p:cNvSpPr/>
          <p:nvPr/>
        </p:nvSpPr>
        <p:spPr>
          <a:xfrm>
            <a:off x="594360" y="5623560"/>
            <a:ext cx="228600" cy="228600"/>
          </a:xfrm>
          <a:prstGeom prst="ellipse">
            <a:avLst/>
          </a:prstGeom>
          <a:solidFill>
            <a:schemeClr val="tx2"/>
          </a:solidFill>
          <a:ln w="12700">
            <a:solidFill>
              <a:schemeClr val="tx2"/>
            </a:solidFill>
            <a:prstDash val="solid"/>
          </a:ln>
        </p:spPr>
      </p:sp>
      <p:sp>
        <p:nvSpPr>
          <p:cNvPr id="15" name="Text 13"/>
          <p:cNvSpPr txBox="1"/>
          <p:nvPr/>
        </p:nvSpPr>
        <p:spPr>
          <a:xfrm>
            <a:off x="1051560" y="5440680"/>
            <a:ext cx="10515600" cy="621792"/>
          </a:xfrm>
          <a:prstGeom prst="rect">
            <a:avLst/>
          </a:prstGeom>
          <a:noFill/>
          <a:ln/>
        </p:spPr>
        <p:txBody>
          <a:bodyPr wrap="square" lIns="0" tIns="0" rIns="0" bIns="0" rtlCol="0" anchor="ctr"/>
          <a:lstStyle/>
          <a:p>
            <a:pPr indent="0" marL="0">
              <a:buNone/>
            </a:pPr>
            <a:r>
              <a:rPr lang="en-US" sz="1600" b="1" dirty="0">
                <a:solidFill>
                  <a:schemeClr val="tx2"/>
                </a:solidFill>
              </a:rPr>
              <a:t>Warmer, J. y Kleppe, A. (2003).</a:t>
            </a:r>
            <a:pPr indent="0" marL="0">
              <a:buNone/>
            </a:pPr>
            <a:r>
              <a:rPr lang="en-US" sz="1600" dirty="0">
                <a:solidFill>
                  <a:schemeClr val="tx1"/>
                </a:solidFill>
              </a:rPr>
              <a:t> The Object Constraint Language, 2.ª ed. Addison-Wesley.</a:t>
            </a:r>
            <a:endParaRPr lang="en-US" sz="1600" dirty="0"/>
          </a:p>
        </p:txBody>
      </p:sp>
      <p:sp>
        <p:nvSpPr>
          <p:cNvPr id="16" name="Text 14"/>
          <p:cNvSpPr txBox="1"/>
          <p:nvPr/>
        </p:nvSpPr>
        <p:spPr>
          <a:xfrm>
            <a:off x="1051560" y="6035040"/>
            <a:ext cx="7315200" cy="274320"/>
          </a:xfrm>
          <a:prstGeom prst="rect">
            <a:avLst/>
          </a:prstGeom>
          <a:noFill/>
          <a:ln/>
        </p:spPr>
        <p:txBody>
          <a:bodyPr wrap="square" lIns="0" tIns="0" rIns="0" bIns="0" rtlCol="0" anchor="t"/>
          <a:lstStyle/>
          <a:p>
            <a:pPr indent="0" marL="0">
              <a:buNone/>
            </a:pPr>
            <a:r>
              <a:rPr lang="en-US" sz="1200" dirty="0">
                <a:solidFill>
                  <a:schemeClr val="accent1"/>
                </a:solidFill>
              </a:rPr>
              <a:t>● </a:t>
            </a:r>
            <a:pPr indent="0" marL="0">
              <a:buNone/>
            </a:pPr>
            <a:r>
              <a:rPr lang="en-US" sz="1200" dirty="0">
                <a:solidFill>
                  <a:schemeClr val="accent5"/>
                </a:solidFill>
              </a:rPr>
              <a:t>Bibliografía principal del programa     </a:t>
            </a:r>
            <a:pPr indent="0" marL="0">
              <a:buNone/>
            </a:pPr>
            <a:r>
              <a:rPr lang="en-US" sz="1200" dirty="0">
                <a:solidFill>
                  <a:schemeClr val="tx2"/>
                </a:solidFill>
              </a:rPr>
              <a:t>● </a:t>
            </a:r>
            <a:pPr indent="0" marL="0">
              <a:buNone/>
            </a:pPr>
            <a:r>
              <a:rPr lang="en-US" sz="1200" dirty="0">
                <a:solidFill>
                  <a:schemeClr val="accent5"/>
                </a:solidFill>
              </a:rPr>
              <a:t>Complementaria</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IngSw1 UC">
  <a:themeElements>
    <a:clrScheme name="IngSw1 UC">
      <a:dk1>
        <a:srgbClr val="222631"/>
      </a:dk1>
      <a:lt1>
        <a:srgbClr val="FFFFFF"/>
      </a:lt1>
      <a:dk2>
        <a:srgbClr val="1E2761"/>
      </a:dk2>
      <a:lt2>
        <a:srgbClr val="EEF1F7"/>
      </a:lt2>
      <a:accent1>
        <a:srgbClr val="8C1D18"/>
      </a:accent1>
      <a:accent2>
        <a:srgbClr val="1F6F78"/>
      </a:accent2>
      <a:accent3>
        <a:srgbClr val="D3D9EA"/>
      </a:accent3>
      <a:accent4>
        <a:srgbClr val="F4E4E2"/>
      </a:accent4>
      <a:accent5>
        <a:srgbClr val="5B6273"/>
      </a:accent5>
      <a:accent6>
        <a:srgbClr val="B7791F"/>
      </a:accent6>
      <a:hlink>
        <a:srgbClr val="1E2761"/>
      </a:hlink>
      <a:folHlink>
        <a:srgbClr val="8C1D18"/>
      </a:folHlink>
    </a:clrScheme>
    <a:fontScheme name="IngSw1 U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5 — Especificación del software</dc:title>
  <dc:subject>PptxGenJS Presentation</dc:subject>
  <dc:creator>Ingeniería de Software 1 · UC</dc:creator>
  <cp:lastModifiedBy>Ingeniería de Software 1 · UC</cp:lastModifiedBy>
  <cp:revision>1</cp:revision>
  <dcterms:created xsi:type="dcterms:W3CDTF">2026-10-12T11:18:41Z</dcterms:created>
  <dcterms:modified xsi:type="dcterms:W3CDTF">2026-10-12T11:18:41Z</dcterms:modified>
</cp:coreProperties>
</file>