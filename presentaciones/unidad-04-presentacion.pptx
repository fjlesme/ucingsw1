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1.png"/><Relationship Id="rId7" Type="http://schemas.openxmlformats.org/officeDocument/2006/relationships/image" Target="../media/image-9-1.png"/><Relationship Id="rId8" Type="http://schemas.openxmlformats.org/officeDocument/2006/relationships/image" Target="../media/image-9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u4/icon_dra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286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" y="27889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del Software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822960" y="40690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especificación a la solución: objetivos, técnicas, notaciones,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paradigma orientado a objetos y el diseño de interfaces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UNIDAD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bloques temáticos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pic>
        <p:nvPicPr>
          <p:cNvPr id="6" name="Image 0" descr="/home/claude/u4/icon_targe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56816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1783080"/>
            <a:ext cx="9052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del diseño y sus objetivos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791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679192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pic>
        <p:nvPicPr>
          <p:cNvPr id="10" name="Image 1" descr="/home/claude/u4/icon_cube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852928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31720" y="2679192"/>
            <a:ext cx="9052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modularización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3575304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2F2F2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" y="3575304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pic>
        <p:nvPicPr>
          <p:cNvPr id="14" name="Image 2" descr="/home/claude/u4/icon_sitemap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3749040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331720" y="3575304"/>
            <a:ext cx="9052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Notaciones de diseño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48640" y="4471416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BEAE9"/>
          </a:solidFill>
          <a:ln/>
        </p:spPr>
      </p:sp>
      <p:sp>
        <p:nvSpPr>
          <p:cNvPr id="17" name="Text 12"/>
          <p:cNvSpPr/>
          <p:nvPr/>
        </p:nvSpPr>
        <p:spPr>
          <a:xfrm>
            <a:off x="777240" y="4471416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C1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pic>
        <p:nvPicPr>
          <p:cNvPr id="18" name="Image 3" descr="/home/claude/u4/icon_cod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464515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331720" y="4471416"/>
            <a:ext cx="9052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548640" y="5367528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2F2F2"/>
          </a:solidFill>
          <a:ln/>
        </p:spPr>
      </p:sp>
      <p:sp>
        <p:nvSpPr>
          <p:cNvPr id="21" name="Text 15"/>
          <p:cNvSpPr/>
          <p:nvPr/>
        </p:nvSpPr>
        <p:spPr>
          <a:xfrm>
            <a:off x="777240" y="5367528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pic>
        <p:nvPicPr>
          <p:cNvPr id="22" name="Image 4" descr="/home/claude/u4/icon_window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40" y="5541264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331720" y="5367528"/>
            <a:ext cx="9052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interfaz de usuario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8C1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310896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 del diseño del software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sus objetivos</a:t>
            </a:r>
            <a:endParaRPr lang="en-US" sz="3800" dirty="0"/>
          </a:p>
        </p:txBody>
      </p:sp>
      <p:pic>
        <p:nvPicPr>
          <p:cNvPr id="4" name="Image 0" descr="/home/claude/u4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82296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DISEÑO DEL SOFTWARE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"qué" al "cómo"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es la actividad que traduce una especificación de requisitos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(qué debe hacer el sistema) en una descripción de la solución interna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(cómo lo va a hacer), sirviendo de puente hacia la implementación.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3246120" cy="2331720"/>
          </a:xfrm>
          <a:prstGeom prst="roundRect">
            <a:avLst>
              <a:gd name="adj" fmla="val 3922"/>
            </a:avLst>
          </a:prstGeom>
          <a:solidFill>
            <a:srgbClr val="F2F2F2"/>
          </a:solidFill>
          <a:ln/>
        </p:spPr>
      </p:sp>
      <p:pic>
        <p:nvPicPr>
          <p:cNvPr id="6" name="Image 0" descr="/home/claude/u4/icon_id_car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700" y="31546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840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Especificación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0" y="43434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"Qué" debe hacer el sistema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60520" y="3886200"/>
            <a:ext cx="457200" cy="365760"/>
          </a:xfrm>
          <a:prstGeom prst="rightArrow">
            <a:avLst/>
          </a:prstGeom>
          <a:solidFill>
            <a:srgbClr val="8C1D18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880360"/>
            <a:ext cx="3246120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/>
        </p:spPr>
      </p:sp>
      <p:pic>
        <p:nvPicPr>
          <p:cNvPr id="11" name="Image 1" descr="/home/claude/u4/icon_pencil_rul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460" y="31546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3840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92040" y="43434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"Cómo" se organiza la solución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55280" y="3886200"/>
            <a:ext cx="457200" cy="365760"/>
          </a:xfrm>
          <a:prstGeom prst="rightArrow">
            <a:avLst/>
          </a:prstGeom>
          <a:solidFill>
            <a:srgbClr val="8C1D18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0" y="2880360"/>
            <a:ext cx="3246120" cy="2331720"/>
          </a:xfrm>
          <a:prstGeom prst="roundRect">
            <a:avLst>
              <a:gd name="adj" fmla="val 3922"/>
            </a:avLst>
          </a:prstGeom>
          <a:solidFill>
            <a:srgbClr val="F2F2F2"/>
          </a:solidFill>
          <a:ln/>
        </p:spPr>
      </p:sp>
      <p:pic>
        <p:nvPicPr>
          <p:cNvPr id="16" name="Image 2" descr="/home/claude/u4/icon_cod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1220" y="31546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3840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686800" y="43434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que realiza el diseño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DISEÑO DEL SOFTWARE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del diseño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u4/icon_check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259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92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Corrección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91640" y="237744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Cumplir fielmente con la especificación de requisitos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965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u4/icon_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21259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92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Eficiencia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315200" y="237744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adecuado de recursos: tiempo, memoria, procesamiento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2F2F2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1148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u4/icon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2748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41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Robustez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691640" y="452628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razonable ante situaciones no previstas en la especificación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2200" y="38404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2F2F2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1148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u4/icon_recy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2748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041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Adaptabilidad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315200" y="452628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absorber cambios futuros sin rediseño total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DISEÑO DEL SOFTWARE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actividad iterativa y creativa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única solución óptima.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una misma especificación, distintos diseñadores producen distintas soluciones válidas; el diseño se evalúa por calidad relativa, no por unicidad.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arquitectónico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0" y="292608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global: componentes principales y sus relaciones (visión de alto nivel)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1148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detallado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0" y="411480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 algoritmos, estructuras de datos e interfaces internas de cada componente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3035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30352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 iterativo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0" y="530352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avanza por refinamientos sucesivos, revisando decisiones anteriores cuando es necesario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DISEÑO DEL SOFTWARE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calidad del diseño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principios de la Unidad 3 se concretan aquí en criterios evaluables sobre módulos: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51460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514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 cohesión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elementos de un módulo están fuertemente relacionados entre sí y contribuyen a una única tarea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28600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514600"/>
            <a:ext cx="457200" cy="457200"/>
          </a:xfrm>
          <a:prstGeom prst="ellipse">
            <a:avLst/>
          </a:prstGeom>
          <a:solidFill>
            <a:srgbClr val="8C1D18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0" y="2514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Bajo acoplamiento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0" y="320040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módulos son lo más independientes posible entre sí; los cambios en uno afectan mínimamente a otros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diseñador: maximizar cohesión, minimizar acoplamiento → módulos más fáciles de entender, probar, modificar y reutilizar.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8C1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de modularización</a:t>
            </a:r>
            <a:endParaRPr lang="en-US" sz="3800" dirty="0"/>
          </a:p>
        </p:txBody>
      </p:sp>
      <p:pic>
        <p:nvPicPr>
          <p:cNvPr id="4" name="Image 0" descr="/home/claude/u4/icon_cub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82296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MODULARIZACIÓN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Dividir para construir mejor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Modularizar es descomponer un sistema en partes más pequeñas —módulos— con interfaces bien definidas, cada una responsable de una función identificable dentro del conjunto.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1064240" cy="2834640"/>
          </a:xfrm>
          <a:prstGeom prst="roundRect">
            <a:avLst>
              <a:gd name="adj" fmla="val 3226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63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modularizar?</a:t>
            </a:r>
            <a:endParaRPr lang="en-US" sz="1700" dirty="0"/>
          </a:p>
        </p:txBody>
      </p:sp>
      <p:pic>
        <p:nvPicPr>
          <p:cNvPr id="7" name="Image 0" descr="/home/claude/u4/icon_check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639312"/>
            <a:ext cx="29260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96112" y="3621024"/>
            <a:ext cx="329184" cy="32918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9" name="Image 1" descr="/home/claude/u4/icon_check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65760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6118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 complejidad: cada módulo se entiende por separado</a:t>
            </a:r>
            <a:endParaRPr lang="en-US" sz="1450" dirty="0"/>
          </a:p>
        </p:txBody>
      </p:sp>
      <p:pic>
        <p:nvPicPr>
          <p:cNvPr id="11" name="Image 2" descr="/home/claude/u4/icon_check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42232"/>
            <a:ext cx="292608" cy="29260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96112" y="4123944"/>
            <a:ext cx="329184" cy="32918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3" name="Image 3" descr="/home/claude/u4/icon_check_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160520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41148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el trabajo en equipo: módulos independientes, desarrollo paralelo</a:t>
            </a:r>
            <a:endParaRPr lang="en-US" sz="1450" dirty="0"/>
          </a:p>
        </p:txBody>
      </p:sp>
      <p:pic>
        <p:nvPicPr>
          <p:cNvPr id="15" name="Image 4" descr="/home/claude/u4/icon_check_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645152"/>
            <a:ext cx="292608" cy="29260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96112" y="4626864"/>
            <a:ext cx="329184" cy="32918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7" name="Image 5" descr="/home/claude/u4/icon_check_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663440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371600" y="46177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Favorece el mantenimiento: los cambios se localizan en pocos módulos</a:t>
            </a:r>
            <a:endParaRPr lang="en-US" sz="1450" dirty="0"/>
          </a:p>
        </p:txBody>
      </p:sp>
      <p:pic>
        <p:nvPicPr>
          <p:cNvPr id="19" name="Image 6" descr="/home/claude/u4/icon_check_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148072"/>
            <a:ext cx="292608" cy="292608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896112" y="5129784"/>
            <a:ext cx="329184" cy="32918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1" name="Image 7" descr="/home/claude/u4/icon_check_circ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" y="5166360"/>
            <a:ext cx="256032" cy="25603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371600" y="5120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 la reutilización de módulos en otros contextos</a:t>
            </a:r>
            <a:endParaRPr lang="en-US" sz="1450" dirty="0"/>
          </a:p>
        </p:txBody>
      </p:sp>
      <p:sp>
        <p:nvSpPr>
          <p:cNvPr id="23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24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MODULARIZACIÓN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Descomposición funcional: dos sentidos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6" name="Image 0" descr="/home/claude/u4/icon_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945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971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Top-down (descendente)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5661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parte de la función global del sistema y se refina sucesivamente en subfunciones, hasta llegar a módulos manejables.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5029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de "gestionar biblioteca" a "prestar", "devolver", "buscar"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69164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2011680"/>
            <a:ext cx="777240" cy="77724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12" name="Image 1" descr="/home/claude/u4/icon_lay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945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37960" y="2971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Bottom-up (ascendente)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537960" y="35661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identifican primero componentes básicos y reutilizables, y se combinan progresivamente para construir funciones más complejas.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537960" y="5029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partir de librerías/utilidades ya existentes para ensamblar el sistema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MODULARIZACIÓN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Ocultamiento de información (Parnas)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propuesto por David Parnas (1972):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debe ocultar una decisión de diseño que probablemente cambiará, exponiendo solo la interfaz mínima necesaria.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971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Interfaz pública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otros módulos pueden ver y usar: firmas de operaciones, contratos, resultados esperados</a:t>
            </a:r>
            <a:endParaRPr lang="en-US" sz="1300" dirty="0"/>
          </a:p>
        </p:txBody>
      </p:sp>
      <p:pic>
        <p:nvPicPr>
          <p:cNvPr id="8" name="Image 0" descr="/home/claude/u4/icon_ey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4805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desde afuera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274320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2971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Detalles ocultos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83680" y="3429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 internas, algoritmos concretos, decisiones que pueden cambiar sin afectar a los demás módulos</a:t>
            </a:r>
            <a:endParaRPr lang="en-US" sz="1300" dirty="0"/>
          </a:p>
        </p:txBody>
      </p:sp>
      <p:pic>
        <p:nvPicPr>
          <p:cNvPr id="13" name="Image 1" descr="/home/claude/u4/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44805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Protegido del exterior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MODULARIZACIÓN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estructurado clásico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Constantine y Yourdon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proponen los diagramas de estructura (structure charts): representan gráficamente la jerarquía de módulos y el flujo de llamadas y datos entre ellos.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74920" y="2926080"/>
            <a:ext cx="2011680" cy="685800"/>
          </a:xfrm>
          <a:prstGeom prst="rect">
            <a:avLst/>
          </a:prstGeom>
          <a:solidFill>
            <a:srgbClr val="8C1D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29260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103120" y="4114800"/>
            <a:ext cx="20116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41148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74920" y="4114800"/>
            <a:ext cx="20116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41148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4114800"/>
            <a:ext cx="20116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41148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0760" y="3611880"/>
            <a:ext cx="-2926080" cy="50292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3611880"/>
            <a:ext cx="0" cy="50292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3611880"/>
            <a:ext cx="2926080" cy="50292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caja es un módulo; las líneas indican relaciones de invocación (control) entre ellos.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MODULARIZACIÓN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Modularización por tipos de datos abstractos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al diseño estructurado: en lugar de módulos-función, se definen módulos que encapsulan un tipo de dato junto con las operaciones que lo manipulan.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1064240" cy="265176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/>
        </p:spPr>
      </p:sp>
      <p:pic>
        <p:nvPicPr>
          <p:cNvPr id="6" name="Image 0" descr="/home/claude/u4/icon_c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20040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03120" y="3108960"/>
            <a:ext cx="0" cy="2194560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237744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Pila (Stack)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377440" y="36118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interna: arreglo o lista enlazada (oculta)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377440" y="40233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públicas: push(), pop(), top(), isEmpty()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377440" y="457200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es reutilizable en cualquier contexto que necesite una pila, sin conocer su implementación interna.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MODULARIZACIÓN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modularización aplicadas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técnica de modularización se evalúa con los mismos criterios de la Unidad 3, ahora aplicados a decisiones concretas de partición: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64240" cy="356616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Criterio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Pregunta guía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Cohesión funcional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¿Todos los elementos del módulo contribuyen a una única tarea bien definida?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Acoplamiento de datos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¿Los módulos intercambian solo los datos estrictamente necesarios?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 del módulo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¿El módulo es lo bastante pequeño para comprenderse de una vez?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Independencia funcional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¿Puede modificarse el módulo sin afectar a otros?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8C1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Notaciones de diseño</a:t>
            </a:r>
            <a:endParaRPr lang="en-US" sz="3800" dirty="0"/>
          </a:p>
        </p:txBody>
      </p:sp>
      <p:pic>
        <p:nvPicPr>
          <p:cNvPr id="4" name="Image 0" descr="/home/claude/u4/icon_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82296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NOTACIONES DE DISEÑO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Representar el diseño gráficamente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notación de diseño permite documentar y comunicar decisiones de diseño de forma precisa, independiente del lenguaje de implementación, y facilita la revisión antes de programar.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2F2F2"/>
          </a:solidFill>
          <a:ln/>
        </p:spPr>
      </p:sp>
      <p:pic>
        <p:nvPicPr>
          <p:cNvPr id="6" name="Image 0" descr="/home/claude/u4/icon_sitema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32004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977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Diagramas de estructura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46177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y control entre módulos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37560" y="29260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2F2F2"/>
          </a:solidFill>
          <a:ln/>
        </p:spPr>
      </p:sp>
      <p:pic>
        <p:nvPicPr>
          <p:cNvPr id="10" name="Image 1" descr="/home/claude/u4/icon_diagram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540" y="320040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3977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DFD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520440" y="46177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datos entre procesos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126480" y="29260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2F2F2"/>
          </a:solidFill>
          <a:ln/>
        </p:spPr>
      </p:sp>
      <p:pic>
        <p:nvPicPr>
          <p:cNvPr id="14" name="Image 2" descr="/home/claude/u4/icon_cod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460" y="320040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3640" y="3977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Pseudocódigo / PDL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309360" y="46177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un módulo en lenguaje semi-formal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915400" y="29260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2F2F2"/>
          </a:solidFill>
          <a:ln/>
        </p:spPr>
      </p:sp>
      <p:pic>
        <p:nvPicPr>
          <p:cNvPr id="18" name="Image 3" descr="/home/claude/u4/icon_cube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8380" y="3200400"/>
            <a:ext cx="640080" cy="6400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52560" y="3977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9098280" y="46177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Clases, secuencia, componentes (paradigma OO)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NOTACIONES DE DISEÑO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Diagramas de estructura (structure charts)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 del diseño estructurado clásico: representan módulos como cajas y relaciones de invocación como líneas, con flechas etiquetadas para el flujo de datos y de control.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Rectángulo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278892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Flecha simple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33375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control (invocación)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278892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Flecha con círculo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75320" y="33375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un dato específico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526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visión clara de la jerarquía de control.  Limitación: no describe bien el flujo de datos entre procesos concurrentes ni el paradigma OO.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NOTACIONES DE DISEÑO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Pseudocódigo y PDL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Design Language (PDL): 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 textual estructurada que describe la lógica de un módulo con construcciones de control (si/entonces, mientras, para) sin atarse a la sintaxis de un lenguaje concreto.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1B1B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63240"/>
            <a:ext cx="10332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PROCEDIMIENTO validarPedido(pedido)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 pedido.items ES VACÍO ENTONCES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RETORNAR error("pedido sin ítems")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 SI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 CADA item EN pedido.items HACER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SI NO hayStock(item) ENTONCES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RETORNAR error("sin stock: " + item)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FIN SI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 PARA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RETORNAR ok()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 PROCEDIMIENTO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NOTACIONES DE DISEÑO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como notación de diseño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Lenguaje Unificado de Modelado (UML) es hoy la notación dominante para diseño orientado a objetos. Distintos diagramas cubren distintas vistas del diseño: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/>
        </p:spPr>
      </p:sp>
      <p:pic>
        <p:nvPicPr>
          <p:cNvPr id="6" name="Image 0" descr="/home/claude/u4/icon_sitema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80720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5146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clases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029200" y="251460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estática: clases, atributos, métodos y relaciones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749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/>
        </p:spPr>
      </p:sp>
      <p:pic>
        <p:nvPicPr>
          <p:cNvPr id="10" name="Image 1" descr="/home/claude/u4/icon_exchang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04164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37490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secuencia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5029200" y="374904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dinámica entre objetos a lo largo del tiempo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/>
        </p:spPr>
      </p:sp>
      <p:pic>
        <p:nvPicPr>
          <p:cNvPr id="14" name="Image 2" descr="/home/claude/u4/icon_cube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27608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498348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componentes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5029200" y="498348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 módulos/componentes de más alto nivel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NOTACIONES DE DISEÑO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¿Cuándo usar cada notación?</a:t>
            </a:r>
            <a:endParaRPr lang="en-US" sz="3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3566160"/>
        </p:xfrm>
        <a:graphic>
          <a:graphicData uri="http://schemas.openxmlformats.org/drawingml/2006/table">
            <a:tbl>
              <a:tblPr/>
              <a:tblGrid>
                <a:gridCol w="3840480"/>
                <a:gridCol w="4480560"/>
                <a:gridCol w="27432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Notación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Mejor para...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Paradigma típico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Diagramas de estructura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Jerarquía de módulos y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Flujo de datos entre procesos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PDL / pseudocódigo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Lógica algorítmica detallada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UML (clases, secuencia)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 y colaboración de objetos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Orientado a objetos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8C1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926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paradigma orientado a objetos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Diseño Orientado a Objetos (AOO / DOO)</a:t>
            </a:r>
            <a:endParaRPr lang="en-US" sz="1700" dirty="0"/>
          </a:p>
        </p:txBody>
      </p:sp>
      <p:pic>
        <p:nvPicPr>
          <p:cNvPr id="5" name="Image 0" descr="/home/claude/u4/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82296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PARADIGMA OO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pensar en objetos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paradigma orientado a objetos modela el sistema como un conjunto de objetos que colaboran, cada uno con estado (datos) y comportamiento (operaciones) propios — una alternativa más cercana al dominio del problema que la descomposición funcional.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394960" cy="2606040"/>
          </a:xfrm>
          <a:prstGeom prst="roundRect">
            <a:avLst>
              <a:gd name="adj" fmla="val 3509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291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Enfoque funcional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es un conjunto de funciones que transforman datos que "viajan" entre ellas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3063240"/>
            <a:ext cx="5394960" cy="26060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3291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Enfoque orientado a objetos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379476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es un conjunto de objetos autónomos que encapsulan sus propios datos y se comunican mediante mensajes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PARADIGMA OO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conceptos fundamentales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6" name="Image 0" descr="/home/claude/u4/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259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92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Encapsulamiento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3774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y las operaciones que los manipulan se agrupan en una unidad; el estado interno se protege del acceso directo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965960"/>
            <a:ext cx="685800" cy="68580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11" name="Image 1" descr="/home/claude/u4/icon_cu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21259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92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y objeto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315200" y="23774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es la plantilla; el objeto es una instancia concreta con su propio estado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2F2F2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114800"/>
            <a:ext cx="685800" cy="68580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16" name="Image 2" descr="/home/claude/u4/icon_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2748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41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Herencia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91640" y="45262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clase puede especializar a otra, reutilizando y extendiendo su estructura y comportamiento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8404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2F2F2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114800"/>
            <a:ext cx="685800" cy="68580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21" name="Image 3" descr="/home/claude/u4/icon_exch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2748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041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Polimorfismo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315200" y="45262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de distintas clases responden de forma distinta a un mismo mensaje/operación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PARADIGMA OO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vs. objeto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178308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1783080"/>
            <a:ext cx="4023360" cy="502920"/>
          </a:xfrm>
          <a:prstGeom prst="rect">
            <a:avLst/>
          </a:prstGeom>
          <a:solidFill>
            <a:srgbClr val="8C1D18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7830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 Bancaria (clase)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4231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Atributos: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titular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saldo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Operaciones: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depositar(monto)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retirar(monto)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consultarSaldo()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40680" y="3291840"/>
            <a:ext cx="822960" cy="457200"/>
          </a:xfrm>
          <a:prstGeom prst="rightArrow">
            <a:avLst/>
          </a:prstGeom>
          <a:solidFill>
            <a:srgbClr val="8C1D18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3794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4663440" cy="3566160"/>
          </a:xfrm>
          <a:prstGeom prst="roundRect">
            <a:avLst>
              <a:gd name="adj" fmla="val 2051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1783080"/>
            <a:ext cx="4663440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7830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cuenta1 : Cuenta Bancaria (objeto)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0" y="24231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titular = "María Gómez"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 = 15.400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66560" y="352044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instancia concreta: tiene su propio estado (valores de atributos), pero comparte la estructura y el comportamiento definidos por la clase.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PARADIGMA OO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OO vs. Diseño OO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1E2761"/>
          </a:solidFill>
          <a:ln/>
        </p:spPr>
      </p:sp>
      <p:pic>
        <p:nvPicPr>
          <p:cNvPr id="5" name="Image 0" descr="/home/claude/u4/icon_id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3852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Orientado a Objetos (AOO)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objetos existen en el dominio del problema?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8680" y="3300984"/>
            <a:ext cx="128016" cy="128016"/>
          </a:xfrm>
          <a:prstGeom prst="ellipse">
            <a:avLst/>
          </a:prstGeom>
          <a:solidFill>
            <a:srgbClr val="8C1D18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31089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clases del negocio y sus relaciones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3959352"/>
            <a:ext cx="128016" cy="128016"/>
          </a:xfrm>
          <a:prstGeom prst="ellipse">
            <a:avLst/>
          </a:prstGeom>
          <a:solidFill>
            <a:srgbClr val="8C1D18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7673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Enfocado en el problema, independiente de tecnología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4617720"/>
            <a:ext cx="128016" cy="128016"/>
          </a:xfrm>
          <a:prstGeom prst="ellipse">
            <a:avLst/>
          </a:prstGeom>
          <a:solidFill>
            <a:srgbClr val="8C1D18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442569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modelo conceptual del dominio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69164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1E2761"/>
          </a:solidFill>
          <a:ln/>
        </p:spPr>
      </p:sp>
      <p:pic>
        <p:nvPicPr>
          <p:cNvPr id="15" name="Image 1" descr="/home/claude/u4/icon_pencil_rul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6596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193852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Orientado a Objetos (DOO)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6537960" y="2606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estructuran esos objetos en la solución?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537960" y="3300984"/>
            <a:ext cx="128016" cy="128016"/>
          </a:xfrm>
          <a:prstGeom prst="ellipse">
            <a:avLst/>
          </a:prstGeom>
          <a:solidFill>
            <a:srgbClr val="8C1D18"/>
          </a:solidFill>
          <a:ln/>
        </p:spPr>
      </p:sp>
      <p:sp>
        <p:nvSpPr>
          <p:cNvPr id="19" name="Text 15"/>
          <p:cNvSpPr/>
          <p:nvPr/>
        </p:nvSpPr>
        <p:spPr>
          <a:xfrm>
            <a:off x="6812280" y="31089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clases de solución: interfaces, persistencia, etc.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537960" y="3959352"/>
            <a:ext cx="128016" cy="128016"/>
          </a:xfrm>
          <a:prstGeom prst="ellipse">
            <a:avLst/>
          </a:prstGeom>
          <a:solidFill>
            <a:srgbClr val="8C1D18"/>
          </a:solidFill>
          <a:ln/>
        </p:spPr>
      </p:sp>
      <p:sp>
        <p:nvSpPr>
          <p:cNvPr id="21" name="Text 17"/>
          <p:cNvSpPr/>
          <p:nvPr/>
        </p:nvSpPr>
        <p:spPr>
          <a:xfrm>
            <a:off x="6812280" y="37673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Enfocado en la solución, considera la plataforma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537960" y="4617720"/>
            <a:ext cx="128016" cy="128016"/>
          </a:xfrm>
          <a:prstGeom prst="ellipse">
            <a:avLst/>
          </a:prstGeom>
          <a:solidFill>
            <a:srgbClr val="8C1D18"/>
          </a:solidFill>
          <a:ln/>
        </p:spPr>
      </p:sp>
      <p:sp>
        <p:nvSpPr>
          <p:cNvPr id="23" name="Text 19"/>
          <p:cNvSpPr/>
          <p:nvPr/>
        </p:nvSpPr>
        <p:spPr>
          <a:xfrm>
            <a:off x="6812280" y="442569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modelo de diseño listo para implementar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PARADIGMA OO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Identificación de clases y responsabilidades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u4/icon_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4708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sustantivos/verbos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0" y="1847088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especificación textual: los sustantivos sugieren clases y atributos; los verbos sugieren operaciones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35204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u4/icon_id_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6576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31012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Tarjetas CRC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86400" y="3310128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Class–Responsibility–Collaborator: por cada clase candidata, se anotan sus responsabilidades y con qué otras clases colabora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6634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9834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u4/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1206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77316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de uso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486400" y="4773168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escenarios de interacción usuario–sistema ayudan a descubrir objetos y sus responsabilidades en contexto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PARADIGMA OO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tarjeta CRC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651760" y="1691640"/>
            <a:ext cx="685800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51760" y="1691640"/>
            <a:ext cx="68580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834640" y="16916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Clase: Pedido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80760" y="2240280"/>
            <a:ext cx="0" cy="3657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34640" y="269748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Calcular el total del pedido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Agregar/quitar ítems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Validar disponibilidad de stock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6364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63640" y="269748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Cliente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Ítem de pedido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Catálogo de productos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PARADIGMA OO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Diagramas UML de diseño OO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diagrama de clases es la notación central del diseño OO: muestra clases, atributos, operaciones y relaciones (asociación, herencia, composición).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480560" y="2514600"/>
            <a:ext cx="32004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0" y="2542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Empleado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2907792"/>
            <a:ext cx="3200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+nombre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+calcularSueldo()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28800" y="4297680"/>
            <a:ext cx="3200400" cy="1005840"/>
          </a:xfrm>
          <a:prstGeom prst="rect">
            <a:avLst/>
          </a:prstGeom>
          <a:solidFill>
            <a:srgbClr val="8C1D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3251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Vendedor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0" y="4690872"/>
            <a:ext cx="3200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4709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+comisión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+calcularSueldo()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29000" y="3520440"/>
            <a:ext cx="242316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4297680"/>
            <a:ext cx="3200400" cy="1005840"/>
          </a:xfrm>
          <a:prstGeom prst="rect">
            <a:avLst/>
          </a:prstGeom>
          <a:solidFill>
            <a:srgbClr val="8C1D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43251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Gerente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32320" y="4690872"/>
            <a:ext cx="3200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4709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+bono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+calcularSueldo()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732520" y="3520440"/>
            <a:ext cx="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3520440"/>
            <a:ext cx="2651760" cy="77724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32520" y="3520440"/>
            <a:ext cx="-2651760" cy="77724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Herencia: Vendedor y Gerente especializan Empleado y redefinen calcularSueldo() (polimorfismo)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PARADIGMA OO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secuencia: colaboración en el tiempo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el intercambio de mensajes entre objetos concretos a lo largo del tiempo, útil para diseñar cómo colaboran para cumplir una operación.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97280" y="2423160"/>
            <a:ext cx="15544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23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2880360"/>
            <a:ext cx="0" cy="301752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389120" y="2423160"/>
            <a:ext cx="15544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2423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Pedido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66360" y="2880360"/>
            <a:ext cx="0" cy="301752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7680960" y="2423160"/>
            <a:ext cx="15544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2423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Catálogo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58200" y="2880360"/>
            <a:ext cx="0" cy="301752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0332720" y="2423160"/>
            <a:ext cx="15544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0332720" y="2423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Stock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109960" y="2880360"/>
            <a:ext cx="0" cy="301752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874520" y="3246120"/>
            <a:ext cx="3291840" cy="0"/>
          </a:xfrm>
          <a:prstGeom prst="line">
            <a:avLst/>
          </a:prstGeom>
          <a:noFill/>
          <a:ln w="19050">
            <a:solidFill>
              <a:srgbClr val="8C1D1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874520" y="2953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agregarItem(producto)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66360" y="3794760"/>
            <a:ext cx="3291840" cy="0"/>
          </a:xfrm>
          <a:prstGeom prst="line">
            <a:avLst/>
          </a:prstGeom>
          <a:noFill/>
          <a:ln w="19050">
            <a:solidFill>
              <a:srgbClr val="8C1D1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166360" y="3502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buscarPrecio(producto)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66360" y="4343400"/>
            <a:ext cx="5943600" cy="0"/>
          </a:xfrm>
          <a:prstGeom prst="line">
            <a:avLst/>
          </a:prstGeom>
          <a:noFill/>
          <a:ln w="19050">
            <a:solidFill>
              <a:srgbClr val="8C1D1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166360" y="4050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verificarStock(producto)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66360" y="4892040"/>
            <a:ext cx="5943600" cy="0"/>
          </a:xfrm>
          <a:prstGeom prst="line">
            <a:avLst/>
          </a:prstGeom>
          <a:noFill/>
          <a:ln w="19050">
            <a:solidFill>
              <a:srgbClr val="8C1D18"/>
            </a:solidFill>
            <a:prstDash val="dash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166360" y="45994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disponible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PARADIGMA OO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Principios de diseño OO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la sintaxis del paradigma, un buen diseño OO sigue principios que garantizan bajo acoplamiento y alta cohesión entre clases: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 única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0" y="224028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clase debe tener una única razón para cambiar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35224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3522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Abierto/cerrado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0" y="2935224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Abierta a extensión, cerrada a modificación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30168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63016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Sustitución de Liskov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114800" y="3630168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subclase debe poder usarse donde se espera la superclase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325112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32511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Segregación de interfaces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114800" y="4325112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pequeñas y específicas, no una interfaz "para todo"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020056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02005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Inversión de dependencias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114800" y="5020056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Depender de abstracciones, no de implementaciones concretas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5 principios se conocen colectivamente como SOLID — profundizaremos en ellos más adelante en la materia.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8C1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31089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 la interfaz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usuario</a:t>
            </a:r>
            <a:endParaRPr lang="en-US" sz="3800" dirty="0"/>
          </a:p>
        </p:txBody>
      </p:sp>
      <p:pic>
        <p:nvPicPr>
          <p:cNvPr id="4" name="Image 0" descr="/home/claude/u4/icon_wind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82296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INTERFAZ DE USUARIO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centrado en el usuario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es el punto de contacto entre el sistema y las personas que lo usan: su diseño no es un "agregado" final, sino una decisión de diseño con objetivos propios de usabilidad.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060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Facilidad de aprendizaje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260604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nuevo logra tareas básicas con poco esfuerzo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461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Eficiencia de uso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324612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experto realiza tareas frecuentes rápidamente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8862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Facilidad de recordación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388620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ocasional retoma el sistema sin reaprenderlo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5262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Baja tasa de errores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452628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previene o facilita corregir errores de uso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1663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1663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Satisfacción subjetiva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0" y="516636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experiencia de uso resulta agradable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INTERFAZ DE USUARIO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Estilos de interacción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6" name="Image 0" descr="/home/claude/u4/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259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 de comandos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4688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escribe instrucciones textuales precisas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965960"/>
            <a:ext cx="685800" cy="68580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11" name="Image 1" descr="/home/claude/u4/icon_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21259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562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Menús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15200" y="24688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elige entre opciones presentadas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114800"/>
            <a:ext cx="685800" cy="68580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16" name="Image 2" descr="/home/claude/u4/icon_id_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2748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0507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Formularios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46177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completa campos estructurados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8404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114800"/>
            <a:ext cx="685800" cy="68580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21" name="Image 3" descr="/home/claude/u4/icon_mou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2748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00507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Manipulación directa (GUI)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15200" y="46177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opera objetos visuales directamente (arrastrar, tocar, clickear)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INTERFAZ DE USUARIO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Heurísticas de diseño de interfaz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Basadas en los principios de Jakob Nielsen, guían decisiones concretas de diseño de interfaz: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46888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7" name="Image 0" descr="/home/claude/u4/icon_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5831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860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Visibilidad del estado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0" y="228600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siempre informa qué está pasando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3375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2F2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352044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2" name="Image 1" descr="/home/claude/u4/icon_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36347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33375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Consistencia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0" y="333756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Mismos elementos se comportan igual en toda la interfaz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2F2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457200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7" name="Image 2" descr="/home/claude/u4/icon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46863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4389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Prevención de errores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572000" y="43891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evita que ocurran errores antes de que sucedan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2F2"/>
          </a:solidFill>
          <a:ln/>
        </p:spPr>
      </p:sp>
      <p:sp>
        <p:nvSpPr>
          <p:cNvPr id="21" name="Shape 16"/>
          <p:cNvSpPr/>
          <p:nvPr/>
        </p:nvSpPr>
        <p:spPr>
          <a:xfrm>
            <a:off x="777240" y="562356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2" name="Image 3" descr="/home/claude/u4/icon_com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573786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5440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Retroalimentación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0" y="544068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del usuario tiene una respuesta perceptible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INTERFAZ DE USUARIO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Prototipado de interfaces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implementar, se valida el diseño de interfaz con representaciones de bajo costo, refinando el nivel de detalle progresivamente: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432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Wireframe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Boceto de baja fidelidad: distribución de elementos, sin estilo visual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60520" y="3840480"/>
            <a:ext cx="365760" cy="365760"/>
          </a:xfrm>
          <a:prstGeom prst="rightArrow">
            <a:avLst/>
          </a:prstGeom>
          <a:solidFill>
            <a:srgbClr val="8C1D18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251460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7432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09160" y="3474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39776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visual estática, con estilo y contenido aproximado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3840480"/>
            <a:ext cx="365760" cy="365760"/>
          </a:xfrm>
          <a:prstGeom prst="rightArrow">
            <a:avLst/>
          </a:prstGeom>
          <a:solidFill>
            <a:srgbClr val="8C1D18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251460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27432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C1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595360" y="3474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Prototipo interactivo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0" y="39776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navegable de flujos reales, sin lógica de negocio completa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INTERFAZ DE USUARIO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Separar la interfaz de la lógica de negocio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de diseño clave: la interfaz de usuario no debe contener lógica de negocio, para poder cambiar una sin afectar la otra. Patrones como MVC formalizan esta separación: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2880360"/>
            <a:ext cx="3017520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36576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lógica de negocio del dominio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06240" y="4069080"/>
            <a:ext cx="548640" cy="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headEnd type="triangl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54880" y="2880360"/>
            <a:ext cx="3017520" cy="2377440"/>
          </a:xfrm>
          <a:prstGeom prst="roundRect">
            <a:avLst>
              <a:gd name="adj" fmla="val 3846"/>
            </a:avLst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83480" y="36576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visual al usuario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0" y="4069080"/>
            <a:ext cx="548640" cy="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headEnd type="triangl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321040" y="2880360"/>
            <a:ext cx="3017520" cy="2377440"/>
          </a:xfrm>
          <a:prstGeom prst="roundRect">
            <a:avLst>
              <a:gd name="adj" fmla="val 3846"/>
            </a:avLst>
          </a:prstGeom>
          <a:solidFill>
            <a:srgbClr val="8C1D18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Controlador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49640" y="36576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 la entrada del usuario y actualiza modelo/vista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patrón anticipa un tema que profundizarás en materias de desarrollo de software y arquitectura.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•  Unidad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Síntesis de la Unidad 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764792"/>
            <a:ext cx="201168" cy="201168"/>
          </a:xfrm>
          <a:prstGeom prst="ellipse">
            <a:avLst/>
          </a:prstGeom>
          <a:solidFill>
            <a:srgbClr val="8C1D18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16916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traduce la especificación en una solución estructurada, buscando corrección, eficiencia, robustez y adaptabilidad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2633472"/>
            <a:ext cx="201168" cy="201168"/>
          </a:xfrm>
          <a:prstGeom prst="ellipse">
            <a:avLst/>
          </a:prstGeom>
          <a:solidFill>
            <a:srgbClr val="8C1D18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5603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modularización (funcional, por ocultamiento de información, por TAD) se evalúa con cohesión y acoplamiento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3502152"/>
            <a:ext cx="201168" cy="201168"/>
          </a:xfrm>
          <a:prstGeom prst="ellipse">
            <a:avLst/>
          </a:prstGeom>
          <a:solidFill>
            <a:srgbClr val="8C1D18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34290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Distintas notaciones (estructura, DFD, PDL, UML) documentan el diseño según el paradigma elegido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4370832"/>
            <a:ext cx="201168" cy="201168"/>
          </a:xfrm>
          <a:prstGeom prst="ellipse">
            <a:avLst/>
          </a:prstGeom>
          <a:solidFill>
            <a:srgbClr val="8C1D18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42976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paradigma OO modela el sistema como objetos colaborando: encapsulamiento, herencia, polimorfismo, clases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5239512"/>
            <a:ext cx="201168" cy="201168"/>
          </a:xfrm>
          <a:prstGeom prst="ellipse">
            <a:avLst/>
          </a:prstGeom>
          <a:solidFill>
            <a:srgbClr val="8C1D18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51663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de interfaz de usuario aplica principios de usabilidad y se separa de la lógica de negocio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unidad: Especificación del software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2026-09-14T12:47:38Z</dcterms:created>
  <dcterms:modified xsi:type="dcterms:W3CDTF">2026-09-14T12:47:38Z</dcterms:modified>
</cp:coreProperties>
</file>