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51" autoAdjust="0"/>
    <p:restoredTop sz="94610"/>
  </p:normalViewPr>
  <p:slideViewPr>
    <p:cSldViewPr snapToGrid="0" snapToObjects="1">
      <p:cViewPr>
        <p:scale>
          <a:sx n="81" d="100"/>
          <a:sy n="81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2759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3" name="Image 0" descr="/home/claude/u4/icon_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8229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4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" y="27889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del Software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822960" y="40690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especificación a la solución: objetivos, técnicas, notaciones,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paradigma orientado a objetos y el diseño de interfaces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DE LA UNIDAD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bloques temáticos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pic>
        <p:nvPicPr>
          <p:cNvPr id="6" name="Image 0" descr="/home/claude/u4/icon_targe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1956816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331720" y="1783080"/>
            <a:ext cx="9052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del diseño y sus objetivos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79192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7919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pic>
        <p:nvPicPr>
          <p:cNvPr id="10" name="Image 1" descr="/home/claude/u4/icon_cube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2852928"/>
            <a:ext cx="402336" cy="402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331720" y="2679192"/>
            <a:ext cx="9052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de modularización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" y="3575304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/>
        </p:spPr>
      </p:sp>
      <p:sp>
        <p:nvSpPr>
          <p:cNvPr id="13" name="Text 9"/>
          <p:cNvSpPr/>
          <p:nvPr/>
        </p:nvSpPr>
        <p:spPr>
          <a:xfrm>
            <a:off x="777240" y="3575304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pic>
        <p:nvPicPr>
          <p:cNvPr id="14" name="Image 2" descr="/home/claude/u4/icon_sitema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1640" y="3749040"/>
            <a:ext cx="402336" cy="40233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331720" y="3575304"/>
            <a:ext cx="9052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Notaciones de diseño</a:t>
            </a:r>
            <a:endParaRPr lang="en-US" sz="1800" dirty="0"/>
          </a:p>
        </p:txBody>
      </p:sp>
      <p:sp>
        <p:nvSpPr>
          <p:cNvPr id="16" name="Shape 11"/>
          <p:cNvSpPr/>
          <p:nvPr/>
        </p:nvSpPr>
        <p:spPr>
          <a:xfrm>
            <a:off x="548640" y="4471416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BEAE9"/>
          </a:solidFill>
          <a:ln/>
        </p:spPr>
      </p:sp>
      <p:sp>
        <p:nvSpPr>
          <p:cNvPr id="17" name="Text 12"/>
          <p:cNvSpPr/>
          <p:nvPr/>
        </p:nvSpPr>
        <p:spPr>
          <a:xfrm>
            <a:off x="777240" y="4471416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8C1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pic>
        <p:nvPicPr>
          <p:cNvPr id="18" name="Image 3" descr="/home/claude/u4/icon_cod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1640" y="4645152"/>
            <a:ext cx="402336" cy="40233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331720" y="4471416"/>
            <a:ext cx="9052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Paradigma orientado a objetos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548640" y="5367528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/>
        </p:spPr>
      </p:sp>
      <p:sp>
        <p:nvSpPr>
          <p:cNvPr id="21" name="Text 15"/>
          <p:cNvSpPr/>
          <p:nvPr/>
        </p:nvSpPr>
        <p:spPr>
          <a:xfrm>
            <a:off x="777240" y="5367528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pic>
        <p:nvPicPr>
          <p:cNvPr id="22" name="Image 4" descr="/home/claude/u4/icon_window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1640" y="5541264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2331720" y="5367528"/>
            <a:ext cx="9052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la interfaz de usuario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8C1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651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310896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Actividad del diseño del software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sus objetivos</a:t>
            </a:r>
            <a:endParaRPr lang="en-US" sz="3800" dirty="0"/>
          </a:p>
        </p:txBody>
      </p:sp>
      <p:pic>
        <p:nvPicPr>
          <p:cNvPr id="4" name="Image 0" descr="/home/claude/u4/icon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82296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DISEÑO DEL SOFTWARE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"qué" al "cómo"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es la actividad que traduce una especificación de requisitos</a:t>
            </a:r>
            <a:endParaRPr lang="en-US" sz="1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(qué debe hacer el sistema) en una descripción de la solución interna</a:t>
            </a:r>
            <a:endParaRPr lang="en-US" sz="1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(cómo lo va a hacer), sirviendo de puente hacia la implementación.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880360"/>
            <a:ext cx="3246120" cy="2331720"/>
          </a:xfrm>
          <a:prstGeom prst="roundRect">
            <a:avLst>
              <a:gd name="adj" fmla="val 3922"/>
            </a:avLst>
          </a:prstGeom>
          <a:solidFill>
            <a:srgbClr val="F2F2F2"/>
          </a:solidFill>
          <a:ln/>
        </p:spPr>
      </p:sp>
      <p:pic>
        <p:nvPicPr>
          <p:cNvPr id="6" name="Image 0" descr="/home/claude/u4/icon_id_card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1700" y="31546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840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Especificación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97280" y="43434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"Qué" debe hacer el sistema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160520" y="3886200"/>
            <a:ext cx="457200" cy="365760"/>
          </a:xfrm>
          <a:prstGeom prst="rightArrow">
            <a:avLst/>
          </a:prstGeom>
          <a:solidFill>
            <a:srgbClr val="8C1D18"/>
          </a:solidFill>
          <a:ln/>
        </p:spPr>
      </p:sp>
      <p:sp>
        <p:nvSpPr>
          <p:cNvPr id="10" name="Shape 7"/>
          <p:cNvSpPr/>
          <p:nvPr/>
        </p:nvSpPr>
        <p:spPr>
          <a:xfrm>
            <a:off x="4617720" y="2880360"/>
            <a:ext cx="3246120" cy="2331720"/>
          </a:xfrm>
          <a:prstGeom prst="roundRect">
            <a:avLst>
              <a:gd name="adj" fmla="val 3922"/>
            </a:avLst>
          </a:prstGeom>
          <a:solidFill>
            <a:srgbClr val="1E2761"/>
          </a:solidFill>
          <a:ln/>
        </p:spPr>
      </p:sp>
      <p:pic>
        <p:nvPicPr>
          <p:cNvPr id="11" name="Image 1" descr="/home/claude/u4/icon_pencil_ru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6460" y="31546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00600" y="3840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892040" y="43434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"Cómo" se organiza la solución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55280" y="3886200"/>
            <a:ext cx="457200" cy="365760"/>
          </a:xfrm>
          <a:prstGeom prst="rightArrow">
            <a:avLst/>
          </a:prstGeom>
          <a:solidFill>
            <a:srgbClr val="8C1D18"/>
          </a:solidFill>
          <a:ln/>
        </p:spPr>
      </p:sp>
      <p:sp>
        <p:nvSpPr>
          <p:cNvPr id="15" name="Shape 11"/>
          <p:cNvSpPr/>
          <p:nvPr/>
        </p:nvSpPr>
        <p:spPr>
          <a:xfrm>
            <a:off x="8412480" y="2880360"/>
            <a:ext cx="3246120" cy="2331720"/>
          </a:xfrm>
          <a:prstGeom prst="roundRect">
            <a:avLst>
              <a:gd name="adj" fmla="val 3922"/>
            </a:avLst>
          </a:prstGeom>
          <a:solidFill>
            <a:srgbClr val="F2F2F2"/>
          </a:solidFill>
          <a:ln/>
        </p:spPr>
      </p:sp>
      <p:pic>
        <p:nvPicPr>
          <p:cNvPr id="16" name="Image 2" descr="/home/claude/u4/icon_code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1220" y="315468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95360" y="3840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Implementación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686800" y="43434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que realiza el diseño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DISEÑO DEL SOFTWARE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del diseño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2F2F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u4/icon_check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21259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928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Corrección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691640" y="237744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Cumplir fielmente con la especificación de requisitos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2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6446520" y="19659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home/claude/u4/icon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21259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18928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Eficiencia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7315200" y="237744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adecuado de recursos: tiempo, memoria, procesamiento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384048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2F2F2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11480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/home/claude/u4/icon_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0416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Robustez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691640" y="452628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Comportamiento razonable ante situaciones no previstas en la especificación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72200" y="384048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2F2F2"/>
          </a:solidFill>
          <a:ln/>
        </p:spPr>
      </p:sp>
      <p:sp>
        <p:nvSpPr>
          <p:cNvPr id="20" name="Shape 15"/>
          <p:cNvSpPr/>
          <p:nvPr/>
        </p:nvSpPr>
        <p:spPr>
          <a:xfrm>
            <a:off x="6446520" y="411480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/home/claude/u4/icon_recyc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540" y="427482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0416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Adaptabilidad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7315200" y="452628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absorber cambios futuros sin rediseño total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DISEÑO DEL SOFTWARE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actividad iterativa y creativa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una única solución óptima. </a:t>
            </a: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a una misma especificación, distintos diseñadores producen distintas soluciones válidas; el diseño se evalúa por calidad relativa, no por unicidad.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2F2F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9260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arquitectónico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0" y="292608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global: componentes principales y sus relaciones (visión de alto nivel)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41148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11480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detallado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0" y="411480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 algoritmos, estructuras de datos e interfaces internas de cada componente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53035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53035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Proceso iterativo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0" y="530352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avanza por refinamientos sucesivos, revisando decisiones anteriores cuando es necesario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DISEÑO DEL SOFTWARE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calidad del diseño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principios de la Unidad 3 se concretan aquí en criterios evaluables sobre módulos: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51460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2514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 cohesión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elementos de un módulo están fuertemente relacionados entre sí y contribuyen a una única tarea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28600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</p:spPr>
      </p:sp>
      <p:sp>
        <p:nvSpPr>
          <p:cNvPr id="10" name="Shape 8"/>
          <p:cNvSpPr/>
          <p:nvPr/>
        </p:nvSpPr>
        <p:spPr>
          <a:xfrm>
            <a:off x="6583680" y="2514600"/>
            <a:ext cx="457200" cy="457200"/>
          </a:xfrm>
          <a:prstGeom prst="ellipse">
            <a:avLst/>
          </a:prstGeom>
          <a:solidFill>
            <a:srgbClr val="8C1D18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0" y="2514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Bajo acoplamiento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83680" y="320040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módulos son lo más independientes posible entre sí; los cambios en uno afectan mínimamente a otros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del diseñador: maximizar cohesión, minimizar acoplamiento → módulos más fáciles de entender, probar, modificar y reutilizar.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8C1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651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Técnicas de modularización</a:t>
            </a:r>
            <a:endParaRPr lang="en-US" sz="3800" dirty="0"/>
          </a:p>
        </p:txBody>
      </p:sp>
      <p:pic>
        <p:nvPicPr>
          <p:cNvPr id="4" name="Image 0" descr="/home/claude/u4/icon_cub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82296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MODULARIZACIÓN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Dividir para construir mejor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Modularizar es descomponer un sistema en partes más pequeñas —módulos— con interfaces bien definidas, cada una responsable de una función identificable dentro del conjunto.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11064240" cy="2834640"/>
          </a:xfrm>
          <a:prstGeom prst="roundRect">
            <a:avLst>
              <a:gd name="adj" fmla="val 3226"/>
            </a:avLst>
          </a:prstGeom>
          <a:solidFill>
            <a:srgbClr val="F2F2F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063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modularizar?</a:t>
            </a:r>
            <a:endParaRPr lang="en-US" sz="1700" dirty="0"/>
          </a:p>
        </p:txBody>
      </p:sp>
      <p:pic>
        <p:nvPicPr>
          <p:cNvPr id="7" name="Image 0" descr="/home/claude/u4/icon_check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639312"/>
            <a:ext cx="292608" cy="2926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96112" y="3621024"/>
            <a:ext cx="329184" cy="32918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9" name="Image 1" descr="/home/claude/u4/icon_check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365760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36118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la complejidad: cada módulo se entiende por separado</a:t>
            </a:r>
            <a:endParaRPr lang="en-US" sz="1450" dirty="0"/>
          </a:p>
        </p:txBody>
      </p:sp>
      <p:pic>
        <p:nvPicPr>
          <p:cNvPr id="11" name="Image 2" descr="/home/claude/u4/icon_check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42232"/>
            <a:ext cx="292608" cy="29260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96112" y="4123944"/>
            <a:ext cx="329184" cy="32918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3" descr="/home/claude/u4/icon_check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160520"/>
            <a:ext cx="256032" cy="25603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41148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el trabajo en equipo: módulos independientes, desarrollo paralelo</a:t>
            </a:r>
            <a:endParaRPr lang="en-US" sz="1450" dirty="0"/>
          </a:p>
        </p:txBody>
      </p:sp>
      <p:pic>
        <p:nvPicPr>
          <p:cNvPr id="15" name="Image 4" descr="/home/claude/u4/icon_check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45152"/>
            <a:ext cx="292608" cy="292608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896112" y="4626864"/>
            <a:ext cx="329184" cy="32918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7" name="Image 5" descr="/home/claude/u4/icon_check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663440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371600" y="46177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Favorece el mantenimiento: los cambios se localizan en pocos módulos</a:t>
            </a:r>
            <a:endParaRPr lang="en-US" sz="1450" dirty="0"/>
          </a:p>
        </p:txBody>
      </p:sp>
      <p:pic>
        <p:nvPicPr>
          <p:cNvPr id="19" name="Image 6" descr="/home/claude/u4/icon_check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48072"/>
            <a:ext cx="292608" cy="292608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896112" y="5129784"/>
            <a:ext cx="329184" cy="32918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1" name="Image 7" descr="/home/claude/u4/icon_check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166360"/>
            <a:ext cx="256032" cy="256032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1371600" y="5120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 la reutilización de módulos en otros contextos</a:t>
            </a:r>
            <a:endParaRPr lang="en-US" sz="1450" dirty="0"/>
          </a:p>
        </p:txBody>
      </p:sp>
      <p:sp>
        <p:nvSpPr>
          <p:cNvPr id="23" name="Text 1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4" name="Text 1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MODULARIZACIÓN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Descomposición funcional: dos sentidos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777240" cy="777240"/>
          </a:xfrm>
          <a:prstGeom prst="ellipse">
            <a:avLst/>
          </a:prstGeom>
          <a:solidFill>
            <a:srgbClr val="8C1D18"/>
          </a:solidFill>
          <a:ln/>
        </p:spPr>
      </p:sp>
      <p:pic>
        <p:nvPicPr>
          <p:cNvPr id="6" name="Image 0" descr="/home/claude/u4/icon_site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1945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9718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Top-down (descendente)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35661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parte de la función global del sistema y se refina sucesivamente en subfunciones, hasta llegar a módulos manejables.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68680" y="50292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Ej.: de "gestionar biblioteca" a "prestar", "devolver", "buscar"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17920" y="169164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1E2761"/>
          </a:solidFill>
          <a:ln/>
        </p:spPr>
      </p:sp>
      <p:sp>
        <p:nvSpPr>
          <p:cNvPr id="11" name="Shape 8"/>
          <p:cNvSpPr/>
          <p:nvPr/>
        </p:nvSpPr>
        <p:spPr>
          <a:xfrm>
            <a:off x="6537960" y="2011680"/>
            <a:ext cx="777240" cy="777240"/>
          </a:xfrm>
          <a:prstGeom prst="ellipse">
            <a:avLst/>
          </a:prstGeom>
          <a:solidFill>
            <a:srgbClr val="8C1D18"/>
          </a:solidFill>
          <a:ln/>
        </p:spPr>
      </p:sp>
      <p:pic>
        <p:nvPicPr>
          <p:cNvPr id="12" name="Image 1" descr="/home/claude/u4/icon_la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37960" y="29718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Bottom-up (ascendente)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537960" y="35661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identifican primero componentes básicos y reutilizables, y se combinan progresivamente para construir funciones más complejas.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6537960" y="50292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Ej.: partir de librerías/utilidades ya existentes para ensamblar el sistema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MODULARIZACIÓN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Ocultamiento de información (Parnas)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propuesto por David Parnas (1972): </a:t>
            </a: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módulo debe ocultar una decisión de diseño que probablemente cambiará, exponiendo solo la interfaz mínima necesaria.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5349240" cy="2926080"/>
          </a:xfrm>
          <a:prstGeom prst="roundRect">
            <a:avLst>
              <a:gd name="adj" fmla="val 3125"/>
            </a:avLst>
          </a:prstGeom>
          <a:solidFill>
            <a:srgbClr val="F2F2F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971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Interfaz pública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429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otros módulos pueden ver y usar: firmas de operaciones, contratos, resultados esperados</a:t>
            </a:r>
            <a:endParaRPr lang="en-US" sz="1300" dirty="0"/>
          </a:p>
        </p:txBody>
      </p:sp>
      <p:pic>
        <p:nvPicPr>
          <p:cNvPr id="8" name="Image 0" descr="/home/claude/u4/icon_ey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48056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4526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desde afuera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63640" y="2743200"/>
            <a:ext cx="5349240" cy="2926080"/>
          </a:xfrm>
          <a:prstGeom prst="roundRect">
            <a:avLst>
              <a:gd name="adj" fmla="val 3125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583680" y="2971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ocultos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583680" y="3429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Estructuras de datos internas, algoritmos concretos, decisiones que pueden cambiar sin afectar a los demás módulos</a:t>
            </a:r>
            <a:endParaRPr lang="en-US" sz="1300" dirty="0"/>
          </a:p>
        </p:txBody>
      </p:sp>
      <p:pic>
        <p:nvPicPr>
          <p:cNvPr id="13" name="Image 1" descr="/home/claude/u4/icon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48056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32320" y="4526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Protegido del exterior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MODULARIZACIÓN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estructurado clásico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Constantine y Yourdon </a:t>
            </a: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proponen los diagramas de estructura (structure charts): representan gráficamente la jerarquía de módulos y el flujo de llamadas y datos entre ellos.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74920" y="2926080"/>
            <a:ext cx="2011680" cy="685800"/>
          </a:xfrm>
          <a:prstGeom prst="rect">
            <a:avLst/>
          </a:prstGeom>
          <a:solidFill>
            <a:srgbClr val="8C1D1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74920" y="29260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103120" y="4114800"/>
            <a:ext cx="201168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03120" y="4114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74920" y="4114800"/>
            <a:ext cx="201168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74920" y="4114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46720" y="4114800"/>
            <a:ext cx="201168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0" y="4114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comprobante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0760" y="3611880"/>
            <a:ext cx="0" cy="502920"/>
          </a:xfrm>
          <a:prstGeom prst="line">
            <a:avLst/>
          </a:prstGeom>
          <a:noFill/>
          <a:ln w="19050">
            <a:solidFill>
              <a:srgbClr val="5A5A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3611880"/>
            <a:ext cx="0" cy="502920"/>
          </a:xfrm>
          <a:prstGeom prst="line">
            <a:avLst/>
          </a:prstGeom>
          <a:noFill/>
          <a:ln w="19050">
            <a:solidFill>
              <a:srgbClr val="5A5A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3611880"/>
            <a:ext cx="2926080" cy="502920"/>
          </a:xfrm>
          <a:prstGeom prst="line">
            <a:avLst/>
          </a:prstGeom>
          <a:noFill/>
          <a:ln w="19050">
            <a:solidFill>
              <a:srgbClr val="5A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166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caja es un módulo; las líneas indican relaciones de invocación (control) entre ellos.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MODULARIZACIÓN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Modularización por tipos de datos abstractos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al diseño estructurado: en lugar de módulos-función, se definen módulos que encapsulan un tipo de dato junto con las operaciones que lo manipulan.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11064240" cy="265176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/>
        </p:spPr>
      </p:sp>
      <p:pic>
        <p:nvPicPr>
          <p:cNvPr id="6" name="Image 0" descr="/home/claude/u4/icon_cu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200400"/>
            <a:ext cx="822960" cy="822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103120" y="3108960"/>
            <a:ext cx="0" cy="2194560"/>
          </a:xfrm>
          <a:prstGeom prst="line">
            <a:avLst/>
          </a:prstGeom>
          <a:noFill/>
          <a:ln w="12700">
            <a:solidFill>
              <a:srgbClr val="CADCFC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2377440" y="3108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Pila (Stack)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36118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interna: arreglo o lista enlazada (oculta)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377440" y="402336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públicas: push(), pop(), top(), isEmpty()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377440" y="457200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módulo es reutilizable en cualquier contexto que necesite una pila, sin conocer su implementación interna.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MODULARIZACIÓN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de modularización aplicadas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técnica de modularización se evalúa con los mismos criterios de la Unidad 3, ahora aplicados a decisiones concretas de partición: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64240" cy="356616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Criterio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Pregunta guía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Cohesión funcional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¿Todos los elementos del módulo contribuyen a una única tarea bien definida?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Acoplamiento de datos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¿Los módulos intercambian solo los datos estrictamente necesarios?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del módulo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¿El módulo es lo bastante pequeño para comprenderse de una vez?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Independencia funcional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¿Puede modificarse el módulo sin afectar a otros?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8C1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651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Notaciones de diseño</a:t>
            </a:r>
            <a:endParaRPr lang="en-US" sz="3800" dirty="0"/>
          </a:p>
        </p:txBody>
      </p:sp>
      <p:pic>
        <p:nvPicPr>
          <p:cNvPr id="4" name="Image 0" descr="/home/claude/u4/icon_site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82296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NOTACIONES DE DISEÑO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Representar el diseño gráficamente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notación de diseño permite documentar y comunicar decisiones de diseño de forma precisa, independiente del lenguaje de implementación, y facilita la revisión antes de programar.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pic>
        <p:nvPicPr>
          <p:cNvPr id="6" name="Image 0" descr="/home/claude/u4/icon_sitemap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620" y="320040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39776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Diagramas de estructura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46177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Jerarquía y control entre módulos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37560" y="29260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pic>
        <p:nvPicPr>
          <p:cNvPr id="10" name="Image 1" descr="/home/claude/u4/icon_diagram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540" y="320040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474720" y="39776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DFD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3520440" y="46177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datos entre procesos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126480" y="29260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pic>
        <p:nvPicPr>
          <p:cNvPr id="14" name="Image 2" descr="/home/claude/u4/icon_code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9460" y="3200400"/>
            <a:ext cx="640080" cy="6400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63640" y="39776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Pseudocódigo / PDL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6309360" y="46177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de un módulo en lenguaje semi-formal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8915400" y="292608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pic>
        <p:nvPicPr>
          <p:cNvPr id="18" name="Image 3" descr="/home/claude/u4/icon_cub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8380" y="3200400"/>
            <a:ext cx="640080" cy="6400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052560" y="39776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UML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9098280" y="46177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Clases, secuencia, componentes (paradigma OO)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NOTACIONES DE DISEÑO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Diagramas de estructura (structure charts)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Notación del diseño estructurado clásico: representan módulos como cajas y relaciones de invocación como líneas, con flechas etiquetadas para el flujo de datos y de control.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926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Rectángulo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33375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278892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926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Flecha simple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3375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control (invocación)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46720" y="278892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2926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Flecha con círculo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75320" y="33375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un dato específico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4526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Ventaja: visión clara de la jerarquía de control.  Limitación: no describe bien el flujo de datos entre procesos concurrentes ni el paradigma OO.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NOTACIONES DE DISEÑO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Pseudocódigo y PDL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Design Language (PDL): </a:t>
            </a:r>
            <a:r>
              <a:rPr lang="en-US" sz="15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notación textual estructurada que describe la lógica de un módulo con construcciones de control (si/entonces, mientras, para) sin atarse a la sintaxis de un lenguaje concreto.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1B1B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063240"/>
            <a:ext cx="10332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8E6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PROCEDIMIENTO validarPedido(pedido)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8E6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SI pedido.items ES VACÍO ENTONCES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8E6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RETORNAR error("pedido sin ítems")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8E6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 SI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8E6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 CADA item EN pedido.items HACER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8E6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SI NO hayStock(item) ENTONCES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8E6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RETORNAR error("sin stock: " + item)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8E6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FIN SI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8E6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 PARA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8E6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RETORNAR ok()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A8E6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 PROCEDIMIENTO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NOTACIONES DE DISEÑO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UML como notación de diseño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Lenguaje Unificado de Modelado (UML) es hoy la notación dominante para diseño orientado a objetos. Distintos diagramas cubren distintas vistas del diseño: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2F2F2"/>
          </a:solidFill>
          <a:ln/>
        </p:spPr>
      </p:sp>
      <p:pic>
        <p:nvPicPr>
          <p:cNvPr id="6" name="Image 0" descr="/home/claude/u4/icon_sitemap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07208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51460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de clases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5029200" y="25146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estática: clases, atributos, métodos y relaciones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7490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2F2F2"/>
          </a:solidFill>
          <a:ln/>
        </p:spPr>
      </p:sp>
      <p:pic>
        <p:nvPicPr>
          <p:cNvPr id="10" name="Image 1" descr="/home/claude/u4/icon_exchan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41648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37490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de secuencia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5029200" y="374904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 dinámica entre objetos a lo largo del tiempo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2F2F2"/>
          </a:solidFill>
          <a:ln/>
        </p:spPr>
      </p:sp>
      <p:pic>
        <p:nvPicPr>
          <p:cNvPr id="14" name="Image 2" descr="/home/claude/u4/icon_cubes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76088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00200" y="498348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de componentes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5029200" y="498348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 de módulos/componentes de más alto nivel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NOTACIONES DE DISEÑO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¿Cuándo usar cada notación?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356616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Notación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Mejor para...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Paradigma típico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Diagramas de estructura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Jerarquía de módulos y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Estructurado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Flujo de datos entre procesos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Estructurado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PDL / pseudocódigo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Lógica algorítmica detallada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UML (clases, secuencia)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Estructura y colaboración de objetos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Orientado a objetos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8C1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paradigma orientado a objetos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Diseño Orientado a Objetos (AOO / DOO)</a:t>
            </a:r>
            <a:endParaRPr lang="en-US" sz="1700" dirty="0"/>
          </a:p>
        </p:txBody>
      </p:sp>
      <p:pic>
        <p:nvPicPr>
          <p:cNvPr id="5" name="Image 0" descr="/home/claude/u4/icon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82296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PARADIGMA 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pensar en objetos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paradigma orientado a objetos modela el sistema como un conjunto de objetos que colaboran, cada uno con estado (datos) y comportamiento (operaciones) propios — una alternativa más cercana al dominio del problema que la descomposición funcional.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394960" cy="2606040"/>
          </a:xfrm>
          <a:prstGeom prst="roundRect">
            <a:avLst>
              <a:gd name="adj" fmla="val 3509"/>
            </a:avLst>
          </a:prstGeom>
          <a:solidFill>
            <a:srgbClr val="F2F2F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3291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Enfoque funcional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7947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es un conjunto de funciones que transforman datos que "viajan" entre ellas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3063240"/>
            <a:ext cx="5394960" cy="2606040"/>
          </a:xfrm>
          <a:prstGeom prst="roundRect">
            <a:avLst>
              <a:gd name="adj" fmla="val 3509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3291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Enfoque orientado a objetos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37947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es un conjunto de objetos autónomos que encapsulan sus propios datos y se comunican mediante mensajes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PARADIGMA 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conceptos fundamentales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2F2F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685800" cy="685800"/>
          </a:xfrm>
          <a:prstGeom prst="ellipse">
            <a:avLst/>
          </a:prstGeom>
          <a:solidFill>
            <a:srgbClr val="8C1D18"/>
          </a:solidFill>
          <a:ln/>
        </p:spPr>
      </p:sp>
      <p:pic>
        <p:nvPicPr>
          <p:cNvPr id="6" name="Image 0" descr="/home/claude/u4/icon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21259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928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Encapsulamiento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3774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y las operaciones que los manipulan se agrupan en una unidad; el estado interno se protege del acceso directo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2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6446520" y="1965960"/>
            <a:ext cx="685800" cy="685800"/>
          </a:xfrm>
          <a:prstGeom prst="ellipse">
            <a:avLst/>
          </a:prstGeom>
          <a:solidFill>
            <a:srgbClr val="8C1D18"/>
          </a:solidFill>
          <a:ln/>
        </p:spPr>
      </p:sp>
      <p:pic>
        <p:nvPicPr>
          <p:cNvPr id="11" name="Image 1" descr="/home/claude/u4/icon_cu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21259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18928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Clase y objeto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315200" y="23774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clase es la plantilla; el objeto es una instancia concreta con su propio estado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84048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2F2F2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114800"/>
            <a:ext cx="685800" cy="685800"/>
          </a:xfrm>
          <a:prstGeom prst="ellipse">
            <a:avLst/>
          </a:prstGeom>
          <a:solidFill>
            <a:srgbClr val="8C1D18"/>
          </a:solidFill>
          <a:ln/>
        </p:spPr>
      </p:sp>
      <p:pic>
        <p:nvPicPr>
          <p:cNvPr id="16" name="Image 2" descr="/home/claude/u4/icon_site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0416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Herencia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691640" y="45262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clase puede especializar a otra, reutilizando y extendiendo su estructura y comportamiento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84048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2F2F2"/>
          </a:solidFill>
          <a:ln/>
        </p:spPr>
      </p:sp>
      <p:sp>
        <p:nvSpPr>
          <p:cNvPr id="20" name="Shape 15"/>
          <p:cNvSpPr/>
          <p:nvPr/>
        </p:nvSpPr>
        <p:spPr>
          <a:xfrm>
            <a:off x="6446520" y="4114800"/>
            <a:ext cx="685800" cy="685800"/>
          </a:xfrm>
          <a:prstGeom prst="ellipse">
            <a:avLst/>
          </a:prstGeom>
          <a:solidFill>
            <a:srgbClr val="8C1D18"/>
          </a:solidFill>
          <a:ln/>
        </p:spPr>
      </p:sp>
      <p:pic>
        <p:nvPicPr>
          <p:cNvPr id="21" name="Image 3" descr="/home/claude/u4/icon_excha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540" y="427482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0416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Polimorfismo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315200" y="45262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de distintas clases responden de forma distinta a un mismo mensaje/operación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PARADIGMA 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Clase vs. objeto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178308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1188720" y="1783080"/>
            <a:ext cx="4023360" cy="502920"/>
          </a:xfrm>
          <a:prstGeom prst="rect">
            <a:avLst/>
          </a:prstGeom>
          <a:solidFill>
            <a:srgbClr val="8C1D18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7830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Cuenta Bancaria (clase)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42316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Atributos: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titular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saldo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Operaciones: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depositar(monto)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retirar(monto)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consultarSaldo()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40680" y="3291840"/>
            <a:ext cx="822960" cy="457200"/>
          </a:xfrm>
          <a:prstGeom prst="rightArrow">
            <a:avLst/>
          </a:prstGeom>
          <a:solidFill>
            <a:srgbClr val="8C1D18"/>
          </a:solidFill>
          <a:ln/>
        </p:spPr>
      </p:sp>
      <p:sp>
        <p:nvSpPr>
          <p:cNvPr id="9" name="Text 7"/>
          <p:cNvSpPr/>
          <p:nvPr/>
        </p:nvSpPr>
        <p:spPr>
          <a:xfrm>
            <a:off x="5349240" y="37947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instancia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92240" y="1783080"/>
            <a:ext cx="4663440" cy="356616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92240" y="1783080"/>
            <a:ext cx="4663440" cy="5029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7830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cuenta1 : Cuenta Bancaria (objeto)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66560" y="24231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titular = "María Gómez"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saldo = 15.400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66560" y="352044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instancia concreta: tiene su propio estado (valores de atributos), pero comparte la estructura y el comportamiento definidos por la clase.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PARADIGMA 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OO vs. Diseño OO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pic>
        <p:nvPicPr>
          <p:cNvPr id="5" name="Image 0" descr="/home/claude/u4/icon_id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9659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93852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Orientado a Objetos (AOO)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68680" y="26060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objetos existen en el dominio del problema?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3300984"/>
            <a:ext cx="128016" cy="128016"/>
          </a:xfrm>
          <a:prstGeom prst="ellipse">
            <a:avLst/>
          </a:prstGeom>
          <a:solidFill>
            <a:srgbClr val="8C1D18"/>
          </a:solidFill>
          <a:ln/>
        </p:spPr>
      </p:sp>
      <p:sp>
        <p:nvSpPr>
          <p:cNvPr id="9" name="Text 6"/>
          <p:cNvSpPr/>
          <p:nvPr/>
        </p:nvSpPr>
        <p:spPr>
          <a:xfrm>
            <a:off x="1143000" y="3108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clases del negocio y sus relaciones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68680" y="3959352"/>
            <a:ext cx="128016" cy="128016"/>
          </a:xfrm>
          <a:prstGeom prst="ellipse">
            <a:avLst/>
          </a:prstGeom>
          <a:solidFill>
            <a:srgbClr val="8C1D18"/>
          </a:solidFill>
          <a:ln/>
        </p:spPr>
      </p:sp>
      <p:sp>
        <p:nvSpPr>
          <p:cNvPr id="11" name="Text 8"/>
          <p:cNvSpPr/>
          <p:nvPr/>
        </p:nvSpPr>
        <p:spPr>
          <a:xfrm>
            <a:off x="1143000" y="37673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Enfocado en el problema, independiente de tecnología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68680" y="4617720"/>
            <a:ext cx="128016" cy="128016"/>
          </a:xfrm>
          <a:prstGeom prst="ellipse">
            <a:avLst/>
          </a:prstGeom>
          <a:solidFill>
            <a:srgbClr val="8C1D18"/>
          </a:solidFill>
          <a:ln/>
        </p:spPr>
      </p:sp>
      <p:sp>
        <p:nvSpPr>
          <p:cNvPr id="13" name="Text 10"/>
          <p:cNvSpPr/>
          <p:nvPr/>
        </p:nvSpPr>
        <p:spPr>
          <a:xfrm>
            <a:off x="1143000" y="442569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modelo conceptual del dominio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691640"/>
            <a:ext cx="539496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pic>
        <p:nvPicPr>
          <p:cNvPr id="15" name="Image 1" descr="/home/claude/u4/icon_pencil_ru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96596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8040" y="193852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Orientado a Objetos (DOO)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6537960" y="26060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estructuran esos objetos en la solución?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537960" y="3300984"/>
            <a:ext cx="128016" cy="128016"/>
          </a:xfrm>
          <a:prstGeom prst="ellipse">
            <a:avLst/>
          </a:prstGeom>
          <a:solidFill>
            <a:srgbClr val="8C1D18"/>
          </a:solidFill>
          <a:ln/>
        </p:spPr>
      </p:sp>
      <p:sp>
        <p:nvSpPr>
          <p:cNvPr id="19" name="Text 15"/>
          <p:cNvSpPr/>
          <p:nvPr/>
        </p:nvSpPr>
        <p:spPr>
          <a:xfrm>
            <a:off x="6812280" y="3108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clases de solución: interfaces, persistencia, etc.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537960" y="3959352"/>
            <a:ext cx="128016" cy="128016"/>
          </a:xfrm>
          <a:prstGeom prst="ellipse">
            <a:avLst/>
          </a:prstGeom>
          <a:solidFill>
            <a:srgbClr val="8C1D18"/>
          </a:solidFill>
          <a:ln/>
        </p:spPr>
      </p:sp>
      <p:sp>
        <p:nvSpPr>
          <p:cNvPr id="21" name="Text 17"/>
          <p:cNvSpPr/>
          <p:nvPr/>
        </p:nvSpPr>
        <p:spPr>
          <a:xfrm>
            <a:off x="6812280" y="37673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Enfocado en la solución, considera la plataforma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537960" y="4617720"/>
            <a:ext cx="128016" cy="128016"/>
          </a:xfrm>
          <a:prstGeom prst="ellipse">
            <a:avLst/>
          </a:prstGeom>
          <a:solidFill>
            <a:srgbClr val="8C1D18"/>
          </a:solidFill>
          <a:ln/>
        </p:spPr>
      </p:sp>
      <p:sp>
        <p:nvSpPr>
          <p:cNvPr id="23" name="Text 19"/>
          <p:cNvSpPr/>
          <p:nvPr/>
        </p:nvSpPr>
        <p:spPr>
          <a:xfrm>
            <a:off x="6812280" y="442569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modelo de diseño listo para implementar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PARADIGMA 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Identificación de clases y responsabilidades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2F2F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5740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u4/icon_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945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4708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sustantivos/verbos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0" y="1847088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especificación textual: los sustantivos sugieren clases y atributos; los verbos sugieren operaciones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32004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2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822960" y="352044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home/claude/u4/icon_id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6576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31012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Tarjetas CRC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486400" y="3310128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Class–Responsibility–Collaborator: por cada clase candidata, se anotan sus responsabilidades y con qué otras clases colabora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46634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2F2F2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98348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/home/claude/u4/icon_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12064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77316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de uso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486400" y="4773168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escenarios de interacción usuario–sistema ayudan a descubrir objetos y sus responsabilidades en contexto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PARADIGMA 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tarjeta CRC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651760" y="1691640"/>
            <a:ext cx="685800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51760" y="1691640"/>
            <a:ext cx="6858000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2834640" y="169164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Clase: Pedido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080760" y="2240280"/>
            <a:ext cx="0" cy="36576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2331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834640" y="269748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Calcular el total del pedido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Agregar/quitar ítems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Validar disponibilidad de stock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263640" y="2331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63640" y="269748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Cliente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Ítem de pedido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Catálogo de productos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PARADIGMA 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Diagramas UML de diseño OO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diagrama de clases es la notación central del diseño OO: muestra clases, atributos, operaciones y relaciones (asociación, herencia, composición).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480560" y="2514600"/>
            <a:ext cx="320040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0560" y="25420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Empleado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80560" y="2907792"/>
            <a:ext cx="32004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+nombre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+calcularSueldo()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0" y="4297680"/>
            <a:ext cx="3200400" cy="1005840"/>
          </a:xfrm>
          <a:prstGeom prst="rect">
            <a:avLst/>
          </a:prstGeom>
          <a:solidFill>
            <a:srgbClr val="8C1D1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3251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Vendedor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828800" y="4690872"/>
            <a:ext cx="32004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65960" y="4709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+comisión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+calcularSueldo()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3520440"/>
            <a:ext cx="2423160" cy="0"/>
          </a:xfrm>
          <a:prstGeom prst="line">
            <a:avLst/>
          </a:prstGeom>
          <a:noFill/>
          <a:ln w="15875">
            <a:solidFill>
              <a:srgbClr val="5A5A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0" y="4297680"/>
            <a:ext cx="3200400" cy="1005840"/>
          </a:xfrm>
          <a:prstGeom prst="rect">
            <a:avLst/>
          </a:prstGeom>
          <a:solidFill>
            <a:srgbClr val="8C1D1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0" y="43251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Gerente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132320" y="4690872"/>
            <a:ext cx="32004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69480" y="4709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+bono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+calcularSueldo()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732520" y="3520440"/>
            <a:ext cx="0" cy="0"/>
          </a:xfrm>
          <a:prstGeom prst="line">
            <a:avLst/>
          </a:prstGeom>
          <a:noFill/>
          <a:ln w="15875">
            <a:solidFill>
              <a:srgbClr val="5A5A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29000" y="3520440"/>
            <a:ext cx="2651760" cy="777240"/>
          </a:xfrm>
          <a:prstGeom prst="line">
            <a:avLst/>
          </a:prstGeom>
          <a:noFill/>
          <a:ln w="19050">
            <a:solidFill>
              <a:srgbClr val="5A5A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732520" y="3520440"/>
            <a:ext cx="0" cy="777240"/>
          </a:xfrm>
          <a:prstGeom prst="line">
            <a:avLst/>
          </a:prstGeom>
          <a:noFill/>
          <a:ln w="19050">
            <a:solidFill>
              <a:srgbClr val="5A5A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Herencia: Vendedor y Gerente especializan Empleado y redefinen calcularSueldo() (polimorfismo)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PARADIGMA 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de secuencia: colaboración en el tiempo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el intercambio de mensajes entre objetos concretos a lo largo del tiempo, útil para diseñar cómo colaboran para cumplir una operación.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97280" y="2423160"/>
            <a:ext cx="155448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423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74520" y="2880360"/>
            <a:ext cx="0" cy="3017520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4389120" y="2423160"/>
            <a:ext cx="155448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2423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Pedido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66360" y="2880360"/>
            <a:ext cx="0" cy="3017520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7680960" y="2423160"/>
            <a:ext cx="155448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0" y="2423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Catálogo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458200" y="2880360"/>
            <a:ext cx="0" cy="3017520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332720" y="2423160"/>
            <a:ext cx="155448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10332720" y="2423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Stock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109960" y="2880360"/>
            <a:ext cx="0" cy="3017520"/>
          </a:xfrm>
          <a:prstGeom prst="line">
            <a:avLst/>
          </a:prstGeom>
          <a:noFill/>
          <a:ln w="12700">
            <a:solidFill>
              <a:srgbClr val="AAAAA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874520" y="3246120"/>
            <a:ext cx="3291840" cy="0"/>
          </a:xfrm>
          <a:prstGeom prst="line">
            <a:avLst/>
          </a:prstGeom>
          <a:noFill/>
          <a:ln w="19050">
            <a:solidFill>
              <a:srgbClr val="8C1D18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874520" y="2953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agregarItem(producto)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166360" y="3794760"/>
            <a:ext cx="3291840" cy="0"/>
          </a:xfrm>
          <a:prstGeom prst="line">
            <a:avLst/>
          </a:prstGeom>
          <a:noFill/>
          <a:ln w="19050">
            <a:solidFill>
              <a:srgbClr val="8C1D18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166360" y="35021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buscarPrecio(producto)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166360" y="4343400"/>
            <a:ext cx="5943600" cy="0"/>
          </a:xfrm>
          <a:prstGeom prst="line">
            <a:avLst/>
          </a:prstGeom>
          <a:noFill/>
          <a:ln w="19050">
            <a:solidFill>
              <a:srgbClr val="8C1D18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5166360" y="4050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verificarStock(producto)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66360" y="4892040"/>
            <a:ext cx="5943600" cy="0"/>
          </a:xfrm>
          <a:prstGeom prst="line">
            <a:avLst/>
          </a:prstGeom>
          <a:noFill/>
          <a:ln w="19050">
            <a:solidFill>
              <a:srgbClr val="8C1D18"/>
            </a:solidFill>
            <a:prstDash val="dash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166360" y="459943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disponible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PARADIGMA 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Principios de diseño OO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la sintaxis del paradigma, un buen diseño OO sigue principios que garantizan bajo acoplamiento y alta cohesión entre clases: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2F2F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40280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Responsabilidad única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114800" y="2240280"/>
            <a:ext cx="7315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clase debe tener una única razón para cambiar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35224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35224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Abierto/cerrado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114800" y="2935224"/>
            <a:ext cx="7315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 a extensión, cerrada a modificación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630168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630168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Sustitución de Liskov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114800" y="3630168"/>
            <a:ext cx="7315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subclase debe poder usarse donde se espera la superclase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325112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25112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Segregación de interfaces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114800" y="4325112"/>
            <a:ext cx="7315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pequeñas y específicas, no una interfaz "para todo"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020056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02005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Inversión de dependencias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114800" y="5020056"/>
            <a:ext cx="7315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Depender de abstracciones, no de implementaciones concretas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Estos 5 principios se conocen colectivamente como SOLID — profundizaremos en ellos más adelante en la materia.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8C1D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651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31089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la interfaz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usuario</a:t>
            </a:r>
            <a:endParaRPr lang="en-US" sz="3800" dirty="0"/>
          </a:p>
        </p:txBody>
      </p:sp>
      <p:pic>
        <p:nvPicPr>
          <p:cNvPr id="4" name="Image 0" descr="/home/claude/u4/icon_win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82296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INTERFAZ DE USUARIO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centrado en el usuario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interfaz es el punto de contacto entre el sistema y las personas que lo usan: su diseño no es un "agregado" final, sino una decisión de diseño con objetivos propios de usabilidad.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0604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Facilidad de aprendizaje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97680" y="260604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nuevo logra tareas básicas con poco esfuerzo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2461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Eficiencia de uso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97680" y="324612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experto realiza tareas frecuentes rápidamente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88620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Facilidad de recordación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0" y="38862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ocasional retoma el sistema sin reaprenderlo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52628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5262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Baja tasa de errores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97680" y="452628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previene o facilita corregir errores de uso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16636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16636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Satisfacción subjetiva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97680" y="516636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experiencia de uso resulta agradable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INTERFAZ DE USUARIO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Estilos de interacción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685800" cy="685800"/>
          </a:xfrm>
          <a:prstGeom prst="ellipse">
            <a:avLst/>
          </a:prstGeom>
          <a:solidFill>
            <a:srgbClr val="8C1D18"/>
          </a:solidFill>
          <a:ln/>
        </p:spPr>
      </p:sp>
      <p:pic>
        <p:nvPicPr>
          <p:cNvPr id="6" name="Image 0" descr="/home/claude/u4/icon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21259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Línea de comandos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91640" y="246888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escribe instrucciones textuales precisas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6446520" y="1965960"/>
            <a:ext cx="685800" cy="685800"/>
          </a:xfrm>
          <a:prstGeom prst="ellipse">
            <a:avLst/>
          </a:prstGeom>
          <a:solidFill>
            <a:srgbClr val="8C1D18"/>
          </a:solidFill>
          <a:ln/>
        </p:spPr>
      </p:sp>
      <p:pic>
        <p:nvPicPr>
          <p:cNvPr id="11" name="Image 1" descr="/home/claude/u4/icon_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21259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1856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Menús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315200" y="246888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elige entre opciones presentadas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84048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1E2761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114800"/>
            <a:ext cx="685800" cy="685800"/>
          </a:xfrm>
          <a:prstGeom prst="ellipse">
            <a:avLst/>
          </a:prstGeom>
          <a:solidFill>
            <a:srgbClr val="8C1D18"/>
          </a:solidFill>
          <a:ln/>
        </p:spPr>
      </p:sp>
      <p:pic>
        <p:nvPicPr>
          <p:cNvPr id="16" name="Image 2" descr="/home/claude/u4/icon_id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00507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Formularios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91640" y="461772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completa campos estructurados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72200" y="384048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1E2761"/>
          </a:solidFill>
          <a:ln/>
        </p:spPr>
      </p:sp>
      <p:sp>
        <p:nvSpPr>
          <p:cNvPr id="20" name="Shape 15"/>
          <p:cNvSpPr/>
          <p:nvPr/>
        </p:nvSpPr>
        <p:spPr>
          <a:xfrm>
            <a:off x="6446520" y="4114800"/>
            <a:ext cx="685800" cy="685800"/>
          </a:xfrm>
          <a:prstGeom prst="ellipse">
            <a:avLst/>
          </a:prstGeom>
          <a:solidFill>
            <a:srgbClr val="8C1D18"/>
          </a:solidFill>
          <a:ln/>
        </p:spPr>
      </p:sp>
      <p:pic>
        <p:nvPicPr>
          <p:cNvPr id="21" name="Image 3" descr="/home/claude/u4/icon_mou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540" y="427482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00507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Manipulación directa (GUI)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315200" y="461772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opera objetos visuales directamente (arrastrar, tocar, clickear)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INTERFAZ DE USUARIO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Heurísticas de diseño de interfaz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Basadas en los principios de Jakob Nielsen, guían decisiones concretas de diseño de interfaz: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2F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4688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claude/u4/icon_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258318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22860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Visibilidad del estado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0" y="228600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siempre informa qué está pasando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3375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2F2"/>
          </a:solidFill>
          <a:ln/>
        </p:spPr>
      </p:sp>
      <p:sp>
        <p:nvSpPr>
          <p:cNvPr id="11" name="Shape 8"/>
          <p:cNvSpPr/>
          <p:nvPr/>
        </p:nvSpPr>
        <p:spPr>
          <a:xfrm>
            <a:off x="777240" y="352044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claude/u4/icon_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36347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63040" y="33375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Consistencia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0" y="33375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Mismos elementos se comportan igual en toda la interfaz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2F2"/>
          </a:solidFill>
          <a:ln/>
        </p:spPr>
      </p:sp>
      <p:sp>
        <p:nvSpPr>
          <p:cNvPr id="16" name="Shape 12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7" name="Image 2" descr="/home/claude/u4/icon_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468630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63040" y="43891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Prevención de errores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4572000" y="438912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evita que ocurran errores antes de que sucedan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2F2"/>
          </a:solidFill>
          <a:ln/>
        </p:spPr>
      </p:sp>
      <p:sp>
        <p:nvSpPr>
          <p:cNvPr id="21" name="Shape 16"/>
          <p:cNvSpPr/>
          <p:nvPr/>
        </p:nvSpPr>
        <p:spPr>
          <a:xfrm>
            <a:off x="777240" y="562356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2" name="Image 3" descr="/home/claude/u4/icon_comme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" y="573786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63040" y="54406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Retroalimentación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4572000" y="544068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del usuario tiene una respuesta perceptible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INTERFAZ DE USUARIO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Prototipado de interfaces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implementar, se valida el diseño de interfaz con representaciones de bajo costo, refinando el nivel de detalle progresivamente: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2F2F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7432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3474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Wireframe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Boceto de baja fidelidad: distribución de elementos, sin estilo visual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60520" y="3840480"/>
            <a:ext cx="365760" cy="365760"/>
          </a:xfrm>
          <a:prstGeom prst="rightArrow">
            <a:avLst/>
          </a:prstGeom>
          <a:solidFill>
            <a:srgbClr val="8C1D18"/>
          </a:solidFill>
          <a:ln/>
        </p:spPr>
      </p:sp>
      <p:sp>
        <p:nvSpPr>
          <p:cNvPr id="10" name="Shape 8"/>
          <p:cNvSpPr/>
          <p:nvPr/>
        </p:nvSpPr>
        <p:spPr>
          <a:xfrm>
            <a:off x="4434840" y="251460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2F2F2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27432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709160" y="3474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09160" y="39776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Representación visual estática, con estilo y contenido aproximado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3840480"/>
            <a:ext cx="365760" cy="365760"/>
          </a:xfrm>
          <a:prstGeom prst="rightArrow">
            <a:avLst/>
          </a:prstGeom>
          <a:solidFill>
            <a:srgbClr val="8C1D18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251460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0" y="27432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8C1D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595360" y="3474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Prototipo interactivo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95360" y="39776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navegable de flujos reales, sin lógica de negocio completa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C1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INTERFAZ DE USUARIO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Separar la interfaz de la lógica de negocio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de diseño clave: la interfaz de usuario no debe contener lógica de negocio, para poder cambiar una sin afectar la otra. Patrones como MVC formalizan esta separación: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188720" y="2880360"/>
            <a:ext cx="3017520" cy="2377440"/>
          </a:xfrm>
          <a:prstGeom prst="roundRect">
            <a:avLst>
              <a:gd name="adj" fmla="val 3846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3108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17320" y="365760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lógica de negocio del dominio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06240" y="4069080"/>
            <a:ext cx="548640" cy="0"/>
          </a:xfrm>
          <a:prstGeom prst="line">
            <a:avLst/>
          </a:prstGeom>
          <a:noFill/>
          <a:ln w="19050">
            <a:solidFill>
              <a:srgbClr val="5A5A5A"/>
            </a:solidFill>
            <a:prstDash val="solid"/>
            <a:headEnd type="triangl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754880" y="2880360"/>
            <a:ext cx="3017520" cy="2377440"/>
          </a:xfrm>
          <a:prstGeom prst="roundRect">
            <a:avLst>
              <a:gd name="adj" fmla="val 3846"/>
            </a:avLst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3108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983480" y="365760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visual al usuario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0" y="4069080"/>
            <a:ext cx="548640" cy="0"/>
          </a:xfrm>
          <a:prstGeom prst="line">
            <a:avLst/>
          </a:prstGeom>
          <a:noFill/>
          <a:ln w="19050">
            <a:solidFill>
              <a:srgbClr val="5A5A5A"/>
            </a:solidFill>
            <a:prstDash val="solid"/>
            <a:headEnd type="triangl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321040" y="2880360"/>
            <a:ext cx="3017520" cy="2377440"/>
          </a:xfrm>
          <a:prstGeom prst="roundRect">
            <a:avLst>
              <a:gd name="adj" fmla="val 3846"/>
            </a:avLst>
          </a:prstGeom>
          <a:solidFill>
            <a:srgbClr val="8C1D18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3108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Controlador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549640" y="365760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 la entrada del usuario y actualiza modelo/vista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patrón anticipa un tema que profundizarás en materias de desarrollo de software y arquitectura.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1  •  Unidad 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Síntesis de la Unidad 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764792"/>
            <a:ext cx="201168" cy="201168"/>
          </a:xfrm>
          <a:prstGeom prst="ellipse">
            <a:avLst/>
          </a:prstGeom>
          <a:solidFill>
            <a:srgbClr val="8C1D18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6916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traduce la especificación en una solución estructurada, buscando corrección, eficiencia, robustez y adaptabilidad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2633472"/>
            <a:ext cx="201168" cy="201168"/>
          </a:xfrm>
          <a:prstGeom prst="ellipse">
            <a:avLst/>
          </a:prstGeom>
          <a:solidFill>
            <a:srgbClr val="8C1D18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5603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modularización (funcional, por ocultamiento de información, por TAD) se evalúa con cohesión y acoplamiento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3502152"/>
            <a:ext cx="201168" cy="201168"/>
          </a:xfrm>
          <a:prstGeom prst="ellipse">
            <a:avLst/>
          </a:prstGeom>
          <a:solidFill>
            <a:srgbClr val="8C1D18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34290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Distintas notaciones (estructura, DFD, PDL, UML) documentan el diseño según el paradigma elegido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22960" y="4370832"/>
            <a:ext cx="201168" cy="201168"/>
          </a:xfrm>
          <a:prstGeom prst="ellipse">
            <a:avLst/>
          </a:prstGeom>
          <a:solidFill>
            <a:srgbClr val="8C1D18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42976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paradigma OO modela el sistema como objetos colaborando: encapsulamiento, herencia, polimorfismo, clases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22960" y="5239512"/>
            <a:ext cx="201168" cy="201168"/>
          </a:xfrm>
          <a:prstGeom prst="ellipse">
            <a:avLst/>
          </a:prstGeom>
          <a:solidFill>
            <a:srgbClr val="8C1D18"/>
          </a:solidFill>
          <a:ln/>
        </p:spPr>
      </p:sp>
      <p:sp>
        <p:nvSpPr>
          <p:cNvPr id="12" name="Text 10"/>
          <p:cNvSpPr/>
          <p:nvPr/>
        </p:nvSpPr>
        <p:spPr>
          <a:xfrm>
            <a:off x="1234440" y="51663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de interfaz de usuario aplica principios de usabilidad y se separa de la lógica de negocio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unidad: Especificación del software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2701</Words>
  <Application>Microsoft Office PowerPoint</Application>
  <PresentationFormat>Panorámica</PresentationFormat>
  <Paragraphs>448</Paragraphs>
  <Slides>37</Slides>
  <Notes>37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37</vt:i4>
      </vt:variant>
    </vt:vector>
  </HeadingPairs>
  <TitlesOfParts>
    <vt:vector size="42" baseType="lpstr">
      <vt:lpstr>Arial</vt:lpstr>
      <vt:lpstr>Calibri</vt:lpstr>
      <vt:lpstr>Cambria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Fernando Lesme</cp:lastModifiedBy>
  <cp:revision>1</cp:revision>
  <dcterms:created xsi:type="dcterms:W3CDTF">2026-09-14T12:47:38Z</dcterms:created>
  <dcterms:modified xsi:type="dcterms:W3CDTF">2026-09-14T13:41:26Z</dcterms:modified>
</cp:coreProperties>
</file>